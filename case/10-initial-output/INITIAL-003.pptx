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10-created" id="256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-created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_BAND"/>
          <p:cNvSpPr/>
          <p:nvPr/>
        </p:nvSpPr>
        <p:spPr>
          <a:xfrm>
            <a:off x="0" y="0"/>
            <a:ext cx="12191695" cy="612648"/>
          </a:xfrm>
          <a:prstGeom prst="rect">
            <a:avLst>
              <a:gd name="adj" fmla="val 11940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3" name="BRAND_LABEL"/>
          <p:cNvSpPr/>
          <p:nvPr/>
        </p:nvSpPr>
        <p:spPr>
          <a:xfrm>
            <a:off x="475488" y="164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ENCABULATION | DECISION BRIEF</a:t>
            </a:r>
            <a:endParaRPr lang="en-US" sz="1100" dirty="0"/>
          </a:p>
        </p:txBody>
      </p:sp>
      <p:sp>
        <p:nvSpPr>
          <p:cNvPr id="4" name="ARCHETYPE_LABEL"/>
          <p:cNvSpPr/>
          <p:nvPr/>
        </p:nvSpPr>
        <p:spPr>
          <a:xfrm>
            <a:off x="9308592" y="16459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DCE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DECISION SUMMARY</a:t>
            </a:r>
            <a:endParaRPr lang="en-US" sz="900" dirty="0"/>
          </a:p>
        </p:txBody>
      </p:sp>
      <p:sp>
        <p:nvSpPr>
          <p:cNvPr id="5" name="AUDIENCE"/>
          <p:cNvSpPr/>
          <p:nvPr/>
        </p:nvSpPr>
        <p:spPr>
          <a:xfrm>
            <a:off x="475488" y="7498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Audience / decision owner</a:t>
            </a:r>
            <a:endParaRPr lang="en-US" sz="1000" dirty="0"/>
          </a:p>
        </p:txBody>
      </p:sp>
      <p:sp>
        <p:nvSpPr>
          <p:cNvPr id="6" name="TITLE"/>
          <p:cNvSpPr/>
          <p:nvPr/>
        </p:nvSpPr>
        <p:spPr>
          <a:xfrm>
            <a:off x="475488" y="101498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clear decision headline</a:t>
            </a:r>
            <a:endParaRPr lang="en-US" sz="2700" dirty="0"/>
          </a:p>
        </p:txBody>
      </p:sp>
      <p:sp>
        <p:nvSpPr>
          <p:cNvPr id="7" name="RECOMMENDATION_PANEL"/>
          <p:cNvSpPr/>
          <p:nvPr/>
        </p:nvSpPr>
        <p:spPr>
          <a:xfrm>
            <a:off x="475488" y="1618488"/>
            <a:ext cx="11228832" cy="621792"/>
          </a:xfrm>
          <a:prstGeom prst="roundRect">
            <a:avLst>
              <a:gd name="adj" fmla="val 1176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RECOMMENDATION_ACCENT"/>
          <p:cNvSpPr/>
          <p:nvPr/>
        </p:nvSpPr>
        <p:spPr>
          <a:xfrm>
            <a:off x="475488" y="1618488"/>
            <a:ext cx="91440" cy="621792"/>
          </a:xfrm>
          <a:prstGeom prst="rect">
            <a:avLst>
              <a:gd name="adj" fmla="val 80000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9" name="RECOMMENDATION"/>
          <p:cNvSpPr/>
          <p:nvPr/>
        </p:nvSpPr>
        <p:spPr>
          <a:xfrm>
            <a:off x="694944" y="1728216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Recommendation statement, based on verified evidence</a:t>
            </a:r>
            <a:endParaRPr lang="en-US" sz="1700" dirty="0"/>
          </a:p>
        </p:txBody>
      </p:sp>
      <p:sp>
        <p:nvSpPr>
          <p:cNvPr id="10" name="GATE_TABLE"/>
          <p:cNvSpPr/>
          <p:nvPr/>
        </p:nvSpPr>
        <p:spPr>
          <a:xfrm>
            <a:off x="475488" y="253288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MANDATORY COMPLIANCE</a:t>
            </a:r>
            <a:endParaRPr lang="en-US" sz="1300" dirty="0"/>
          </a:p>
        </p:txBody>
      </p:sp>
      <p:sp>
        <p:nvSpPr>
          <p:cNvPr id="11" name="GATE_HEADER_BG"/>
          <p:cNvSpPr/>
          <p:nvPr/>
        </p:nvSpPr>
        <p:spPr>
          <a:xfrm>
            <a:off x="475488" y="2898648"/>
            <a:ext cx="5623560" cy="310896"/>
          </a:xfrm>
          <a:prstGeom prst="rect">
            <a:avLst>
              <a:gd name="adj" fmla="val 235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GATE_VENDOR_HEADER"/>
          <p:cNvSpPr/>
          <p:nvPr/>
        </p:nvSpPr>
        <p:spPr>
          <a:xfrm>
            <a:off x="612648" y="2944368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900" dirty="0"/>
          </a:p>
        </p:txBody>
      </p:sp>
      <p:sp>
        <p:nvSpPr>
          <p:cNvPr id="13" name="GATE_STATUS_HEADER"/>
          <p:cNvSpPr/>
          <p:nvPr/>
        </p:nvSpPr>
        <p:spPr>
          <a:xfrm>
            <a:off x="2066544" y="29443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</a:t>
            </a:r>
            <a:endParaRPr lang="en-US" sz="900" dirty="0"/>
          </a:p>
        </p:txBody>
      </p:sp>
      <p:sp>
        <p:nvSpPr>
          <p:cNvPr id="14" name="GATE_REASON_HEADER"/>
          <p:cNvSpPr/>
          <p:nvPr/>
        </p:nvSpPr>
        <p:spPr>
          <a:xfrm>
            <a:off x="2734056" y="2944368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DECISIVE BASIS</a:t>
            </a:r>
            <a:endParaRPr lang="en-US" sz="900" dirty="0"/>
          </a:p>
        </p:txBody>
      </p:sp>
      <p:sp>
        <p:nvSpPr>
          <p:cNvPr id="15" name="GATE_ROW_1_BG"/>
          <p:cNvSpPr/>
          <p:nvPr/>
        </p:nvSpPr>
        <p:spPr>
          <a:xfrm>
            <a:off x="475488" y="3236976"/>
            <a:ext cx="562356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6" name="GATE_VENDOR_1"/>
          <p:cNvSpPr/>
          <p:nvPr/>
        </p:nvSpPr>
        <p:spPr>
          <a:xfrm>
            <a:off x="612648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17" name="GATE_STATUS_1"/>
          <p:cNvSpPr/>
          <p:nvPr/>
        </p:nvSpPr>
        <p:spPr>
          <a:xfrm>
            <a:off x="2057400" y="32735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18" name="GATE_REASON_1"/>
          <p:cNvSpPr/>
          <p:nvPr/>
        </p:nvSpPr>
        <p:spPr>
          <a:xfrm>
            <a:off x="2734056" y="327355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19" name="GATE_ROW_2_BG"/>
          <p:cNvSpPr/>
          <p:nvPr/>
        </p:nvSpPr>
        <p:spPr>
          <a:xfrm>
            <a:off x="475488" y="3648456"/>
            <a:ext cx="562356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GATE_VENDOR_2"/>
          <p:cNvSpPr/>
          <p:nvPr/>
        </p:nvSpPr>
        <p:spPr>
          <a:xfrm>
            <a:off x="612648" y="3685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1" name="GATE_STATUS_2"/>
          <p:cNvSpPr/>
          <p:nvPr/>
        </p:nvSpPr>
        <p:spPr>
          <a:xfrm>
            <a:off x="2057400" y="36850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2" name="GATE_REASON_2"/>
          <p:cNvSpPr/>
          <p:nvPr/>
        </p:nvSpPr>
        <p:spPr>
          <a:xfrm>
            <a:off x="2734056" y="368503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3" name="GATE_ROW_3_BG"/>
          <p:cNvSpPr/>
          <p:nvPr/>
        </p:nvSpPr>
        <p:spPr>
          <a:xfrm>
            <a:off x="475488" y="4059936"/>
            <a:ext cx="562356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4" name="GATE_VENDOR_3"/>
          <p:cNvSpPr/>
          <p:nvPr/>
        </p:nvSpPr>
        <p:spPr>
          <a:xfrm>
            <a:off x="612648" y="4096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5" name="GATE_STATUS_3"/>
          <p:cNvSpPr/>
          <p:nvPr/>
        </p:nvSpPr>
        <p:spPr>
          <a:xfrm>
            <a:off x="2057400" y="40965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6" name="GATE_REASON_3"/>
          <p:cNvSpPr/>
          <p:nvPr/>
        </p:nvSpPr>
        <p:spPr>
          <a:xfrm>
            <a:off x="2734056" y="409651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7" name="GATE_ROW_4_BG"/>
          <p:cNvSpPr/>
          <p:nvPr/>
        </p:nvSpPr>
        <p:spPr>
          <a:xfrm>
            <a:off x="475488" y="4471416"/>
            <a:ext cx="562356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TE_VENDOR_4"/>
          <p:cNvSpPr/>
          <p:nvPr/>
        </p:nvSpPr>
        <p:spPr>
          <a:xfrm>
            <a:off x="612648" y="45079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9" name="GATE_STATUS_4"/>
          <p:cNvSpPr/>
          <p:nvPr/>
        </p:nvSpPr>
        <p:spPr>
          <a:xfrm>
            <a:off x="2057400" y="450799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0" name="GATE_REASON_4"/>
          <p:cNvSpPr/>
          <p:nvPr/>
        </p:nvSpPr>
        <p:spPr>
          <a:xfrm>
            <a:off x="2734056" y="4507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1" name="GATE_ROW_5_BG"/>
          <p:cNvSpPr/>
          <p:nvPr/>
        </p:nvSpPr>
        <p:spPr>
          <a:xfrm>
            <a:off x="475488" y="4882896"/>
            <a:ext cx="562356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2" name="GATE_VENDOR_5"/>
          <p:cNvSpPr/>
          <p:nvPr/>
        </p:nvSpPr>
        <p:spPr>
          <a:xfrm>
            <a:off x="612648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33" name="GATE_STATUS_5"/>
          <p:cNvSpPr/>
          <p:nvPr/>
        </p:nvSpPr>
        <p:spPr>
          <a:xfrm>
            <a:off x="2057400" y="49194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GATE_REASON_5"/>
          <p:cNvSpPr/>
          <p:nvPr/>
        </p:nvSpPr>
        <p:spPr>
          <a:xfrm>
            <a:off x="2734056" y="491947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5" name="COMPARISON_CHART"/>
          <p:cNvSpPr/>
          <p:nvPr/>
        </p:nvSpPr>
        <p:spPr>
          <a:xfrm>
            <a:off x="6355080" y="2532888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SCORES AFTER GATE</a:t>
            </a:r>
            <a:endParaRPr lang="en-US" sz="1300" dirty="0"/>
          </a:p>
        </p:txBody>
      </p:sp>
      <p:sp>
        <p:nvSpPr>
          <p:cNvPr id="36" name="COMPARISON_BG"/>
          <p:cNvSpPr/>
          <p:nvPr/>
        </p:nvSpPr>
        <p:spPr>
          <a:xfrm>
            <a:off x="6355080" y="2898648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7" name="SCORE_VENDOR_1"/>
          <p:cNvSpPr/>
          <p:nvPr/>
        </p:nvSpPr>
        <p:spPr>
          <a:xfrm>
            <a:off x="6492240" y="3026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38" name="SCORE_TRACK_1"/>
          <p:cNvSpPr/>
          <p:nvPr/>
        </p:nvSpPr>
        <p:spPr>
          <a:xfrm>
            <a:off x="6492240" y="3300984"/>
            <a:ext cx="384048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9" name="SCORE_BAR_1"/>
          <p:cNvSpPr/>
          <p:nvPr/>
        </p:nvSpPr>
        <p:spPr>
          <a:xfrm>
            <a:off x="6492240" y="3300984"/>
            <a:ext cx="2304288" cy="128016"/>
          </a:xfrm>
          <a:prstGeom prst="roundRect">
            <a:avLst>
              <a:gd name="adj" fmla="val 57143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40" name="SCORE_VALUE_1"/>
          <p:cNvSpPr/>
          <p:nvPr/>
        </p:nvSpPr>
        <p:spPr>
          <a:xfrm>
            <a:off x="10378440" y="325526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SCORE_LABEL_1"/>
          <p:cNvSpPr/>
          <p:nvPr/>
        </p:nvSpPr>
        <p:spPr>
          <a:xfrm>
            <a:off x="6492240" y="345643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2" name="SCORE_VENDOR_2"/>
          <p:cNvSpPr/>
          <p:nvPr/>
        </p:nvSpPr>
        <p:spPr>
          <a:xfrm>
            <a:off x="6492240" y="3739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3" name="SCORE_TRACK_2"/>
          <p:cNvSpPr/>
          <p:nvPr/>
        </p:nvSpPr>
        <p:spPr>
          <a:xfrm>
            <a:off x="6492240" y="4014216"/>
            <a:ext cx="384048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4" name="SCORE_BAR_2"/>
          <p:cNvSpPr/>
          <p:nvPr/>
        </p:nvSpPr>
        <p:spPr>
          <a:xfrm>
            <a:off x="6492240" y="4014216"/>
            <a:ext cx="1843430" cy="128016"/>
          </a:xfrm>
          <a:prstGeom prst="roundRect">
            <a:avLst>
              <a:gd name="adj" fmla="val 57143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45" name="SCORE_VALUE_2"/>
          <p:cNvSpPr/>
          <p:nvPr/>
        </p:nvSpPr>
        <p:spPr>
          <a:xfrm>
            <a:off x="10378440" y="39684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SCORE_LABEL_2"/>
          <p:cNvSpPr/>
          <p:nvPr/>
        </p:nvSpPr>
        <p:spPr>
          <a:xfrm>
            <a:off x="6492240" y="4169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7" name="SCORE_VENDOR_3"/>
          <p:cNvSpPr/>
          <p:nvPr/>
        </p:nvSpPr>
        <p:spPr>
          <a:xfrm>
            <a:off x="6492240" y="4453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8" name="SCORE_TRACK_3"/>
          <p:cNvSpPr/>
          <p:nvPr/>
        </p:nvSpPr>
        <p:spPr>
          <a:xfrm>
            <a:off x="6492240" y="4727448"/>
            <a:ext cx="384048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9" name="SCORE_BAR_3"/>
          <p:cNvSpPr/>
          <p:nvPr/>
        </p:nvSpPr>
        <p:spPr>
          <a:xfrm>
            <a:off x="6492240" y="4727448"/>
            <a:ext cx="1382573" cy="128016"/>
          </a:xfrm>
          <a:prstGeom prst="roundRect">
            <a:avLst>
              <a:gd name="adj" fmla="val 57143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50" name="SCORE_VALUE_3"/>
          <p:cNvSpPr/>
          <p:nvPr/>
        </p:nvSpPr>
        <p:spPr>
          <a:xfrm>
            <a:off x="10378440" y="46817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CORE_LABEL_3"/>
          <p:cNvSpPr/>
          <p:nvPr/>
        </p:nvSpPr>
        <p:spPr>
          <a:xfrm>
            <a:off x="6492240" y="48828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52" name="DECISION_PANEL"/>
          <p:cNvSpPr/>
          <p:nvPr/>
        </p:nvSpPr>
        <p:spPr>
          <a:xfrm>
            <a:off x="475488" y="5504688"/>
            <a:ext cx="11228832" cy="530352"/>
          </a:xfrm>
          <a:prstGeom prst="roundRect">
            <a:avLst>
              <a:gd name="adj" fmla="val 13793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53" name="DECISION"/>
          <p:cNvSpPr/>
          <p:nvPr/>
        </p:nvSpPr>
        <p:spPr>
          <a:xfrm>
            <a:off x="704088" y="5586984"/>
            <a:ext cx="10744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Approval or next action requested</a:t>
            </a:r>
            <a:endParaRPr lang="en-US" sz="1500" dirty="0"/>
          </a:p>
        </p:txBody>
      </p:sp>
      <p:sp>
        <p:nvSpPr>
          <p:cNvPr id="54" name="SOURCE_NOTES"/>
          <p:cNvSpPr/>
          <p:nvPr/>
        </p:nvSpPr>
        <p:spPr>
          <a:xfrm>
            <a:off x="475488" y="6236208"/>
            <a:ext cx="11228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Sources: document ID and exact locator • Fictional training case; not A*STAR policy or Singapore procurement law.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_BAND"/>
          <p:cNvSpPr/>
          <p:nvPr/>
        </p:nvSpPr>
        <p:spPr>
          <a:xfrm>
            <a:off x="0" y="0"/>
            <a:ext cx="12191695" cy="612648"/>
          </a:xfrm>
          <a:prstGeom prst="rect">
            <a:avLst>
              <a:gd name="adj" fmla="val 11940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3" name="BRAND_LABEL"/>
          <p:cNvSpPr/>
          <p:nvPr/>
        </p:nvSpPr>
        <p:spPr>
          <a:xfrm>
            <a:off x="475488" y="164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ENCABULATION | DECISION BRIEF</a:t>
            </a:r>
            <a:endParaRPr lang="en-US" sz="1100" dirty="0"/>
          </a:p>
        </p:txBody>
      </p:sp>
      <p:sp>
        <p:nvSpPr>
          <p:cNvPr id="4" name="ARCHETYPE_LABEL"/>
          <p:cNvSpPr/>
          <p:nvPr/>
        </p:nvSpPr>
        <p:spPr>
          <a:xfrm>
            <a:off x="9308592" y="16459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DCE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 FOCUS</a:t>
            </a:r>
            <a:endParaRPr lang="en-US" sz="900" dirty="0"/>
          </a:p>
        </p:txBody>
      </p:sp>
      <p:sp>
        <p:nvSpPr>
          <p:cNvPr id="5" name="AUDIENCE"/>
          <p:cNvSpPr/>
          <p:nvPr/>
        </p:nvSpPr>
        <p:spPr>
          <a:xfrm>
            <a:off x="475488" y="7498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Audience / decision owner</a:t>
            </a:r>
            <a:endParaRPr lang="en-US" sz="1000" dirty="0"/>
          </a:p>
        </p:txBody>
      </p:sp>
      <p:sp>
        <p:nvSpPr>
          <p:cNvPr id="6" name="TITLE"/>
          <p:cNvSpPr/>
          <p:nvPr/>
        </p:nvSpPr>
        <p:spPr>
          <a:xfrm>
            <a:off x="475488" y="101498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clear decision headline</a:t>
            </a:r>
            <a:endParaRPr lang="en-US" sz="2700" dirty="0"/>
          </a:p>
        </p:txBody>
      </p:sp>
      <p:sp>
        <p:nvSpPr>
          <p:cNvPr id="7" name="RECOMMENDATION_PANEL"/>
          <p:cNvSpPr/>
          <p:nvPr/>
        </p:nvSpPr>
        <p:spPr>
          <a:xfrm>
            <a:off x="475488" y="1618488"/>
            <a:ext cx="11228832" cy="621792"/>
          </a:xfrm>
          <a:prstGeom prst="roundRect">
            <a:avLst>
              <a:gd name="adj" fmla="val 1176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RECOMMENDATION_ACCENT"/>
          <p:cNvSpPr/>
          <p:nvPr/>
        </p:nvSpPr>
        <p:spPr>
          <a:xfrm>
            <a:off x="475488" y="1618488"/>
            <a:ext cx="91440" cy="621792"/>
          </a:xfrm>
          <a:prstGeom prst="rect">
            <a:avLst>
              <a:gd name="adj" fmla="val 80000"/>
            </a:avLst>
          </a:prstGeom>
          <a:solidFill>
            <a:srgbClr val="278267"/>
          </a:solidFill>
          <a:ln w="12700">
            <a:solidFill>
              <a:srgbClr val="278267"/>
            </a:solidFill>
            <a:prstDash val="solid"/>
          </a:ln>
        </p:spPr>
      </p:sp>
      <p:sp>
        <p:nvSpPr>
          <p:cNvPr id="9" name="RECOMMENDATION"/>
          <p:cNvSpPr/>
          <p:nvPr/>
        </p:nvSpPr>
        <p:spPr>
          <a:xfrm>
            <a:off x="694944" y="1728216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Recommendation statement, based on verified evidence</a:t>
            </a:r>
            <a:endParaRPr lang="en-US" sz="1700" dirty="0"/>
          </a:p>
        </p:txBody>
      </p:sp>
      <p:sp>
        <p:nvSpPr>
          <p:cNvPr id="10" name="GATE_TABLE"/>
          <p:cNvSpPr/>
          <p:nvPr/>
        </p:nvSpPr>
        <p:spPr>
          <a:xfrm>
            <a:off x="475488" y="2532888"/>
            <a:ext cx="6446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MANDATORY COMPLIANCE</a:t>
            </a:r>
            <a:endParaRPr lang="en-US" sz="1300" dirty="0"/>
          </a:p>
        </p:txBody>
      </p:sp>
      <p:sp>
        <p:nvSpPr>
          <p:cNvPr id="11" name="GATE_HEADER_BG"/>
          <p:cNvSpPr/>
          <p:nvPr/>
        </p:nvSpPr>
        <p:spPr>
          <a:xfrm>
            <a:off x="475488" y="2898648"/>
            <a:ext cx="6446520" cy="310896"/>
          </a:xfrm>
          <a:prstGeom prst="rect">
            <a:avLst>
              <a:gd name="adj" fmla="val 235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GATE_VENDOR_HEADER"/>
          <p:cNvSpPr/>
          <p:nvPr/>
        </p:nvSpPr>
        <p:spPr>
          <a:xfrm>
            <a:off x="612648" y="2944368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900" dirty="0"/>
          </a:p>
        </p:txBody>
      </p:sp>
      <p:sp>
        <p:nvSpPr>
          <p:cNvPr id="13" name="GATE_STATUS_HEADER"/>
          <p:cNvSpPr/>
          <p:nvPr/>
        </p:nvSpPr>
        <p:spPr>
          <a:xfrm>
            <a:off x="2066544" y="29443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</a:t>
            </a:r>
            <a:endParaRPr lang="en-US" sz="900" dirty="0"/>
          </a:p>
        </p:txBody>
      </p:sp>
      <p:sp>
        <p:nvSpPr>
          <p:cNvPr id="14" name="GATE_REASON_HEADER"/>
          <p:cNvSpPr/>
          <p:nvPr/>
        </p:nvSpPr>
        <p:spPr>
          <a:xfrm>
            <a:off x="2734056" y="2944368"/>
            <a:ext cx="4087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DECISIVE BASIS</a:t>
            </a:r>
            <a:endParaRPr lang="en-US" sz="900" dirty="0"/>
          </a:p>
        </p:txBody>
      </p:sp>
      <p:sp>
        <p:nvSpPr>
          <p:cNvPr id="15" name="GATE_ROW_1_BG"/>
          <p:cNvSpPr/>
          <p:nvPr/>
        </p:nvSpPr>
        <p:spPr>
          <a:xfrm>
            <a:off x="475488" y="3236976"/>
            <a:ext cx="644652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6" name="GATE_VENDOR_1"/>
          <p:cNvSpPr/>
          <p:nvPr/>
        </p:nvSpPr>
        <p:spPr>
          <a:xfrm>
            <a:off x="612648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17" name="GATE_STATUS_1"/>
          <p:cNvSpPr/>
          <p:nvPr/>
        </p:nvSpPr>
        <p:spPr>
          <a:xfrm>
            <a:off x="2057400" y="32735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18" name="GATE_REASON_1"/>
          <p:cNvSpPr/>
          <p:nvPr/>
        </p:nvSpPr>
        <p:spPr>
          <a:xfrm>
            <a:off x="2734056" y="327355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19" name="GATE_ROW_2_BG"/>
          <p:cNvSpPr/>
          <p:nvPr/>
        </p:nvSpPr>
        <p:spPr>
          <a:xfrm>
            <a:off x="475488" y="3648456"/>
            <a:ext cx="644652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GATE_VENDOR_2"/>
          <p:cNvSpPr/>
          <p:nvPr/>
        </p:nvSpPr>
        <p:spPr>
          <a:xfrm>
            <a:off x="612648" y="3685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1" name="GATE_STATUS_2"/>
          <p:cNvSpPr/>
          <p:nvPr/>
        </p:nvSpPr>
        <p:spPr>
          <a:xfrm>
            <a:off x="2057400" y="36850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2" name="GATE_REASON_2"/>
          <p:cNvSpPr/>
          <p:nvPr/>
        </p:nvSpPr>
        <p:spPr>
          <a:xfrm>
            <a:off x="2734056" y="368503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3" name="GATE_ROW_3_BG"/>
          <p:cNvSpPr/>
          <p:nvPr/>
        </p:nvSpPr>
        <p:spPr>
          <a:xfrm>
            <a:off x="475488" y="4059936"/>
            <a:ext cx="644652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4" name="GATE_VENDOR_3"/>
          <p:cNvSpPr/>
          <p:nvPr/>
        </p:nvSpPr>
        <p:spPr>
          <a:xfrm>
            <a:off x="612648" y="4096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5" name="GATE_STATUS_3"/>
          <p:cNvSpPr/>
          <p:nvPr/>
        </p:nvSpPr>
        <p:spPr>
          <a:xfrm>
            <a:off x="2057400" y="40965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6" name="GATE_REASON_3"/>
          <p:cNvSpPr/>
          <p:nvPr/>
        </p:nvSpPr>
        <p:spPr>
          <a:xfrm>
            <a:off x="2734056" y="409651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7" name="GATE_ROW_4_BG"/>
          <p:cNvSpPr/>
          <p:nvPr/>
        </p:nvSpPr>
        <p:spPr>
          <a:xfrm>
            <a:off x="475488" y="4471416"/>
            <a:ext cx="644652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TE_VENDOR_4"/>
          <p:cNvSpPr/>
          <p:nvPr/>
        </p:nvSpPr>
        <p:spPr>
          <a:xfrm>
            <a:off x="612648" y="45079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9" name="GATE_STATUS_4"/>
          <p:cNvSpPr/>
          <p:nvPr/>
        </p:nvSpPr>
        <p:spPr>
          <a:xfrm>
            <a:off x="2057400" y="450799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0" name="GATE_REASON_4"/>
          <p:cNvSpPr/>
          <p:nvPr/>
        </p:nvSpPr>
        <p:spPr>
          <a:xfrm>
            <a:off x="2734056" y="450799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1" name="GATE_ROW_5_BG"/>
          <p:cNvSpPr/>
          <p:nvPr/>
        </p:nvSpPr>
        <p:spPr>
          <a:xfrm>
            <a:off x="475488" y="4882896"/>
            <a:ext cx="644652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2" name="GATE_VENDOR_5"/>
          <p:cNvSpPr/>
          <p:nvPr/>
        </p:nvSpPr>
        <p:spPr>
          <a:xfrm>
            <a:off x="612648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33" name="GATE_STATUS_5"/>
          <p:cNvSpPr/>
          <p:nvPr/>
        </p:nvSpPr>
        <p:spPr>
          <a:xfrm>
            <a:off x="2057400" y="49194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GATE_REASON_5"/>
          <p:cNvSpPr/>
          <p:nvPr/>
        </p:nvSpPr>
        <p:spPr>
          <a:xfrm>
            <a:off x="2734056" y="4919472"/>
            <a:ext cx="4050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5" name="COMPARISON_CHART"/>
          <p:cNvSpPr/>
          <p:nvPr/>
        </p:nvSpPr>
        <p:spPr>
          <a:xfrm>
            <a:off x="7178040" y="2532888"/>
            <a:ext cx="4526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SCORES AFTER GATE</a:t>
            </a:r>
            <a:endParaRPr lang="en-US" sz="1300" dirty="0"/>
          </a:p>
        </p:txBody>
      </p:sp>
      <p:sp>
        <p:nvSpPr>
          <p:cNvPr id="36" name="COMPARISON_BG"/>
          <p:cNvSpPr/>
          <p:nvPr/>
        </p:nvSpPr>
        <p:spPr>
          <a:xfrm>
            <a:off x="7178040" y="2898648"/>
            <a:ext cx="4526280" cy="2423160"/>
          </a:xfrm>
          <a:prstGeom prst="roundRect">
            <a:avLst>
              <a:gd name="adj" fmla="val 3019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7" name="SCORE_VENDOR_1"/>
          <p:cNvSpPr/>
          <p:nvPr/>
        </p:nvSpPr>
        <p:spPr>
          <a:xfrm>
            <a:off x="7315200" y="3026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38" name="SCORE_TRACK_1"/>
          <p:cNvSpPr/>
          <p:nvPr/>
        </p:nvSpPr>
        <p:spPr>
          <a:xfrm>
            <a:off x="7315200" y="3300984"/>
            <a:ext cx="301752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9" name="SCORE_BAR_1"/>
          <p:cNvSpPr/>
          <p:nvPr/>
        </p:nvSpPr>
        <p:spPr>
          <a:xfrm>
            <a:off x="7315200" y="3300984"/>
            <a:ext cx="1810512" cy="128016"/>
          </a:xfrm>
          <a:prstGeom prst="roundRect">
            <a:avLst>
              <a:gd name="adj" fmla="val 57143"/>
            </a:avLst>
          </a:prstGeom>
          <a:solidFill>
            <a:srgbClr val="278267"/>
          </a:solidFill>
          <a:ln w="12700">
            <a:solidFill>
              <a:srgbClr val="278267"/>
            </a:solidFill>
            <a:prstDash val="solid"/>
          </a:ln>
        </p:spPr>
      </p:sp>
      <p:sp>
        <p:nvSpPr>
          <p:cNvPr id="40" name="SCORE_VALUE_1"/>
          <p:cNvSpPr/>
          <p:nvPr/>
        </p:nvSpPr>
        <p:spPr>
          <a:xfrm>
            <a:off x="10378440" y="325526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SCORE_LABEL_1"/>
          <p:cNvSpPr/>
          <p:nvPr/>
        </p:nvSpPr>
        <p:spPr>
          <a:xfrm>
            <a:off x="7315200" y="3456432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2" name="SCORE_VENDOR_2"/>
          <p:cNvSpPr/>
          <p:nvPr/>
        </p:nvSpPr>
        <p:spPr>
          <a:xfrm>
            <a:off x="7315200" y="3739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3" name="SCORE_TRACK_2"/>
          <p:cNvSpPr/>
          <p:nvPr/>
        </p:nvSpPr>
        <p:spPr>
          <a:xfrm>
            <a:off x="7315200" y="4014216"/>
            <a:ext cx="301752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4" name="SCORE_BAR_2"/>
          <p:cNvSpPr/>
          <p:nvPr/>
        </p:nvSpPr>
        <p:spPr>
          <a:xfrm>
            <a:off x="7315200" y="4014216"/>
            <a:ext cx="1448410" cy="128016"/>
          </a:xfrm>
          <a:prstGeom prst="roundRect">
            <a:avLst>
              <a:gd name="adj" fmla="val 57143"/>
            </a:avLst>
          </a:prstGeom>
          <a:solidFill>
            <a:srgbClr val="278267"/>
          </a:solidFill>
          <a:ln w="12700">
            <a:solidFill>
              <a:srgbClr val="278267"/>
            </a:solidFill>
            <a:prstDash val="solid"/>
          </a:ln>
        </p:spPr>
      </p:sp>
      <p:sp>
        <p:nvSpPr>
          <p:cNvPr id="45" name="SCORE_VALUE_2"/>
          <p:cNvSpPr/>
          <p:nvPr/>
        </p:nvSpPr>
        <p:spPr>
          <a:xfrm>
            <a:off x="10378440" y="39684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SCORE_LABEL_2"/>
          <p:cNvSpPr/>
          <p:nvPr/>
        </p:nvSpPr>
        <p:spPr>
          <a:xfrm>
            <a:off x="7315200" y="416966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7" name="SCORE_VENDOR_3"/>
          <p:cNvSpPr/>
          <p:nvPr/>
        </p:nvSpPr>
        <p:spPr>
          <a:xfrm>
            <a:off x="7315200" y="4453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8" name="SCORE_TRACK_3"/>
          <p:cNvSpPr/>
          <p:nvPr/>
        </p:nvSpPr>
        <p:spPr>
          <a:xfrm>
            <a:off x="7315200" y="4727448"/>
            <a:ext cx="301752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9" name="SCORE_BAR_3"/>
          <p:cNvSpPr/>
          <p:nvPr/>
        </p:nvSpPr>
        <p:spPr>
          <a:xfrm>
            <a:off x="7315200" y="4727448"/>
            <a:ext cx="1086307" cy="128016"/>
          </a:xfrm>
          <a:prstGeom prst="roundRect">
            <a:avLst>
              <a:gd name="adj" fmla="val 57143"/>
            </a:avLst>
          </a:prstGeom>
          <a:solidFill>
            <a:srgbClr val="278267"/>
          </a:solidFill>
          <a:ln w="12700">
            <a:solidFill>
              <a:srgbClr val="278267"/>
            </a:solidFill>
            <a:prstDash val="solid"/>
          </a:ln>
        </p:spPr>
      </p:sp>
      <p:sp>
        <p:nvSpPr>
          <p:cNvPr id="50" name="SCORE_VALUE_3"/>
          <p:cNvSpPr/>
          <p:nvPr/>
        </p:nvSpPr>
        <p:spPr>
          <a:xfrm>
            <a:off x="10378440" y="46817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CORE_LABEL_3"/>
          <p:cNvSpPr/>
          <p:nvPr/>
        </p:nvSpPr>
        <p:spPr>
          <a:xfrm>
            <a:off x="7315200" y="4882896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52" name="DECISION_PANEL"/>
          <p:cNvSpPr/>
          <p:nvPr/>
        </p:nvSpPr>
        <p:spPr>
          <a:xfrm>
            <a:off x="475488" y="5504688"/>
            <a:ext cx="11228832" cy="530352"/>
          </a:xfrm>
          <a:prstGeom prst="roundRect">
            <a:avLst>
              <a:gd name="adj" fmla="val 13793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53" name="DECISION"/>
          <p:cNvSpPr/>
          <p:nvPr/>
        </p:nvSpPr>
        <p:spPr>
          <a:xfrm>
            <a:off x="704088" y="5586984"/>
            <a:ext cx="10744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Approval or next action requested</a:t>
            </a:r>
            <a:endParaRPr lang="en-US" sz="1500" dirty="0"/>
          </a:p>
        </p:txBody>
      </p:sp>
      <p:sp>
        <p:nvSpPr>
          <p:cNvPr id="54" name="SOURCE_NOTES"/>
          <p:cNvSpPr/>
          <p:nvPr/>
        </p:nvSpPr>
        <p:spPr>
          <a:xfrm>
            <a:off x="475488" y="6236208"/>
            <a:ext cx="11228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Sources: document ID and exact locator • Fictional training case; not A*STAR policy or Singapore procurement law.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_BAND"/>
          <p:cNvSpPr/>
          <p:nvPr/>
        </p:nvSpPr>
        <p:spPr>
          <a:xfrm>
            <a:off x="0" y="0"/>
            <a:ext cx="12191695" cy="612648"/>
          </a:xfrm>
          <a:prstGeom prst="rect">
            <a:avLst>
              <a:gd name="adj" fmla="val 11940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3" name="BRAND_LABEL"/>
          <p:cNvSpPr/>
          <p:nvPr/>
        </p:nvSpPr>
        <p:spPr>
          <a:xfrm>
            <a:off x="475488" y="164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ENCABULATION | DECISION BRIEF</a:t>
            </a:r>
            <a:endParaRPr lang="en-US" sz="1100" dirty="0"/>
          </a:p>
        </p:txBody>
      </p:sp>
      <p:sp>
        <p:nvSpPr>
          <p:cNvPr id="4" name="ARCHETYPE_LABEL"/>
          <p:cNvSpPr/>
          <p:nvPr/>
        </p:nvSpPr>
        <p:spPr>
          <a:xfrm>
            <a:off x="9308592" y="16459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DCE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COMPARISON FOCUS</a:t>
            </a:r>
            <a:endParaRPr lang="en-US" sz="900" dirty="0"/>
          </a:p>
        </p:txBody>
      </p:sp>
      <p:sp>
        <p:nvSpPr>
          <p:cNvPr id="5" name="AUDIENCE"/>
          <p:cNvSpPr/>
          <p:nvPr/>
        </p:nvSpPr>
        <p:spPr>
          <a:xfrm>
            <a:off x="475488" y="7498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Audience / decision owner</a:t>
            </a:r>
            <a:endParaRPr lang="en-US" sz="1000" dirty="0"/>
          </a:p>
        </p:txBody>
      </p:sp>
      <p:sp>
        <p:nvSpPr>
          <p:cNvPr id="6" name="TITLE"/>
          <p:cNvSpPr/>
          <p:nvPr/>
        </p:nvSpPr>
        <p:spPr>
          <a:xfrm>
            <a:off x="475488" y="101498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clear decision headline</a:t>
            </a:r>
            <a:endParaRPr lang="en-US" sz="2700" dirty="0"/>
          </a:p>
        </p:txBody>
      </p:sp>
      <p:sp>
        <p:nvSpPr>
          <p:cNvPr id="7" name="RECOMMENDATION_PANEL"/>
          <p:cNvSpPr/>
          <p:nvPr/>
        </p:nvSpPr>
        <p:spPr>
          <a:xfrm>
            <a:off x="475488" y="1618488"/>
            <a:ext cx="11228832" cy="621792"/>
          </a:xfrm>
          <a:prstGeom prst="roundRect">
            <a:avLst>
              <a:gd name="adj" fmla="val 1176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RECOMMENDATION_ACCENT"/>
          <p:cNvSpPr/>
          <p:nvPr/>
        </p:nvSpPr>
        <p:spPr>
          <a:xfrm>
            <a:off x="475488" y="1618488"/>
            <a:ext cx="91440" cy="621792"/>
          </a:xfrm>
          <a:prstGeom prst="rect">
            <a:avLst>
              <a:gd name="adj" fmla="val 80000"/>
            </a:avLst>
          </a:prstGeom>
          <a:solidFill>
            <a:srgbClr val="B77922"/>
          </a:solidFill>
          <a:ln w="12700">
            <a:solidFill>
              <a:srgbClr val="B77922"/>
            </a:solidFill>
            <a:prstDash val="solid"/>
          </a:ln>
        </p:spPr>
      </p:sp>
      <p:sp>
        <p:nvSpPr>
          <p:cNvPr id="9" name="RECOMMENDATION"/>
          <p:cNvSpPr/>
          <p:nvPr/>
        </p:nvSpPr>
        <p:spPr>
          <a:xfrm>
            <a:off x="694944" y="1728216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Recommendation statement, based on verified evidence</a:t>
            </a:r>
            <a:endParaRPr lang="en-US" sz="1700" dirty="0"/>
          </a:p>
        </p:txBody>
      </p:sp>
      <p:sp>
        <p:nvSpPr>
          <p:cNvPr id="10" name="GATE_TABLE"/>
          <p:cNvSpPr/>
          <p:nvPr/>
        </p:nvSpPr>
        <p:spPr>
          <a:xfrm>
            <a:off x="475488" y="2532888"/>
            <a:ext cx="5120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MANDATORY COMPLIANCE</a:t>
            </a:r>
            <a:endParaRPr lang="en-US" sz="1300" dirty="0"/>
          </a:p>
        </p:txBody>
      </p:sp>
      <p:sp>
        <p:nvSpPr>
          <p:cNvPr id="11" name="GATE_HEADER_BG"/>
          <p:cNvSpPr/>
          <p:nvPr/>
        </p:nvSpPr>
        <p:spPr>
          <a:xfrm>
            <a:off x="475488" y="2898648"/>
            <a:ext cx="5120640" cy="310896"/>
          </a:xfrm>
          <a:prstGeom prst="rect">
            <a:avLst>
              <a:gd name="adj" fmla="val 235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GATE_VENDOR_HEADER"/>
          <p:cNvSpPr/>
          <p:nvPr/>
        </p:nvSpPr>
        <p:spPr>
          <a:xfrm>
            <a:off x="612648" y="2944368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900" dirty="0"/>
          </a:p>
        </p:txBody>
      </p:sp>
      <p:sp>
        <p:nvSpPr>
          <p:cNvPr id="13" name="GATE_STATUS_HEADER"/>
          <p:cNvSpPr/>
          <p:nvPr/>
        </p:nvSpPr>
        <p:spPr>
          <a:xfrm>
            <a:off x="2066544" y="29443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</a:t>
            </a:r>
            <a:endParaRPr lang="en-US" sz="900" dirty="0"/>
          </a:p>
        </p:txBody>
      </p:sp>
      <p:sp>
        <p:nvSpPr>
          <p:cNvPr id="14" name="GATE_REASON_HEADER"/>
          <p:cNvSpPr/>
          <p:nvPr/>
        </p:nvSpPr>
        <p:spPr>
          <a:xfrm>
            <a:off x="2734056" y="2944368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DECISIVE BASIS</a:t>
            </a:r>
            <a:endParaRPr lang="en-US" sz="900" dirty="0"/>
          </a:p>
        </p:txBody>
      </p:sp>
      <p:sp>
        <p:nvSpPr>
          <p:cNvPr id="15" name="GATE_ROW_1_BG"/>
          <p:cNvSpPr/>
          <p:nvPr/>
        </p:nvSpPr>
        <p:spPr>
          <a:xfrm>
            <a:off x="475488" y="3236976"/>
            <a:ext cx="512064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6" name="GATE_VENDOR_1"/>
          <p:cNvSpPr/>
          <p:nvPr/>
        </p:nvSpPr>
        <p:spPr>
          <a:xfrm>
            <a:off x="612648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17" name="GATE_STATUS_1"/>
          <p:cNvSpPr/>
          <p:nvPr/>
        </p:nvSpPr>
        <p:spPr>
          <a:xfrm>
            <a:off x="2057400" y="32735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18" name="GATE_REASON_1"/>
          <p:cNvSpPr/>
          <p:nvPr/>
        </p:nvSpPr>
        <p:spPr>
          <a:xfrm>
            <a:off x="2734056" y="327355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19" name="GATE_ROW_2_BG"/>
          <p:cNvSpPr/>
          <p:nvPr/>
        </p:nvSpPr>
        <p:spPr>
          <a:xfrm>
            <a:off x="475488" y="3648456"/>
            <a:ext cx="512064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GATE_VENDOR_2"/>
          <p:cNvSpPr/>
          <p:nvPr/>
        </p:nvSpPr>
        <p:spPr>
          <a:xfrm>
            <a:off x="612648" y="3685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1" name="GATE_STATUS_2"/>
          <p:cNvSpPr/>
          <p:nvPr/>
        </p:nvSpPr>
        <p:spPr>
          <a:xfrm>
            <a:off x="2057400" y="36850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2" name="GATE_REASON_2"/>
          <p:cNvSpPr/>
          <p:nvPr/>
        </p:nvSpPr>
        <p:spPr>
          <a:xfrm>
            <a:off x="2734056" y="368503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3" name="GATE_ROW_3_BG"/>
          <p:cNvSpPr/>
          <p:nvPr/>
        </p:nvSpPr>
        <p:spPr>
          <a:xfrm>
            <a:off x="475488" y="4059936"/>
            <a:ext cx="512064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4" name="GATE_VENDOR_3"/>
          <p:cNvSpPr/>
          <p:nvPr/>
        </p:nvSpPr>
        <p:spPr>
          <a:xfrm>
            <a:off x="612648" y="4096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5" name="GATE_STATUS_3"/>
          <p:cNvSpPr/>
          <p:nvPr/>
        </p:nvSpPr>
        <p:spPr>
          <a:xfrm>
            <a:off x="2057400" y="40965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26" name="GATE_REASON_3"/>
          <p:cNvSpPr/>
          <p:nvPr/>
        </p:nvSpPr>
        <p:spPr>
          <a:xfrm>
            <a:off x="2734056" y="409651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27" name="GATE_ROW_4_BG"/>
          <p:cNvSpPr/>
          <p:nvPr/>
        </p:nvSpPr>
        <p:spPr>
          <a:xfrm>
            <a:off x="475488" y="4471416"/>
            <a:ext cx="512064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TE_VENDOR_4"/>
          <p:cNvSpPr/>
          <p:nvPr/>
        </p:nvSpPr>
        <p:spPr>
          <a:xfrm>
            <a:off x="612648" y="45079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29" name="GATE_STATUS_4"/>
          <p:cNvSpPr/>
          <p:nvPr/>
        </p:nvSpPr>
        <p:spPr>
          <a:xfrm>
            <a:off x="2057400" y="450799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0" name="GATE_REASON_4"/>
          <p:cNvSpPr/>
          <p:nvPr/>
        </p:nvSpPr>
        <p:spPr>
          <a:xfrm>
            <a:off x="2734056" y="450799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1" name="GATE_ROW_5_BG"/>
          <p:cNvSpPr/>
          <p:nvPr/>
        </p:nvSpPr>
        <p:spPr>
          <a:xfrm>
            <a:off x="475488" y="4882896"/>
            <a:ext cx="512064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2" name="GATE_VENDOR_5"/>
          <p:cNvSpPr/>
          <p:nvPr/>
        </p:nvSpPr>
        <p:spPr>
          <a:xfrm>
            <a:off x="612648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1100" dirty="0"/>
          </a:p>
        </p:txBody>
      </p:sp>
      <p:sp>
        <p:nvSpPr>
          <p:cNvPr id="33" name="GATE_STATUS_5"/>
          <p:cNvSpPr/>
          <p:nvPr/>
        </p:nvSpPr>
        <p:spPr>
          <a:xfrm>
            <a:off x="2057400" y="49194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850" dirty="0"/>
          </a:p>
        </p:txBody>
      </p:sp>
      <p:sp>
        <p:nvSpPr>
          <p:cNvPr id="34" name="GATE_REASON_5"/>
          <p:cNvSpPr/>
          <p:nvPr/>
        </p:nvSpPr>
        <p:spPr>
          <a:xfrm>
            <a:off x="2734056" y="491947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Requirement / source status</a:t>
            </a:r>
            <a:endParaRPr lang="en-US" sz="1000" dirty="0"/>
          </a:p>
        </p:txBody>
      </p:sp>
      <p:sp>
        <p:nvSpPr>
          <p:cNvPr id="35" name="COMPARISON_CHART"/>
          <p:cNvSpPr/>
          <p:nvPr/>
        </p:nvSpPr>
        <p:spPr>
          <a:xfrm>
            <a:off x="5852160" y="2532888"/>
            <a:ext cx="5852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SCORES AFTER GATE</a:t>
            </a:r>
            <a:endParaRPr lang="en-US" sz="1300" dirty="0"/>
          </a:p>
        </p:txBody>
      </p:sp>
      <p:sp>
        <p:nvSpPr>
          <p:cNvPr id="36" name="COMPARISON_BG"/>
          <p:cNvSpPr/>
          <p:nvPr/>
        </p:nvSpPr>
        <p:spPr>
          <a:xfrm>
            <a:off x="5852160" y="2898648"/>
            <a:ext cx="5852160" cy="2423160"/>
          </a:xfrm>
          <a:prstGeom prst="roundRect">
            <a:avLst>
              <a:gd name="adj" fmla="val 3019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7" name="SCORE_VENDOR_1"/>
          <p:cNvSpPr/>
          <p:nvPr/>
        </p:nvSpPr>
        <p:spPr>
          <a:xfrm>
            <a:off x="5989320" y="3026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38" name="SCORE_TRACK_1"/>
          <p:cNvSpPr/>
          <p:nvPr/>
        </p:nvSpPr>
        <p:spPr>
          <a:xfrm>
            <a:off x="5989320" y="3300984"/>
            <a:ext cx="434340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9" name="SCORE_BAR_1"/>
          <p:cNvSpPr/>
          <p:nvPr/>
        </p:nvSpPr>
        <p:spPr>
          <a:xfrm>
            <a:off x="5989320" y="3300984"/>
            <a:ext cx="2606040" cy="128016"/>
          </a:xfrm>
          <a:prstGeom prst="roundRect">
            <a:avLst>
              <a:gd name="adj" fmla="val 57143"/>
            </a:avLst>
          </a:prstGeom>
          <a:solidFill>
            <a:srgbClr val="B77922"/>
          </a:solidFill>
          <a:ln w="12700">
            <a:solidFill>
              <a:srgbClr val="B77922"/>
            </a:solidFill>
            <a:prstDash val="solid"/>
          </a:ln>
        </p:spPr>
      </p:sp>
      <p:sp>
        <p:nvSpPr>
          <p:cNvPr id="40" name="SCORE_VALUE_1"/>
          <p:cNvSpPr/>
          <p:nvPr/>
        </p:nvSpPr>
        <p:spPr>
          <a:xfrm>
            <a:off x="10378440" y="325526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1" name="SCORE_LABEL_1"/>
          <p:cNvSpPr/>
          <p:nvPr/>
        </p:nvSpPr>
        <p:spPr>
          <a:xfrm>
            <a:off x="5989320" y="3456432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2" name="SCORE_VENDOR_2"/>
          <p:cNvSpPr/>
          <p:nvPr/>
        </p:nvSpPr>
        <p:spPr>
          <a:xfrm>
            <a:off x="5989320" y="3739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3" name="SCORE_TRACK_2"/>
          <p:cNvSpPr/>
          <p:nvPr/>
        </p:nvSpPr>
        <p:spPr>
          <a:xfrm>
            <a:off x="5989320" y="4014216"/>
            <a:ext cx="434340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4" name="SCORE_BAR_2"/>
          <p:cNvSpPr/>
          <p:nvPr/>
        </p:nvSpPr>
        <p:spPr>
          <a:xfrm>
            <a:off x="5989320" y="4014216"/>
            <a:ext cx="2084832" cy="128016"/>
          </a:xfrm>
          <a:prstGeom prst="roundRect">
            <a:avLst>
              <a:gd name="adj" fmla="val 57143"/>
            </a:avLst>
          </a:prstGeom>
          <a:solidFill>
            <a:srgbClr val="B77922"/>
          </a:solidFill>
          <a:ln w="12700">
            <a:solidFill>
              <a:srgbClr val="B77922"/>
            </a:solidFill>
            <a:prstDash val="solid"/>
          </a:ln>
        </p:spPr>
      </p:sp>
      <p:sp>
        <p:nvSpPr>
          <p:cNvPr id="45" name="SCORE_VALUE_2"/>
          <p:cNvSpPr/>
          <p:nvPr/>
        </p:nvSpPr>
        <p:spPr>
          <a:xfrm>
            <a:off x="10378440" y="39684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46" name="SCORE_LABEL_2"/>
          <p:cNvSpPr/>
          <p:nvPr/>
        </p:nvSpPr>
        <p:spPr>
          <a:xfrm>
            <a:off x="5989320" y="4169664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47" name="SCORE_VENDOR_3"/>
          <p:cNvSpPr/>
          <p:nvPr/>
        </p:nvSpPr>
        <p:spPr>
          <a:xfrm>
            <a:off x="5989320" y="4453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Compliant bid</a:t>
            </a:r>
            <a:endParaRPr lang="en-US" sz="1100" dirty="0"/>
          </a:p>
        </p:txBody>
      </p:sp>
      <p:sp>
        <p:nvSpPr>
          <p:cNvPr id="48" name="SCORE_TRACK_3"/>
          <p:cNvSpPr/>
          <p:nvPr/>
        </p:nvSpPr>
        <p:spPr>
          <a:xfrm>
            <a:off x="5989320" y="4727448"/>
            <a:ext cx="434340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9" name="SCORE_BAR_3"/>
          <p:cNvSpPr/>
          <p:nvPr/>
        </p:nvSpPr>
        <p:spPr>
          <a:xfrm>
            <a:off x="5989320" y="4727448"/>
            <a:ext cx="1563624" cy="128016"/>
          </a:xfrm>
          <a:prstGeom prst="roundRect">
            <a:avLst>
              <a:gd name="adj" fmla="val 57143"/>
            </a:avLst>
          </a:prstGeom>
          <a:solidFill>
            <a:srgbClr val="B77922"/>
          </a:solidFill>
          <a:ln w="12700">
            <a:solidFill>
              <a:srgbClr val="B77922"/>
            </a:solidFill>
            <a:prstDash val="solid"/>
          </a:ln>
        </p:spPr>
      </p:sp>
      <p:sp>
        <p:nvSpPr>
          <p:cNvPr id="50" name="SCORE_VALUE_3"/>
          <p:cNvSpPr/>
          <p:nvPr/>
        </p:nvSpPr>
        <p:spPr>
          <a:xfrm>
            <a:off x="10378440" y="46817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—</a:t>
            </a:r>
            <a:endParaRPr lang="en-US" sz="1100" dirty="0"/>
          </a:p>
        </p:txBody>
      </p:sp>
      <p:sp>
        <p:nvSpPr>
          <p:cNvPr id="51" name="SCORE_LABEL_3"/>
          <p:cNvSpPr/>
          <p:nvPr/>
        </p:nvSpPr>
        <p:spPr>
          <a:xfrm>
            <a:off x="5989320" y="4882896"/>
            <a:ext cx="5532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Evaluated price / context</a:t>
            </a:r>
            <a:endParaRPr lang="en-US" sz="900" dirty="0"/>
          </a:p>
        </p:txBody>
      </p:sp>
      <p:sp>
        <p:nvSpPr>
          <p:cNvPr id="52" name="DECISION_PANEL"/>
          <p:cNvSpPr/>
          <p:nvPr/>
        </p:nvSpPr>
        <p:spPr>
          <a:xfrm>
            <a:off x="475488" y="5504688"/>
            <a:ext cx="11228832" cy="530352"/>
          </a:xfrm>
          <a:prstGeom prst="roundRect">
            <a:avLst>
              <a:gd name="adj" fmla="val 13793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53" name="DECISION"/>
          <p:cNvSpPr/>
          <p:nvPr/>
        </p:nvSpPr>
        <p:spPr>
          <a:xfrm>
            <a:off x="704088" y="5586984"/>
            <a:ext cx="10744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Approval or next action requested</a:t>
            </a:r>
            <a:endParaRPr lang="en-US" sz="1500" dirty="0"/>
          </a:p>
        </p:txBody>
      </p:sp>
      <p:sp>
        <p:nvSpPr>
          <p:cNvPr id="54" name="SOURCE_NOTES"/>
          <p:cNvSpPr/>
          <p:nvPr/>
        </p:nvSpPr>
        <p:spPr>
          <a:xfrm>
            <a:off x="475488" y="6236208"/>
            <a:ext cx="11228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Sources: document ID and exact locator • Fictional training case; not A*STAR policy or Singapore procurement law.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RAND_BAND"/>
          <p:cNvSpPr/>
          <p:nvPr/>
        </p:nvSpPr>
        <p:spPr>
          <a:xfrm>
            <a:off x="0" y="0"/>
            <a:ext cx="12191695" cy="612648"/>
          </a:xfrm>
          <a:prstGeom prst="rect">
            <a:avLst>
              <a:gd name="adj" fmla="val 11940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3" name="BRAND_LABEL"/>
          <p:cNvSpPr/>
          <p:nvPr/>
        </p:nvSpPr>
        <p:spPr>
          <a:xfrm>
            <a:off x="475488" y="16459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ENCABULATION | DECISION BRIEF</a:t>
            </a:r>
            <a:endParaRPr lang="en-US" sz="1100" dirty="0"/>
          </a:p>
        </p:txBody>
      </p:sp>
      <p:sp>
        <p:nvSpPr>
          <p:cNvPr id="4" name="ARCHETYPE_LABEL"/>
          <p:cNvSpPr/>
          <p:nvPr/>
        </p:nvSpPr>
        <p:spPr>
          <a:xfrm>
            <a:off x="9308592" y="164592"/>
            <a:ext cx="23957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DCE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DECISION SUMMARY</a:t>
            </a:r>
            <a:endParaRPr lang="en-US" sz="900" dirty="0"/>
          </a:p>
        </p:txBody>
      </p:sp>
      <p:sp>
        <p:nvSpPr>
          <p:cNvPr id="5" name="AUDIENCE"/>
          <p:cNvSpPr/>
          <p:nvPr/>
        </p:nvSpPr>
        <p:spPr>
          <a:xfrm>
            <a:off x="475488" y="749808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Executive approval committee</a:t>
            </a:r>
            <a:endParaRPr lang="en-US" sz="1000" dirty="0"/>
          </a:p>
        </p:txBody>
      </p:sp>
      <p:sp>
        <p:nvSpPr>
          <p:cNvPr id="6" name="TITLE"/>
          <p:cNvSpPr/>
          <p:nvPr/>
        </p:nvSpPr>
        <p:spPr>
          <a:xfrm>
            <a:off x="475488" y="1014984"/>
            <a:ext cx="111556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Select Northstar for the reliability platform</a:t>
            </a:r>
            <a:endParaRPr lang="en-US" sz="2700" dirty="0"/>
          </a:p>
        </p:txBody>
      </p:sp>
      <p:sp>
        <p:nvSpPr>
          <p:cNvPr id="7" name="RECOMMENDATION_PANEL"/>
          <p:cNvSpPr/>
          <p:nvPr/>
        </p:nvSpPr>
        <p:spPr>
          <a:xfrm>
            <a:off x="475488" y="1618488"/>
            <a:ext cx="11228832" cy="621792"/>
          </a:xfrm>
          <a:prstGeom prst="roundRect">
            <a:avLst>
              <a:gd name="adj" fmla="val 11765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8" name="RECOMMENDATION_ACCENT"/>
          <p:cNvSpPr/>
          <p:nvPr/>
        </p:nvSpPr>
        <p:spPr>
          <a:xfrm>
            <a:off x="475488" y="1618488"/>
            <a:ext cx="91440" cy="621792"/>
          </a:xfrm>
          <a:prstGeom prst="rect">
            <a:avLst>
              <a:gd name="adj" fmla="val 80000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9" name="RECOMMENDATION"/>
          <p:cNvSpPr/>
          <p:nvPr/>
        </p:nvSpPr>
        <p:spPr>
          <a:xfrm>
            <a:off x="694944" y="1728216"/>
            <a:ext cx="10744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Northstar leads the evaluation and meets all gates</a:t>
            </a:r>
            <a:endParaRPr lang="en-US" sz="1700" dirty="0"/>
          </a:p>
        </p:txBody>
      </p:sp>
      <p:sp>
        <p:nvSpPr>
          <p:cNvPr id="10" name="GATE_TABLE"/>
          <p:cNvSpPr/>
          <p:nvPr/>
        </p:nvSpPr>
        <p:spPr>
          <a:xfrm>
            <a:off x="475488" y="2532888"/>
            <a:ext cx="5623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MANDATORY COMPLIANCE</a:t>
            </a:r>
            <a:endParaRPr lang="en-US" sz="1300" dirty="0"/>
          </a:p>
        </p:txBody>
      </p:sp>
      <p:sp>
        <p:nvSpPr>
          <p:cNvPr id="11" name="GATE_HEADER_BG"/>
          <p:cNvSpPr/>
          <p:nvPr/>
        </p:nvSpPr>
        <p:spPr>
          <a:xfrm>
            <a:off x="475488" y="2898648"/>
            <a:ext cx="5623560" cy="310896"/>
          </a:xfrm>
          <a:prstGeom prst="rect">
            <a:avLst>
              <a:gd name="adj" fmla="val 23529"/>
            </a:avLst>
          </a:prstGeom>
          <a:solidFill>
            <a:srgbClr val="EEF4F6"/>
          </a:solidFill>
          <a:ln w="12700">
            <a:solidFill>
              <a:srgbClr val="EEF4F6"/>
            </a:solidFill>
            <a:prstDash val="solid"/>
          </a:ln>
        </p:spPr>
      </p:sp>
      <p:sp>
        <p:nvSpPr>
          <p:cNvPr id="12" name="GATE_VENDOR_HEADER"/>
          <p:cNvSpPr/>
          <p:nvPr/>
        </p:nvSpPr>
        <p:spPr>
          <a:xfrm>
            <a:off x="612648" y="2944368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</a:t>
            </a:r>
            <a:endParaRPr lang="en-US" sz="900" dirty="0"/>
          </a:p>
        </p:txBody>
      </p:sp>
      <p:sp>
        <p:nvSpPr>
          <p:cNvPr id="13" name="GATE_STATUS_HEADER"/>
          <p:cNvSpPr/>
          <p:nvPr/>
        </p:nvSpPr>
        <p:spPr>
          <a:xfrm>
            <a:off x="2066544" y="2944368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GATE</a:t>
            </a:r>
            <a:endParaRPr lang="en-US" sz="900" dirty="0"/>
          </a:p>
        </p:txBody>
      </p:sp>
      <p:sp>
        <p:nvSpPr>
          <p:cNvPr id="14" name="GATE_REASON_HEADER"/>
          <p:cNvSpPr/>
          <p:nvPr/>
        </p:nvSpPr>
        <p:spPr>
          <a:xfrm>
            <a:off x="2734056" y="2944368"/>
            <a:ext cx="32644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DECISIVE BASIS</a:t>
            </a:r>
            <a:endParaRPr lang="en-US" sz="900" dirty="0"/>
          </a:p>
        </p:txBody>
      </p:sp>
      <p:sp>
        <p:nvSpPr>
          <p:cNvPr id="15" name="GATE_ROW_1_BG"/>
          <p:cNvSpPr/>
          <p:nvPr/>
        </p:nvSpPr>
        <p:spPr>
          <a:xfrm>
            <a:off x="475488" y="3236976"/>
            <a:ext cx="562356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16" name="GATE_VENDOR_1"/>
          <p:cNvSpPr/>
          <p:nvPr/>
        </p:nvSpPr>
        <p:spPr>
          <a:xfrm>
            <a:off x="612648" y="32735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Northstar</a:t>
            </a:r>
            <a:endParaRPr lang="en-US" sz="1100" dirty="0"/>
          </a:p>
        </p:txBody>
      </p:sp>
      <p:sp>
        <p:nvSpPr>
          <p:cNvPr id="17" name="GATE_STATUS_1"/>
          <p:cNvSpPr/>
          <p:nvPr/>
        </p:nvSpPr>
        <p:spPr>
          <a:xfrm>
            <a:off x="2057400" y="327355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PASS</a:t>
            </a:r>
            <a:endParaRPr lang="en-US" sz="850" dirty="0"/>
          </a:p>
        </p:txBody>
      </p:sp>
      <p:sp>
        <p:nvSpPr>
          <p:cNvPr id="18" name="GATE_REASON_1"/>
          <p:cNvSpPr/>
          <p:nvPr/>
        </p:nvSpPr>
        <p:spPr>
          <a:xfrm>
            <a:off x="2734056" y="327355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M1-M7 satisfied</a:t>
            </a:r>
            <a:endParaRPr lang="en-US" sz="1000" dirty="0"/>
          </a:p>
        </p:txBody>
      </p:sp>
      <p:sp>
        <p:nvSpPr>
          <p:cNvPr id="19" name="GATE_ROW_2_BG"/>
          <p:cNvSpPr/>
          <p:nvPr/>
        </p:nvSpPr>
        <p:spPr>
          <a:xfrm>
            <a:off x="475488" y="3648456"/>
            <a:ext cx="562356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GATE_VENDOR_2"/>
          <p:cNvSpPr/>
          <p:nvPr/>
        </p:nvSpPr>
        <p:spPr>
          <a:xfrm>
            <a:off x="612648" y="368503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Meridian</a:t>
            </a:r>
            <a:endParaRPr lang="en-US" sz="1100" dirty="0"/>
          </a:p>
        </p:txBody>
      </p:sp>
      <p:sp>
        <p:nvSpPr>
          <p:cNvPr id="21" name="GATE_STATUS_2"/>
          <p:cNvSpPr/>
          <p:nvPr/>
        </p:nvSpPr>
        <p:spPr>
          <a:xfrm>
            <a:off x="2057400" y="368503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PASS</a:t>
            </a:r>
            <a:endParaRPr lang="en-US" sz="850" dirty="0"/>
          </a:p>
        </p:txBody>
      </p:sp>
      <p:sp>
        <p:nvSpPr>
          <p:cNvPr id="22" name="GATE_REASON_2"/>
          <p:cNvSpPr/>
          <p:nvPr/>
        </p:nvSpPr>
        <p:spPr>
          <a:xfrm>
            <a:off x="2734056" y="368503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M1-M7 satisfied</a:t>
            </a:r>
            <a:endParaRPr lang="en-US" sz="1000" dirty="0"/>
          </a:p>
        </p:txBody>
      </p:sp>
      <p:sp>
        <p:nvSpPr>
          <p:cNvPr id="23" name="GATE_ROW_3_BG"/>
          <p:cNvSpPr/>
          <p:nvPr/>
        </p:nvSpPr>
        <p:spPr>
          <a:xfrm>
            <a:off x="475488" y="4059936"/>
            <a:ext cx="562356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24" name="GATE_VENDOR_3"/>
          <p:cNvSpPr/>
          <p:nvPr/>
        </p:nvSpPr>
        <p:spPr>
          <a:xfrm>
            <a:off x="612648" y="40965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Helix</a:t>
            </a:r>
            <a:endParaRPr lang="en-US" sz="1100" dirty="0"/>
          </a:p>
        </p:txBody>
      </p:sp>
      <p:sp>
        <p:nvSpPr>
          <p:cNvPr id="25" name="GATE_STATUS_3"/>
          <p:cNvSpPr/>
          <p:nvPr/>
        </p:nvSpPr>
        <p:spPr>
          <a:xfrm>
            <a:off x="2057400" y="409651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PASS</a:t>
            </a:r>
            <a:endParaRPr lang="en-US" sz="850" dirty="0"/>
          </a:p>
        </p:txBody>
      </p:sp>
      <p:sp>
        <p:nvSpPr>
          <p:cNvPr id="26" name="GATE_REASON_3"/>
          <p:cNvSpPr/>
          <p:nvPr/>
        </p:nvSpPr>
        <p:spPr>
          <a:xfrm>
            <a:off x="2734056" y="409651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M1-M7 satisfied</a:t>
            </a:r>
            <a:endParaRPr lang="en-US" sz="1000" dirty="0"/>
          </a:p>
        </p:txBody>
      </p:sp>
      <p:sp>
        <p:nvSpPr>
          <p:cNvPr id="27" name="GATE_ROW_4_BG"/>
          <p:cNvSpPr/>
          <p:nvPr/>
        </p:nvSpPr>
        <p:spPr>
          <a:xfrm>
            <a:off x="475488" y="4471416"/>
            <a:ext cx="5623560" cy="374904"/>
          </a:xfrm>
          <a:prstGeom prst="rect">
            <a:avLst>
              <a:gd name="adj" fmla="val 195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GATE_VENDOR_4"/>
          <p:cNvSpPr/>
          <p:nvPr/>
        </p:nvSpPr>
        <p:spPr>
          <a:xfrm>
            <a:off x="612648" y="45079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Peregrine</a:t>
            </a:r>
            <a:endParaRPr lang="en-US" sz="1100" dirty="0"/>
          </a:p>
        </p:txBody>
      </p:sp>
      <p:sp>
        <p:nvSpPr>
          <p:cNvPr id="29" name="GATE_STATUS_4"/>
          <p:cNvSpPr/>
          <p:nvPr/>
        </p:nvSpPr>
        <p:spPr>
          <a:xfrm>
            <a:off x="2057400" y="450799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FAIL</a:t>
            </a:r>
            <a:endParaRPr lang="en-US" sz="850" dirty="0"/>
          </a:p>
        </p:txBody>
      </p:sp>
      <p:sp>
        <p:nvSpPr>
          <p:cNvPr id="30" name="GATE_REASON_4"/>
          <p:cNvSpPr/>
          <p:nvPr/>
        </p:nvSpPr>
        <p:spPr>
          <a:xfrm>
            <a:off x="2734056" y="450799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M3: capacity below requirement</a:t>
            </a:r>
            <a:endParaRPr lang="en-US" sz="1000" dirty="0"/>
          </a:p>
        </p:txBody>
      </p:sp>
      <p:sp>
        <p:nvSpPr>
          <p:cNvPr id="31" name="GATE_ROW_5_BG"/>
          <p:cNvSpPr/>
          <p:nvPr/>
        </p:nvSpPr>
        <p:spPr>
          <a:xfrm>
            <a:off x="475488" y="4882896"/>
            <a:ext cx="5623560" cy="374904"/>
          </a:xfrm>
          <a:prstGeom prst="rect">
            <a:avLst>
              <a:gd name="adj" fmla="val 19512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2" name="GATE_VENDOR_5"/>
          <p:cNvSpPr/>
          <p:nvPr/>
        </p:nvSpPr>
        <p:spPr>
          <a:xfrm>
            <a:off x="612648" y="491947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Aperture</a:t>
            </a:r>
            <a:endParaRPr lang="en-US" sz="1100" dirty="0"/>
          </a:p>
        </p:txBody>
      </p:sp>
      <p:sp>
        <p:nvSpPr>
          <p:cNvPr id="33" name="GATE_STATUS_5"/>
          <p:cNvSpPr/>
          <p:nvPr/>
        </p:nvSpPr>
        <p:spPr>
          <a:xfrm>
            <a:off x="2057400" y="4919472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FAIL</a:t>
            </a:r>
            <a:endParaRPr lang="en-US" sz="850" dirty="0"/>
          </a:p>
        </p:txBody>
      </p:sp>
      <p:sp>
        <p:nvSpPr>
          <p:cNvPr id="34" name="GATE_REASON_5"/>
          <p:cNvSpPr/>
          <p:nvPr/>
        </p:nvSpPr>
        <p:spPr>
          <a:xfrm>
            <a:off x="2734056" y="4919472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M1/M2: over budget and late</a:t>
            </a:r>
            <a:endParaRPr lang="en-US" sz="1000" dirty="0"/>
          </a:p>
        </p:txBody>
      </p:sp>
      <p:sp>
        <p:nvSpPr>
          <p:cNvPr id="35" name="COMPARISON_CHART"/>
          <p:cNvSpPr/>
          <p:nvPr/>
        </p:nvSpPr>
        <p:spPr>
          <a:xfrm>
            <a:off x="6355080" y="2532888"/>
            <a:ext cx="5349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273C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SCORES AFTER GATE</a:t>
            </a:r>
            <a:endParaRPr lang="en-US" sz="1300" dirty="0"/>
          </a:p>
        </p:txBody>
      </p:sp>
      <p:sp>
        <p:nvSpPr>
          <p:cNvPr id="36" name="COMPARISON_BG"/>
          <p:cNvSpPr/>
          <p:nvPr/>
        </p:nvSpPr>
        <p:spPr>
          <a:xfrm>
            <a:off x="6355080" y="2898648"/>
            <a:ext cx="5349240" cy="2423160"/>
          </a:xfrm>
          <a:prstGeom prst="roundRect">
            <a:avLst>
              <a:gd name="adj" fmla="val 3019"/>
            </a:avLst>
          </a:prstGeom>
          <a:solidFill>
            <a:srgbClr val="F8FAFB"/>
          </a:solidFill>
          <a:ln w="12700">
            <a:solidFill>
              <a:srgbClr val="F8FAFB"/>
            </a:solidFill>
            <a:prstDash val="solid"/>
          </a:ln>
        </p:spPr>
      </p:sp>
      <p:sp>
        <p:nvSpPr>
          <p:cNvPr id="37" name="SCORE_VENDOR_1"/>
          <p:cNvSpPr/>
          <p:nvPr/>
        </p:nvSpPr>
        <p:spPr>
          <a:xfrm>
            <a:off x="6492240" y="302666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Northstar</a:t>
            </a:r>
            <a:endParaRPr lang="en-US" sz="1100" dirty="0"/>
          </a:p>
        </p:txBody>
      </p:sp>
      <p:sp>
        <p:nvSpPr>
          <p:cNvPr id="38" name="SCORE_TRACK_1"/>
          <p:cNvSpPr/>
          <p:nvPr/>
        </p:nvSpPr>
        <p:spPr>
          <a:xfrm>
            <a:off x="6492240" y="3300984"/>
            <a:ext cx="384048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9" name="SCORE_BAR_1"/>
          <p:cNvSpPr/>
          <p:nvPr/>
        </p:nvSpPr>
        <p:spPr>
          <a:xfrm>
            <a:off x="6492240" y="3300984"/>
            <a:ext cx="3525561" cy="128016"/>
          </a:xfrm>
          <a:prstGeom prst="roundRect">
            <a:avLst>
              <a:gd name="adj" fmla="val 57143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40" name="SCORE_VALUE_1"/>
          <p:cNvSpPr/>
          <p:nvPr/>
        </p:nvSpPr>
        <p:spPr>
          <a:xfrm>
            <a:off x="10378440" y="3255264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91.8</a:t>
            </a:r>
            <a:endParaRPr lang="en-US" sz="1100" dirty="0"/>
          </a:p>
        </p:txBody>
      </p:sp>
      <p:sp>
        <p:nvSpPr>
          <p:cNvPr id="41" name="SCORE_LABEL_1"/>
          <p:cNvSpPr/>
          <p:nvPr/>
        </p:nvSpPr>
        <p:spPr>
          <a:xfrm>
            <a:off x="6492240" y="3456432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S$348,000 ex GST</a:t>
            </a:r>
            <a:endParaRPr lang="en-US" sz="900" dirty="0"/>
          </a:p>
        </p:txBody>
      </p:sp>
      <p:sp>
        <p:nvSpPr>
          <p:cNvPr id="42" name="SCORE_VENDOR_2"/>
          <p:cNvSpPr/>
          <p:nvPr/>
        </p:nvSpPr>
        <p:spPr>
          <a:xfrm>
            <a:off x="6492240" y="373989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Meridian</a:t>
            </a:r>
            <a:endParaRPr lang="en-US" sz="1100" dirty="0"/>
          </a:p>
        </p:txBody>
      </p:sp>
      <p:sp>
        <p:nvSpPr>
          <p:cNvPr id="43" name="SCORE_TRACK_2"/>
          <p:cNvSpPr/>
          <p:nvPr/>
        </p:nvSpPr>
        <p:spPr>
          <a:xfrm>
            <a:off x="6492240" y="4014216"/>
            <a:ext cx="384048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4" name="SCORE_BAR_2"/>
          <p:cNvSpPr/>
          <p:nvPr/>
        </p:nvSpPr>
        <p:spPr>
          <a:xfrm>
            <a:off x="6492240" y="4014216"/>
            <a:ext cx="3310494" cy="128016"/>
          </a:xfrm>
          <a:prstGeom prst="roundRect">
            <a:avLst>
              <a:gd name="adj" fmla="val 57143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45" name="SCORE_VALUE_2"/>
          <p:cNvSpPr/>
          <p:nvPr/>
        </p:nvSpPr>
        <p:spPr>
          <a:xfrm>
            <a:off x="10378440" y="396849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86.2</a:t>
            </a:r>
            <a:endParaRPr lang="en-US" sz="1100" dirty="0"/>
          </a:p>
        </p:txBody>
      </p:sp>
      <p:sp>
        <p:nvSpPr>
          <p:cNvPr id="46" name="SCORE_LABEL_2"/>
          <p:cNvSpPr/>
          <p:nvPr/>
        </p:nvSpPr>
        <p:spPr>
          <a:xfrm>
            <a:off x="6492240" y="4169664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S$391,500 ex GST</a:t>
            </a:r>
            <a:endParaRPr lang="en-US" sz="900" dirty="0"/>
          </a:p>
        </p:txBody>
      </p:sp>
      <p:sp>
        <p:nvSpPr>
          <p:cNvPr id="47" name="SCORE_VENDOR_3"/>
          <p:cNvSpPr/>
          <p:nvPr/>
        </p:nvSpPr>
        <p:spPr>
          <a:xfrm>
            <a:off x="6492240" y="445312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Helix</a:t>
            </a:r>
            <a:endParaRPr lang="en-US" sz="1100" dirty="0"/>
          </a:p>
        </p:txBody>
      </p:sp>
      <p:sp>
        <p:nvSpPr>
          <p:cNvPr id="48" name="SCORE_TRACK_3"/>
          <p:cNvSpPr/>
          <p:nvPr/>
        </p:nvSpPr>
        <p:spPr>
          <a:xfrm>
            <a:off x="6492240" y="4727448"/>
            <a:ext cx="3840480" cy="128016"/>
          </a:xfrm>
          <a:prstGeom prst="roundRect">
            <a:avLst>
              <a:gd name="adj" fmla="val 57143"/>
            </a:avLst>
          </a:prstGeom>
          <a:solidFill>
            <a:srgbClr val="D8E2E8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9" name="SCORE_BAR_3"/>
          <p:cNvSpPr/>
          <p:nvPr/>
        </p:nvSpPr>
        <p:spPr>
          <a:xfrm>
            <a:off x="6492240" y="4727448"/>
            <a:ext cx="3126151" cy="128016"/>
          </a:xfrm>
          <a:prstGeom prst="roundRect">
            <a:avLst>
              <a:gd name="adj" fmla="val 57143"/>
            </a:avLst>
          </a:prstGeom>
          <a:solidFill>
            <a:srgbClr val="1A9CAC"/>
          </a:solidFill>
          <a:ln w="12700">
            <a:solidFill>
              <a:srgbClr val="1A9CAC"/>
            </a:solidFill>
            <a:prstDash val="solid"/>
          </a:ln>
        </p:spPr>
      </p:sp>
      <p:sp>
        <p:nvSpPr>
          <p:cNvPr id="50" name="SCORE_VALUE_3"/>
          <p:cNvSpPr/>
          <p:nvPr/>
        </p:nvSpPr>
        <p:spPr>
          <a:xfrm>
            <a:off x="10378440" y="4681728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D3349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81.4</a:t>
            </a:r>
            <a:endParaRPr lang="en-US" sz="1100" dirty="0"/>
          </a:p>
        </p:txBody>
      </p:sp>
      <p:sp>
        <p:nvSpPr>
          <p:cNvPr id="51" name="SCORE_LABEL_3"/>
          <p:cNvSpPr/>
          <p:nvPr/>
        </p:nvSpPr>
        <p:spPr>
          <a:xfrm>
            <a:off x="6492240" y="4882896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S$422,000 ex GST</a:t>
            </a:r>
            <a:endParaRPr lang="en-US" sz="900" dirty="0"/>
          </a:p>
        </p:txBody>
      </p:sp>
      <p:sp>
        <p:nvSpPr>
          <p:cNvPr id="52" name="DECISION_PANEL"/>
          <p:cNvSpPr/>
          <p:nvPr/>
        </p:nvSpPr>
        <p:spPr>
          <a:xfrm>
            <a:off x="475488" y="5504688"/>
            <a:ext cx="11228832" cy="530352"/>
          </a:xfrm>
          <a:prstGeom prst="roundRect">
            <a:avLst>
              <a:gd name="adj" fmla="val 13793"/>
            </a:avLst>
          </a:prstGeom>
          <a:solidFill>
            <a:srgbClr val="14273C"/>
          </a:solidFill>
          <a:ln w="12700">
            <a:solidFill>
              <a:srgbClr val="14273C"/>
            </a:solidFill>
            <a:prstDash val="solid"/>
          </a:ln>
        </p:spPr>
      </p:sp>
      <p:sp>
        <p:nvSpPr>
          <p:cNvPr id="53" name="DECISION"/>
          <p:cNvSpPr/>
          <p:nvPr/>
        </p:nvSpPr>
        <p:spPr>
          <a:xfrm>
            <a:off x="704088" y="5586984"/>
            <a:ext cx="10744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Approve Northstar at S$348,000 ex GST</a:t>
            </a:r>
            <a:endParaRPr lang="en-US" sz="1500" dirty="0"/>
          </a:p>
        </p:txBody>
      </p:sp>
      <p:sp>
        <p:nvSpPr>
          <p:cNvPr id="54" name="SOURCE_NOTES"/>
          <p:cNvSpPr/>
          <p:nvPr/>
        </p:nvSpPr>
        <p:spPr>
          <a:xfrm>
            <a:off x="475488" y="6236208"/>
            <a:ext cx="112288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D7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Sources: EVAL-001 summary scores; EVAL-002 proposal comparison; EMAIL-002 service clarification thread. Fictional training case; not A*STAR policy or Singapore procurement law.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iberation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Fictional procurement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Encabulation procurement — decision slide template</dc:title>
  <dc:subject>Leadership decision slide template</dc:subject>
  <dc:creator>Fictional procurement workshop</dc:creator>
  <cp:lastModifiedBy>Fictional procurement workshop</cp:lastModifiedBy>
  <cp:revision>1</cp:revision>
  <dcterms:created xsi:type="dcterms:W3CDTF">2026-09-24T14:13:27Z</dcterms:created>
  <dcterms:modified xsi:type="dcterms:W3CDTF">2026-09-24T14:13:27Z</dcterms:modified>
</cp:coreProperties>
</file>