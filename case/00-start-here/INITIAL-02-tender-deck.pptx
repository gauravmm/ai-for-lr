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r:id="rId10-created" id="256"/>
    <p:sldId r:id="rId11-created" id="257"/>
    <p:sldId r:id="rId12-created" id="25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-created" Type="http://schemas.openxmlformats.org/officeDocument/2006/relationships/slide" Target="slides/slide6.xml"/><Relationship Id="rId11-created" Type="http://schemas.openxmlformats.org/officeDocument/2006/relationships/slide" Target="slides/slide7.xml"/><Relationship Id="rId12-created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2286937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1829549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1372162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1501060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120084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900636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procurement problem this evaluation must resolve, in one paragraph.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mandatory requirement text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mandatory requirement text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mandatory requirement text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mandatory requirement text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mandatory requirement text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mandatory requirement text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mandatory requirement text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4569" y="1793942"/>
            <a:ext cx="427891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ARER-300 procurement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34569" y="2708342"/>
            <a:ext cx="427891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Open Sans" panose="020B0606030504020204" pitchFamily="34" charset="0"/>
              </a:rPr>
              <a:t>Evaluation Support Agent — working material for verification</a:t>
            </a:r>
          </a:p>
        </p:txBody>
      </p:sp>
      <p:sp>
        <p:nvSpPr>
          <p:cNvPr id="4" name="AUDIENCE"/>
          <p:cNvSpPr txBox="1"/>
          <p:nvPr/>
        </p:nvSpPr>
        <p:spPr>
          <a:xfrm>
            <a:off x="334569" y="1481328"/>
            <a:ext cx="427891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B9C7E6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5" name="SOURCE_NOTES"/>
          <p:cNvSpPr txBox="1"/>
          <p:nvPr/>
        </p:nvSpPr>
        <p:spPr>
          <a:xfrm>
            <a:off x="334569" y="6309360"/>
            <a:ext cx="427891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28335" y="1185212"/>
            <a:ext cx="1007999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What is being procured, in plain language.</a:t>
            </a:r>
          </a:p>
        </p:txBody>
      </p:sp>
      <p:sp>
        <p:nvSpPr>
          <p:cNvPr id="5" name="FACT_CARD_1"/>
          <p:cNvSpPr/>
          <p:nvPr/>
        </p:nvSpPr>
        <p:spPr>
          <a:xfrm>
            <a:off x="6283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ACT_ACCENT_1"/>
          <p:cNvSpPr/>
          <p:nvPr/>
        </p:nvSpPr>
        <p:spPr>
          <a:xfrm>
            <a:off x="6283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ACT_LABEL_1"/>
          <p:cNvSpPr txBox="1"/>
          <p:nvPr/>
        </p:nvSpPr>
        <p:spPr>
          <a:xfrm>
            <a:off x="7929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8" name="FACT_VALUE_1"/>
          <p:cNvSpPr txBox="1"/>
          <p:nvPr/>
        </p:nvSpPr>
        <p:spPr>
          <a:xfrm>
            <a:off x="7929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9" name="FACT_CARD_2"/>
          <p:cNvSpPr/>
          <p:nvPr/>
        </p:nvSpPr>
        <p:spPr>
          <a:xfrm>
            <a:off x="320548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ACT_ACCENT_2"/>
          <p:cNvSpPr/>
          <p:nvPr/>
        </p:nvSpPr>
        <p:spPr>
          <a:xfrm>
            <a:off x="320548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ACT_LABEL_2"/>
          <p:cNvSpPr txBox="1"/>
          <p:nvPr/>
        </p:nvSpPr>
        <p:spPr>
          <a:xfrm>
            <a:off x="337007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2" name="FACT_VALUE_2"/>
          <p:cNvSpPr txBox="1"/>
          <p:nvPr/>
        </p:nvSpPr>
        <p:spPr>
          <a:xfrm>
            <a:off x="337007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3" name="FACT_CARD_3"/>
          <p:cNvSpPr/>
          <p:nvPr/>
        </p:nvSpPr>
        <p:spPr>
          <a:xfrm>
            <a:off x="57826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CT_ACCENT_3"/>
          <p:cNvSpPr/>
          <p:nvPr/>
        </p:nvSpPr>
        <p:spPr>
          <a:xfrm>
            <a:off x="57826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ACT_LABEL_3"/>
          <p:cNvSpPr txBox="1"/>
          <p:nvPr/>
        </p:nvSpPr>
        <p:spPr>
          <a:xfrm>
            <a:off x="59472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6" name="FACT_VALUE_3"/>
          <p:cNvSpPr txBox="1"/>
          <p:nvPr/>
        </p:nvSpPr>
        <p:spPr>
          <a:xfrm>
            <a:off x="59472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7" name="FACT_CARD_4"/>
          <p:cNvSpPr/>
          <p:nvPr/>
        </p:nvSpPr>
        <p:spPr>
          <a:xfrm>
            <a:off x="8359784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ACT_ACCENT_4"/>
          <p:cNvSpPr/>
          <p:nvPr/>
        </p:nvSpPr>
        <p:spPr>
          <a:xfrm>
            <a:off x="8359784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ACT_LABEL_4"/>
          <p:cNvSpPr txBox="1"/>
          <p:nvPr/>
        </p:nvSpPr>
        <p:spPr>
          <a:xfrm>
            <a:off x="8524376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20" name="FACT_VALUE_4"/>
          <p:cNvSpPr txBox="1"/>
          <p:nvPr/>
        </p:nvSpPr>
        <p:spPr>
          <a:xfrm>
            <a:off x="8524376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21" name="SOURCE_NOTES"/>
          <p:cNvSpPr txBox="1"/>
          <p:nvPr/>
        </p:nvSpPr>
        <p:spPr>
          <a:xfrm>
            <a:off x="628335" y="4522772"/>
            <a:ext cx="100799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What we are buying: the ARER-300 test platform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28335" y="1185212"/>
            <a:ext cx="1007999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A reliability test chamber that stresses many specimens at once with heat, mechanical load and electrical bias, and records when and how each one fails.</a:t>
            </a:r>
          </a:p>
        </p:txBody>
      </p:sp>
      <p:sp>
        <p:nvSpPr>
          <p:cNvPr id="5" name="FACT_CARD_1"/>
          <p:cNvSpPr/>
          <p:nvPr/>
        </p:nvSpPr>
        <p:spPr>
          <a:xfrm>
            <a:off x="6283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ACT_ACCENT_1"/>
          <p:cNvSpPr/>
          <p:nvPr/>
        </p:nvSpPr>
        <p:spPr>
          <a:xfrm>
            <a:off x="6283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ACT_LABEL_1"/>
          <p:cNvSpPr txBox="1"/>
          <p:nvPr/>
        </p:nvSpPr>
        <p:spPr>
          <a:xfrm>
            <a:off x="7929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Capacity</a:t>
            </a:r>
          </a:p>
        </p:txBody>
      </p:sp>
      <p:sp>
        <p:nvSpPr>
          <p:cNvPr id="8" name="FACT_VALUE_1"/>
          <p:cNvSpPr txBox="1"/>
          <p:nvPr/>
        </p:nvSpPr>
        <p:spPr>
          <a:xfrm>
            <a:off x="7929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48 specimens in one run</a:t>
            </a:r>
          </a:p>
        </p:txBody>
      </p:sp>
      <p:sp>
        <p:nvSpPr>
          <p:cNvPr id="9" name="FACT_CARD_2"/>
          <p:cNvSpPr/>
          <p:nvPr/>
        </p:nvSpPr>
        <p:spPr>
          <a:xfrm>
            <a:off x="320548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ACT_ACCENT_2"/>
          <p:cNvSpPr/>
          <p:nvPr/>
        </p:nvSpPr>
        <p:spPr>
          <a:xfrm>
            <a:off x="320548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ACT_LABEL_2"/>
          <p:cNvSpPr txBox="1"/>
          <p:nvPr/>
        </p:nvSpPr>
        <p:spPr>
          <a:xfrm>
            <a:off x="337007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Stress ranges</a:t>
            </a:r>
          </a:p>
        </p:txBody>
      </p:sp>
      <p:sp>
        <p:nvSpPr>
          <p:cNvPr id="12" name="FACT_VALUE_2"/>
          <p:cNvSpPr txBox="1"/>
          <p:nvPr/>
        </p:nvSpPr>
        <p:spPr>
          <a:xfrm>
            <a:off x="337007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−40 to 125 °C, 500 N, 24 V</a:t>
            </a:r>
          </a:p>
        </p:txBody>
      </p:sp>
      <p:sp>
        <p:nvSpPr>
          <p:cNvPr id="13" name="FACT_CARD_3"/>
          <p:cNvSpPr/>
          <p:nvPr/>
        </p:nvSpPr>
        <p:spPr>
          <a:xfrm>
            <a:off x="57826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CT_ACCENT_3"/>
          <p:cNvSpPr/>
          <p:nvPr/>
        </p:nvSpPr>
        <p:spPr>
          <a:xfrm>
            <a:off x="57826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ACT_LABEL_3"/>
          <p:cNvSpPr txBox="1"/>
          <p:nvPr/>
        </p:nvSpPr>
        <p:spPr>
          <a:xfrm>
            <a:off x="59472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Budget ceiling</a:t>
            </a:r>
          </a:p>
        </p:txBody>
      </p:sp>
      <p:sp>
        <p:nvSpPr>
          <p:cNvPr id="16" name="FACT_VALUE_3"/>
          <p:cNvSpPr txBox="1"/>
          <p:nvPr/>
        </p:nvSpPr>
        <p:spPr>
          <a:xfrm>
            <a:off x="59472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S$450,000 ex GST</a:t>
            </a:r>
          </a:p>
        </p:txBody>
      </p:sp>
      <p:sp>
        <p:nvSpPr>
          <p:cNvPr id="17" name="FACT_CARD_4"/>
          <p:cNvSpPr/>
          <p:nvPr/>
        </p:nvSpPr>
        <p:spPr>
          <a:xfrm>
            <a:off x="8359784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ACT_ACCENT_4"/>
          <p:cNvSpPr/>
          <p:nvPr/>
        </p:nvSpPr>
        <p:spPr>
          <a:xfrm>
            <a:off x="8359784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ACT_LABEL_4"/>
          <p:cNvSpPr txBox="1"/>
          <p:nvPr/>
        </p:nvSpPr>
        <p:spPr>
          <a:xfrm>
            <a:off x="8524376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In service</a:t>
            </a:r>
          </a:p>
        </p:txBody>
      </p:sp>
      <p:sp>
        <p:nvSpPr>
          <p:cNvPr id="20" name="FACT_VALUE_4"/>
          <p:cNvSpPr txBox="1"/>
          <p:nvPr/>
        </p:nvSpPr>
        <p:spPr>
          <a:xfrm>
            <a:off x="8524376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Jan 2027 to Mar 2030</a:t>
            </a:r>
          </a:p>
        </p:txBody>
      </p:sp>
      <p:sp>
        <p:nvSpPr>
          <p:cNvPr id="21" name="SOURCE_NOTES"/>
          <p:cNvSpPr txBox="1"/>
          <p:nvPr/>
        </p:nvSpPr>
        <p:spPr>
          <a:xfrm>
            <a:off x="628335" y="4522772"/>
            <a:ext cx="100799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ARER-300 evaluation: gates and scoring criteria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ARER-300 tender (RFQ-ARER-26-014) closed 28 Aug 2026 with five bids.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Total evaluated price no more than S$450,000 ex GST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Site Acceptance Test complete by 31 Jan 2027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At least 48 specimens per run, full ranges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Raw data exports as CSV/JSON, no vendor lock-in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Price includes installation, SAT, training for 8 staff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Warranty, PM visits, 2-day support through 31 Mar 2030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Only submitted or formally amended claims count at close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Technical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35%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Lifecycle cost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30%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Delivery &amp; training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20%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Service above minimum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15%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 results across all five bids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Recommendation: select Northstar, the top-scoring bid at S$348,000 ex GST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Peregrine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DA291C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M3: capacity below requirement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Aperture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DA291C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M1/M2: over budget and late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2296621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91.8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S$348,000 ex GST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2156522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86.2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S$391,500 ex GST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203643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81.4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S$422,000 ex GST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0" y="0"/>
            <a:ext cx="1" cy="1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rpor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Fictional procurement workshop</Application>
  <PresentationFormat>Widescreen</PresentationFormat>
  <Slides>5</Slides>
  <Company>Fictional procurement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Encabulation procurement — decision slide template</dc:title>
  <dc:creator>Fictional procurement workshop</dc:creator>
  <cp:lastModifiedBy>Fictional procurement workshop</cp:lastModifiedBy>
  <cp:revision>1</cp:revision>
</cp:coreProperties>
</file>