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r:id="rId9-created" id="256"/>
    <p:sldId r:id="rId10-created" id="257"/>
    <p:sldId r:id="rId11-created" id="25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-created" Type="http://schemas.openxmlformats.org/officeDocument/2006/relationships/slide" Target="slides/slide5.xml"/><Relationship Id="rId10-created" Type="http://schemas.openxmlformats.org/officeDocument/2006/relationships/slide" Target="slides/slide6.xml"/><Relationship Id="rId11-created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51D2-2511-4289-9D0A-4DD21654B9DD}"/>
              </a:ext>
            </a:extLst>
          </p:cNvPr>
          <p:cNvSpPr/>
          <p:nvPr userDrawn="1"/>
        </p:nvSpPr>
        <p:spPr>
          <a:xfrm>
            <a:off x="-21571" y="-35558"/>
            <a:ext cx="4772216" cy="6929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25171BD9-438B-C340-4B6F-52ACC82991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50646" y="0"/>
            <a:ext cx="7441353" cy="6929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 Click icon to insert image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5D1976F4-F620-4E3B-7930-BD424D122A6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AF469-9503-0765-4F71-CA4E54734D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8D21143B-9DB6-0751-9642-862106981A5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</p:spTree>
    <p:extLst>
      <p:ext uri="{BB962C8B-B14F-4D97-AF65-F5344CB8AC3E}">
        <p14:creationId xmlns:p14="http://schemas.microsoft.com/office/powerpoint/2010/main" val="2686363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ara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8F208A4-2027-EB03-FE12-CA123B46CAA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335" y="1203452"/>
            <a:ext cx="10079999" cy="480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170 words</a:t>
            </a:r>
            <a:endParaRPr lang="en-SG" b="0" i="0" dirty="0">
              <a:solidFill>
                <a:srgbClr val="424D61"/>
              </a:solidFill>
              <a:effectLst/>
              <a:latin typeface="Helvetica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0D2D4E9-4EF5-3F09-B66A-05A31EC77F2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8332" y="339452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1 – Paragraph: Open Sans, bold 28pt, left align</a:t>
            </a:r>
            <a:endParaRPr lang="en-US" dirty="0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D1E752A-6C6B-E967-3218-57F6D37E49FB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3E8E0B4-23A5-14AA-B5CE-A8D2917A6C6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F8BDEB36-659E-42FC-4B39-5388CA288EC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</p:spTree>
    <p:extLst>
      <p:ext uri="{BB962C8B-B14F-4D97-AF65-F5344CB8AC3E}">
        <p14:creationId xmlns:p14="http://schemas.microsoft.com/office/powerpoint/2010/main" val="3996674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: 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22C5E3-7B3C-57D5-17CC-6B9183211A8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6" y="336000"/>
            <a:ext cx="10914963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6 – Empty: Open Sans, bold 28pt, left align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62CABB7-54C7-824C-E165-1D2486DBBC5C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9534EE1-3333-96D7-8107-389641F38A5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89855949-E09D-EFBD-550A-46D66B0B87A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</p:spTree>
    <p:extLst>
      <p:ext uri="{BB962C8B-B14F-4D97-AF65-F5344CB8AC3E}">
        <p14:creationId xmlns:p14="http://schemas.microsoft.com/office/powerpoint/2010/main" val="2702799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9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667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cision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 statement, based on verified evidence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54574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6315418" y="1858416"/>
            <a:ext cx="522888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5457482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52809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266581" y="2215032"/>
            <a:ext cx="5457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2921478" y="2215032"/>
            <a:ext cx="31653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266581" y="2516784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2921478" y="2516784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266581" y="2992272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2921478" y="2992272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266581" y="3467760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2921478" y="3467760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266581" y="3943248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2921478" y="3943248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266581" y="4418736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2921478" y="4418736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6315418" y="2187600"/>
            <a:ext cx="5228881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6461722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6461722" y="2544216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6461722" y="2544216"/>
            <a:ext cx="2286937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6461722" y="2699664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6461722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6461722" y="3385464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6461722" y="3385464"/>
            <a:ext cx="1829549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6461722" y="3540912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6461722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6461722" y="4226712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6461722" y="4226712"/>
            <a:ext cx="1372162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6461722" y="4382160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Approval or next action requested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case; not organisational policy or Singapore procurement law.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ate_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 statement, based on verified evidence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676727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7625213" y="1858416"/>
            <a:ext cx="391908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6767277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89483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659519" y="2215032"/>
            <a:ext cx="6767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3471592" y="2215032"/>
            <a:ext cx="3925021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659519" y="2516784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3471592" y="2516784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659519" y="2992272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3471592" y="2992272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659519" y="3467760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3471592" y="3467760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659519" y="3943248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3471592" y="3943248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659519" y="4418736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3471592" y="4418736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7625213" y="2187600"/>
            <a:ext cx="3919086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7771517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7771517" y="2544216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7771517" y="2544216"/>
            <a:ext cx="1501060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7771517" y="2699664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7771517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7771517" y="3385464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7771517" y="3385464"/>
            <a:ext cx="1200848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7771517" y="3540912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7771517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7771517" y="4226712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7771517" y="4226712"/>
            <a:ext cx="900636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7771517" y="4382160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Approval or next action requested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case; not organisational policy or Singapore procurement law.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PROBLEM"/>
          <p:cNvSpPr txBox="1"/>
          <p:nvPr/>
        </p:nvSpPr>
        <p:spPr>
          <a:xfrm>
            <a:off x="628335" y="1075484"/>
            <a:ext cx="10079999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The procurement problem this evaluation must resolve, in one paragraph.</a:t>
            </a:r>
          </a:p>
        </p:txBody>
      </p:sp>
      <p:sp>
        <p:nvSpPr>
          <p:cNvPr id="5" name="GATES_HEADER"/>
          <p:cNvSpPr txBox="1"/>
          <p:nvPr/>
        </p:nvSpPr>
        <p:spPr>
          <a:xfrm>
            <a:off x="628335" y="2145332"/>
            <a:ext cx="605117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GATES (M1–M7)</a:t>
            </a:r>
          </a:p>
        </p:txBody>
      </p:sp>
      <p:sp>
        <p:nvSpPr>
          <p:cNvPr id="6" name="CRITERIA_HEADER"/>
          <p:cNvSpPr txBox="1"/>
          <p:nvPr/>
        </p:nvSpPr>
        <p:spPr>
          <a:xfrm>
            <a:off x="6999550" y="2145332"/>
            <a:ext cx="37087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WEIGHTED SCORING CRITERIA</a:t>
            </a:r>
          </a:p>
        </p:txBody>
      </p:sp>
      <p:sp>
        <p:nvSpPr>
          <p:cNvPr id="7" name="GATE_LINE_1"/>
          <p:cNvSpPr txBox="1"/>
          <p:nvPr/>
        </p:nvSpPr>
        <p:spPr>
          <a:xfrm>
            <a:off x="628335" y="241965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M1: mandatory requirement text</a:t>
            </a:r>
          </a:p>
        </p:txBody>
      </p:sp>
      <p:sp>
        <p:nvSpPr>
          <p:cNvPr id="8" name="GATE_LINE_2"/>
          <p:cNvSpPr txBox="1"/>
          <p:nvPr/>
        </p:nvSpPr>
        <p:spPr>
          <a:xfrm>
            <a:off x="628335" y="280370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M2: mandatory requirement text</a:t>
            </a:r>
          </a:p>
        </p:txBody>
      </p:sp>
      <p:sp>
        <p:nvSpPr>
          <p:cNvPr id="9" name="GATE_LINE_3"/>
          <p:cNvSpPr txBox="1"/>
          <p:nvPr/>
        </p:nvSpPr>
        <p:spPr>
          <a:xfrm>
            <a:off x="628335" y="3187748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M3: mandatory requirement text</a:t>
            </a:r>
          </a:p>
        </p:txBody>
      </p:sp>
      <p:sp>
        <p:nvSpPr>
          <p:cNvPr id="10" name="GATE_LINE_4"/>
          <p:cNvSpPr txBox="1"/>
          <p:nvPr/>
        </p:nvSpPr>
        <p:spPr>
          <a:xfrm>
            <a:off x="628335" y="3571796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M4: mandatory requirement text</a:t>
            </a:r>
          </a:p>
        </p:txBody>
      </p:sp>
      <p:sp>
        <p:nvSpPr>
          <p:cNvPr id="11" name="GATE_LINE_5"/>
          <p:cNvSpPr txBox="1"/>
          <p:nvPr/>
        </p:nvSpPr>
        <p:spPr>
          <a:xfrm>
            <a:off x="628335" y="3955844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M5: mandatory requirement text</a:t>
            </a:r>
          </a:p>
        </p:txBody>
      </p:sp>
      <p:sp>
        <p:nvSpPr>
          <p:cNvPr id="12" name="GATE_LINE_6"/>
          <p:cNvSpPr txBox="1"/>
          <p:nvPr/>
        </p:nvSpPr>
        <p:spPr>
          <a:xfrm>
            <a:off x="628335" y="433989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M6: mandatory requirement text</a:t>
            </a:r>
          </a:p>
        </p:txBody>
      </p:sp>
      <p:sp>
        <p:nvSpPr>
          <p:cNvPr id="13" name="GATE_LINE_7"/>
          <p:cNvSpPr txBox="1"/>
          <p:nvPr/>
        </p:nvSpPr>
        <p:spPr>
          <a:xfrm>
            <a:off x="628335" y="472394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M7: mandatory requirement text</a:t>
            </a:r>
          </a:p>
        </p:txBody>
      </p:sp>
      <p:sp>
        <p:nvSpPr>
          <p:cNvPr id="14" name="CRITERION_ROW_1_BG"/>
          <p:cNvSpPr/>
          <p:nvPr/>
        </p:nvSpPr>
        <p:spPr>
          <a:xfrm>
            <a:off x="6999550" y="2419652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RITERION_NAME_1"/>
          <p:cNvSpPr txBox="1"/>
          <p:nvPr/>
        </p:nvSpPr>
        <p:spPr>
          <a:xfrm>
            <a:off x="7090990" y="2474516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16" name="CRITERION_WEIGHT_1"/>
          <p:cNvSpPr txBox="1"/>
          <p:nvPr/>
        </p:nvSpPr>
        <p:spPr>
          <a:xfrm>
            <a:off x="9595699" y="2474516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7" name="CRITERION_ROW_2_BG"/>
          <p:cNvSpPr/>
          <p:nvPr/>
        </p:nvSpPr>
        <p:spPr>
          <a:xfrm>
            <a:off x="6999550" y="2986580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RITERION_NAME_2"/>
          <p:cNvSpPr txBox="1"/>
          <p:nvPr/>
        </p:nvSpPr>
        <p:spPr>
          <a:xfrm>
            <a:off x="7090990" y="3041444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19" name="CRITERION_WEIGHT_2"/>
          <p:cNvSpPr txBox="1"/>
          <p:nvPr/>
        </p:nvSpPr>
        <p:spPr>
          <a:xfrm>
            <a:off x="9595699" y="3041444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CRITERION_ROW_3_BG"/>
          <p:cNvSpPr/>
          <p:nvPr/>
        </p:nvSpPr>
        <p:spPr>
          <a:xfrm>
            <a:off x="6999550" y="3553508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RITERION_NAME_3"/>
          <p:cNvSpPr txBox="1"/>
          <p:nvPr/>
        </p:nvSpPr>
        <p:spPr>
          <a:xfrm>
            <a:off x="7090990" y="3608372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22" name="CRITERION_WEIGHT_3"/>
          <p:cNvSpPr txBox="1"/>
          <p:nvPr/>
        </p:nvSpPr>
        <p:spPr>
          <a:xfrm>
            <a:off x="9595699" y="3608372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3" name="CRITERION_ROW_4_BG"/>
          <p:cNvSpPr/>
          <p:nvPr/>
        </p:nvSpPr>
        <p:spPr>
          <a:xfrm>
            <a:off x="6999550" y="4120436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RITERION_NAME_4"/>
          <p:cNvSpPr txBox="1"/>
          <p:nvPr/>
        </p:nvSpPr>
        <p:spPr>
          <a:xfrm>
            <a:off x="7090990" y="4175300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25" name="CRITERION_WEIGHT_4"/>
          <p:cNvSpPr txBox="1"/>
          <p:nvPr/>
        </p:nvSpPr>
        <p:spPr>
          <a:xfrm>
            <a:off x="9595699" y="4175300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6" name="SOURCE_NOTES"/>
          <p:cNvSpPr txBox="1"/>
          <p:nvPr/>
        </p:nvSpPr>
        <p:spPr>
          <a:xfrm>
            <a:off x="628335" y="5290868"/>
            <a:ext cx="100799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case; not organisational policy or Singapore procurement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34569" y="1793942"/>
            <a:ext cx="4278917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ARER-300 procurement decision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34569" y="2708342"/>
            <a:ext cx="427891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FFFFFF"/>
                </a:solidFill>
                <a:latin typeface="Open Sans" panose="020B0606030504020204" pitchFamily="34" charset="0"/>
              </a:rPr>
              <a:t>Evaluation Support Agent — working material for verification</a:t>
            </a:r>
          </a:p>
        </p:txBody>
      </p:sp>
      <p:sp>
        <p:nvSpPr>
          <p:cNvPr id="4" name="AUDIENCE"/>
          <p:cNvSpPr txBox="1"/>
          <p:nvPr/>
        </p:nvSpPr>
        <p:spPr>
          <a:xfrm>
            <a:off x="334569" y="1481328"/>
            <a:ext cx="427891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i="0" dirty="0">
                <a:solidFill>
                  <a:srgbClr val="B9C7E6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5" name="SOURCE_NOTES"/>
          <p:cNvSpPr txBox="1"/>
          <p:nvPr/>
        </p:nvSpPr>
        <p:spPr>
          <a:xfrm>
            <a:off x="334569" y="6309360"/>
            <a:ext cx="427891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case; not organisational policy or Singapore procurement law.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ARER-300 evaluation: gates and scoring criteria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Executive Approval Committee</a:t>
            </a:r>
          </a:p>
        </p:txBody>
      </p:sp>
      <p:sp>
        <p:nvSpPr>
          <p:cNvPr id="4" name="PROBLEM"/>
          <p:cNvSpPr txBox="1"/>
          <p:nvPr/>
        </p:nvSpPr>
        <p:spPr>
          <a:xfrm>
            <a:off x="628335" y="1075484"/>
            <a:ext cx="10079999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The ARER-300 tender (RFQ-ARER-26-014) closed 28 Aug 2026 with five bids. Mandatory gates M1-M7 must all pass before any weighted score counts, so the committee needs the eligible leader, not simply the highest raw score.</a:t>
            </a:r>
          </a:p>
        </p:txBody>
      </p:sp>
      <p:sp>
        <p:nvSpPr>
          <p:cNvPr id="5" name="GATES_HEADER"/>
          <p:cNvSpPr txBox="1"/>
          <p:nvPr/>
        </p:nvSpPr>
        <p:spPr>
          <a:xfrm>
            <a:off x="628335" y="2145332"/>
            <a:ext cx="605117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GATES (M1–M7)</a:t>
            </a:r>
          </a:p>
        </p:txBody>
      </p:sp>
      <p:sp>
        <p:nvSpPr>
          <p:cNvPr id="6" name="CRITERIA_HEADER"/>
          <p:cNvSpPr txBox="1"/>
          <p:nvPr/>
        </p:nvSpPr>
        <p:spPr>
          <a:xfrm>
            <a:off x="6999550" y="2145332"/>
            <a:ext cx="37087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WEIGHTED SCORING CRITERIA</a:t>
            </a:r>
          </a:p>
        </p:txBody>
      </p:sp>
      <p:sp>
        <p:nvSpPr>
          <p:cNvPr id="7" name="GATE_LINE_1"/>
          <p:cNvSpPr txBox="1"/>
          <p:nvPr/>
        </p:nvSpPr>
        <p:spPr>
          <a:xfrm>
            <a:off x="628335" y="241965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M1: Total evaluated price no more than S$450,000 ex GST</a:t>
            </a:r>
          </a:p>
        </p:txBody>
      </p:sp>
      <p:sp>
        <p:nvSpPr>
          <p:cNvPr id="8" name="GATE_LINE_2"/>
          <p:cNvSpPr txBox="1"/>
          <p:nvPr/>
        </p:nvSpPr>
        <p:spPr>
          <a:xfrm>
            <a:off x="628335" y="280370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M2: Site Acceptance Test complete by 31 Jan 2027</a:t>
            </a:r>
          </a:p>
        </p:txBody>
      </p:sp>
      <p:sp>
        <p:nvSpPr>
          <p:cNvPr id="9" name="GATE_LINE_3"/>
          <p:cNvSpPr txBox="1"/>
          <p:nvPr/>
        </p:nvSpPr>
        <p:spPr>
          <a:xfrm>
            <a:off x="628335" y="3187748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M3: At least 48 specimens per run, full ranges</a:t>
            </a:r>
          </a:p>
        </p:txBody>
      </p:sp>
      <p:sp>
        <p:nvSpPr>
          <p:cNvPr id="10" name="GATE_LINE_4"/>
          <p:cNvSpPr txBox="1"/>
          <p:nvPr/>
        </p:nvSpPr>
        <p:spPr>
          <a:xfrm>
            <a:off x="628335" y="3571796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M4: Raw data exports as CSV/JSON, no vendor lock-in</a:t>
            </a:r>
          </a:p>
        </p:txBody>
      </p:sp>
      <p:sp>
        <p:nvSpPr>
          <p:cNvPr id="11" name="GATE_LINE_5"/>
          <p:cNvSpPr txBox="1"/>
          <p:nvPr/>
        </p:nvSpPr>
        <p:spPr>
          <a:xfrm>
            <a:off x="628335" y="3955844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M5: Price includes installation, SAT, training for 8 staff</a:t>
            </a:r>
          </a:p>
        </p:txBody>
      </p:sp>
      <p:sp>
        <p:nvSpPr>
          <p:cNvPr id="12" name="GATE_LINE_6"/>
          <p:cNvSpPr txBox="1"/>
          <p:nvPr/>
        </p:nvSpPr>
        <p:spPr>
          <a:xfrm>
            <a:off x="628335" y="433989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M6: Warranty, PM visits, 2-day support through 31 Mar 2030</a:t>
            </a:r>
          </a:p>
        </p:txBody>
      </p:sp>
      <p:sp>
        <p:nvSpPr>
          <p:cNvPr id="13" name="GATE_LINE_7"/>
          <p:cNvSpPr txBox="1"/>
          <p:nvPr/>
        </p:nvSpPr>
        <p:spPr>
          <a:xfrm>
            <a:off x="628335" y="472394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M7: Only submitted or formally amended claims count at close</a:t>
            </a:r>
          </a:p>
        </p:txBody>
      </p:sp>
      <p:sp>
        <p:nvSpPr>
          <p:cNvPr id="14" name="CRITERION_ROW_1_BG"/>
          <p:cNvSpPr/>
          <p:nvPr/>
        </p:nvSpPr>
        <p:spPr>
          <a:xfrm>
            <a:off x="6999550" y="2419652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RITERION_NAME_1"/>
          <p:cNvSpPr txBox="1"/>
          <p:nvPr/>
        </p:nvSpPr>
        <p:spPr>
          <a:xfrm>
            <a:off x="7090990" y="2474516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Technical</a:t>
            </a:r>
          </a:p>
        </p:txBody>
      </p:sp>
      <p:sp>
        <p:nvSpPr>
          <p:cNvPr id="16" name="CRITERION_WEIGHT_1"/>
          <p:cNvSpPr txBox="1"/>
          <p:nvPr/>
        </p:nvSpPr>
        <p:spPr>
          <a:xfrm>
            <a:off x="9595699" y="2474516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35%</a:t>
            </a:r>
          </a:p>
        </p:txBody>
      </p:sp>
      <p:sp>
        <p:nvSpPr>
          <p:cNvPr id="17" name="CRITERION_ROW_2_BG"/>
          <p:cNvSpPr/>
          <p:nvPr/>
        </p:nvSpPr>
        <p:spPr>
          <a:xfrm>
            <a:off x="6999550" y="2986580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RITERION_NAME_2"/>
          <p:cNvSpPr txBox="1"/>
          <p:nvPr/>
        </p:nvSpPr>
        <p:spPr>
          <a:xfrm>
            <a:off x="7090990" y="3041444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Lifecycle cost</a:t>
            </a:r>
          </a:p>
        </p:txBody>
      </p:sp>
      <p:sp>
        <p:nvSpPr>
          <p:cNvPr id="19" name="CRITERION_WEIGHT_2"/>
          <p:cNvSpPr txBox="1"/>
          <p:nvPr/>
        </p:nvSpPr>
        <p:spPr>
          <a:xfrm>
            <a:off x="9595699" y="3041444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30%</a:t>
            </a:r>
          </a:p>
        </p:txBody>
      </p:sp>
      <p:sp>
        <p:nvSpPr>
          <p:cNvPr id="20" name="CRITERION_ROW_3_BG"/>
          <p:cNvSpPr/>
          <p:nvPr/>
        </p:nvSpPr>
        <p:spPr>
          <a:xfrm>
            <a:off x="6999550" y="3553508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RITERION_NAME_3"/>
          <p:cNvSpPr txBox="1"/>
          <p:nvPr/>
        </p:nvSpPr>
        <p:spPr>
          <a:xfrm>
            <a:off x="7090990" y="3608372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Delivery &amp; training</a:t>
            </a:r>
          </a:p>
        </p:txBody>
      </p:sp>
      <p:sp>
        <p:nvSpPr>
          <p:cNvPr id="22" name="CRITERION_WEIGHT_3"/>
          <p:cNvSpPr txBox="1"/>
          <p:nvPr/>
        </p:nvSpPr>
        <p:spPr>
          <a:xfrm>
            <a:off x="9595699" y="3608372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20%</a:t>
            </a:r>
          </a:p>
        </p:txBody>
      </p:sp>
      <p:sp>
        <p:nvSpPr>
          <p:cNvPr id="23" name="CRITERION_ROW_4_BG"/>
          <p:cNvSpPr/>
          <p:nvPr/>
        </p:nvSpPr>
        <p:spPr>
          <a:xfrm>
            <a:off x="6999550" y="4120436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RITERION_NAME_4"/>
          <p:cNvSpPr txBox="1"/>
          <p:nvPr/>
        </p:nvSpPr>
        <p:spPr>
          <a:xfrm>
            <a:off x="7090990" y="4175300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Service above minimum</a:t>
            </a:r>
          </a:p>
        </p:txBody>
      </p:sp>
      <p:sp>
        <p:nvSpPr>
          <p:cNvPr id="25" name="CRITERION_WEIGHT_4"/>
          <p:cNvSpPr txBox="1"/>
          <p:nvPr/>
        </p:nvSpPr>
        <p:spPr>
          <a:xfrm>
            <a:off x="9595699" y="4175300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15%</a:t>
            </a:r>
          </a:p>
        </p:txBody>
      </p:sp>
      <p:sp>
        <p:nvSpPr>
          <p:cNvPr id="26" name="SOURCE_NOTES"/>
          <p:cNvSpPr txBox="1"/>
          <p:nvPr/>
        </p:nvSpPr>
        <p:spPr>
          <a:xfrm>
            <a:off x="628335" y="5290868"/>
            <a:ext cx="100799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RFQ-002 M1-M7; NST-005 service term; EMAIL-002 service clarification thread; EVAL-001 summary scores; EVAL-002 proposal comparison. Fictional training case; not organisational policy or Singapore procurement law.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ate_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gate results across all five bids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Executive Approval Committee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Three of five bids pass all seven mandatory gates; two fail and are dismissed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676727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7625213" y="1858416"/>
            <a:ext cx="391908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6767277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89483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659519" y="2215032"/>
            <a:ext cx="6767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3471592" y="2215032"/>
            <a:ext cx="3925021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Northstar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659519" y="2516784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3471592" y="2516784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Meridian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659519" y="2992272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3471592" y="2992272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Helix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659519" y="3467760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3471592" y="3467760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Peregrine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659519" y="3943248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FAIL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3471592" y="3943248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M3: capacity below requirement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Aperture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659519" y="4418736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FAIL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3471592" y="4418736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M1/M2: over budget and late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7625213" y="2187600"/>
            <a:ext cx="3919086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7771517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Northstar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7771517" y="2544216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7771517" y="2544216"/>
            <a:ext cx="2296621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91.8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7771517" y="2699664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S$348,000 ex GST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7771517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Meridian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7771517" y="3385464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7771517" y="3385464"/>
            <a:ext cx="2156522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86.2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7771517" y="3540912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S$391,500 ex GST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7771517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Helix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7771517" y="4226712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7771517" y="4226712"/>
            <a:ext cx="2036438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81.4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7771517" y="4382160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S$422,000 ex GST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Score only the three compliant bids before recommending an award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RFQ-002 M1-M7; NST-005 service term; EMAIL-002 service clarification thread; EVAL-001 summary scores; EVAL-002 proposal comparison. Fictional training case; not organisational policy or Singapore procurement law.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cision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Select Northstar for the ARER-300 platform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Executive Approval Committee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Northstar leads the evaluation and meets all gates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54574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6315418" y="1858416"/>
            <a:ext cx="522888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5457482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52809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266581" y="2215032"/>
            <a:ext cx="5457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2921478" y="2215032"/>
            <a:ext cx="31653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Northstar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266581" y="2516784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2921478" y="2516784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Meridian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266581" y="2992272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2921478" y="2992272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Helix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266581" y="3467760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2921478" y="3467760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/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266581" y="3943248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/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2921478" y="3943248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/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/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266581" y="4418736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/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2921478" y="4418736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/>
            </a:r>
          </a:p>
        </p:txBody>
      </p:sp>
      <p:sp>
        <p:nvSpPr>
          <p:cNvPr id="33" name="COMPARISON_BG"/>
          <p:cNvSpPr/>
          <p:nvPr/>
        </p:nvSpPr>
        <p:spPr>
          <a:xfrm>
            <a:off x="6315418" y="2187600"/>
            <a:ext cx="5228881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6461722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Northstar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6461722" y="2544216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6461722" y="2544216"/>
            <a:ext cx="3499013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91.8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6461722" y="2699664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S$348,000 ex GST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6461722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Meridian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6461722" y="3385464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6461722" y="3385464"/>
            <a:ext cx="3285566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86.2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6461722" y="3540912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S$391,500 ex GST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6461722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Helix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6461722" y="4226712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6461722" y="4226712"/>
            <a:ext cx="3102611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81.4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6461722" y="4382160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S$422,000 ex GST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Approve Northstar at S$348,000 ex GST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RFQ-002 M1-M7; NST-005 service term; EMAIL-002 service clarification thread; EVAL-001 summary scores; EVAL-002 proposal comparison. Fictional training case; not organisational policy or Singapore procurement law.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A*STA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087"/>
      </a:accent1>
      <a:accent2>
        <a:srgbClr val="DA291C"/>
      </a:accent2>
      <a:accent3>
        <a:srgbClr val="FF6720"/>
      </a:accent3>
      <a:accent4>
        <a:srgbClr val="5C068C"/>
      </a:accent4>
      <a:accent5>
        <a:srgbClr val="003087"/>
      </a:accent5>
      <a:accent6>
        <a:srgbClr val="003087"/>
      </a:accent6>
      <a:hlink>
        <a:srgbClr val="003087"/>
      </a:hlink>
      <a:folHlink>
        <a:srgbClr val="003087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TAR Masterbrand Powerpoint Templates 29Nov (Final) (002).potx  -  Read-Only" id="{6BB1E9B8-0CCE-4BA2-95C2-7F4268638456}" vid="{881FA3DF-12EC-4A18-A267-751C4D7C11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Fictional procurement workshop</Application>
  <PresentationFormat>Widescreen</PresentationFormat>
  <Slides>4</Slides>
  <Company>Fictional procurement workshop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Encabulation procurement — decision slide template</dc:title>
  <dc:creator>Fictional procurement workshop</dc:creator>
  <cp:lastModifiedBy>Fictional procurement workshop</cp:lastModifiedBy>
  <cp:revision>1</cp:revision>
</cp:coreProperties>
</file>