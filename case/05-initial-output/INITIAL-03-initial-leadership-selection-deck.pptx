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r:id="rId10-created" id="256"/>
    <p:sldId r:id="rId11-created" id="257"/>
    <p:sldId r:id="rId12-created" id="25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8"/>
  </p:normalViewPr>
  <p:slideViewPr>
    <p:cSldViewPr snapToGrid="0">
      <p:cViewPr varScale="1">
        <p:scale>
          <a:sx n="57" d="100"/>
          <a:sy n="57" d="100"/>
        </p:scale>
        <p:origin x="9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-created" Type="http://schemas.openxmlformats.org/officeDocument/2006/relationships/slide" Target="slides/slide6.xml"/><Relationship Id="rId11-created" Type="http://schemas.openxmlformats.org/officeDocument/2006/relationships/slide" Target="slides/slide7.xml"/><Relationship Id="rId12-created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8251D2-2511-4289-9D0A-4DD21654B9DD}"/>
              </a:ext>
            </a:extLst>
          </p:cNvPr>
          <p:cNvSpPr/>
          <p:nvPr userDrawn="1"/>
        </p:nvSpPr>
        <p:spPr>
          <a:xfrm>
            <a:off x="-21571" y="-35558"/>
            <a:ext cx="4772216" cy="69291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240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25171BD9-438B-C340-4B6F-52ACC829911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50646" y="0"/>
            <a:ext cx="7441353" cy="69291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0" tIns="0" rIns="0" bIns="90000">
            <a:norm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333" b="0" baseline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dirty="0"/>
              <a:t> Click icon to insert image</a:t>
            </a:r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5D1976F4-F620-4E3B-7930-BD424D122A61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334569" y="5682895"/>
            <a:ext cx="3434439" cy="984885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457189" indent="0">
              <a:buNone/>
              <a:defRPr>
                <a:solidFill>
                  <a:schemeClr val="bg1"/>
                </a:solidFill>
              </a:defRPr>
            </a:lvl2pPr>
            <a:lvl3pPr marL="914377" indent="0">
              <a:buNone/>
              <a:defRPr>
                <a:solidFill>
                  <a:schemeClr val="bg1"/>
                </a:solidFill>
              </a:defRPr>
            </a:lvl3pPr>
            <a:lvl4pPr marL="1371566" indent="0">
              <a:buNone/>
              <a:defRPr>
                <a:solidFill>
                  <a:schemeClr val="bg1"/>
                </a:solidFill>
              </a:defRPr>
            </a:lvl4pPr>
            <a:lvl5pPr marL="1828754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 of presenter </a:t>
            </a:r>
            <a:r>
              <a:rPr lang="en-US" sz="1600" b="0" dirty="0">
                <a:solidFill>
                  <a:schemeClr val="bg1"/>
                </a:solidFill>
                <a:latin typeface="Open Sans 2"/>
                <a:ea typeface="Open Sans 2"/>
                <a:cs typeface="Open Sans 2"/>
                <a:sym typeface="Open Sans 2"/>
              </a:rPr>
              <a:t>Designation(s)/Department(s)      Date                     (Security/Sensitivity) Classification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AF469-9503-0765-4F71-CA4E54734D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4569" y="1793942"/>
            <a:ext cx="4059936" cy="229780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733" b="1" i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Title: First Line,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Second Line,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Open Sans Bold,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36pt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8D21143B-9DB6-0751-9642-862106981A53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335416" y="4237561"/>
            <a:ext cx="4059767" cy="738664"/>
          </a:xfr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lang="en-GB" dirty="0"/>
              <a:t>Sub-title: Open Sans, regular, 24pt, left align</a:t>
            </a:r>
          </a:p>
        </p:txBody>
      </p:sp>
    </p:spTree>
    <p:extLst>
      <p:ext uri="{BB962C8B-B14F-4D97-AF65-F5344CB8AC3E}">
        <p14:creationId xmlns:p14="http://schemas.microsoft.com/office/powerpoint/2010/main" val="26863632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aragrap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8F208A4-2027-EB03-FE12-CA123B46CAA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335" y="1203452"/>
            <a:ext cx="10079999" cy="480000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200"/>
              </a:spcBef>
              <a:buNone/>
              <a:defRPr lang="en-SG" sz="2000" b="0" i="0" smtClean="0">
                <a:effectLst/>
              </a:defRPr>
            </a:lvl1pPr>
          </a:lstStyle>
          <a:p>
            <a:r>
              <a:rPr lang="en-SG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Paragraph: Open Sans, regular 20pt, left align, maximum 170 words</a:t>
            </a:r>
            <a:endParaRPr lang="en-SG" b="0" i="0" dirty="0">
              <a:solidFill>
                <a:srgbClr val="424D61"/>
              </a:solidFill>
              <a:effectLst/>
              <a:latin typeface="Helvetica" pitchFamily="2" charset="0"/>
            </a:endParaRP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D0D2D4E9-4EF5-3F09-B66A-05A31EC77F2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28332" y="339452"/>
            <a:ext cx="10080000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1 – Paragraph: Open Sans, bold 28pt, left align</a:t>
            </a:r>
            <a:endParaRPr lang="en-US" dirty="0"/>
          </a:p>
        </p:txBody>
      </p:sp>
      <p:sp>
        <p:nvSpPr>
          <p:cNvPr id="2" name="Slide Number Placeholder 8">
            <a:extLst>
              <a:ext uri="{FF2B5EF4-FFF2-40B4-BE49-F238E27FC236}">
                <a16:creationId xmlns:a16="http://schemas.microsoft.com/office/drawing/2014/main" id="{5D1E752A-6C6B-E967-3218-57F6D37E49FB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3E8E0B4-23A5-14AA-B5CE-A8D2917A6C62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F8BDEB36-659E-42FC-4B39-5388CA288EC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3996674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: 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22C5E3-7B3C-57D5-17CC-6B9183211A8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629336" y="336000"/>
            <a:ext cx="10914963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6 – Empty: Open Sans, bold 28pt, left align</a:t>
            </a:r>
            <a:endParaRPr lang="en-US" dirty="0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162CABB7-54C7-824C-E165-1D2486DBBC5C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49534EE1-3333-96D7-8107-389641F38A5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89855949-E09D-EFBD-550A-46D66B0B87A1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270279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99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667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2286937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1829549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1372162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1501060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120084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900636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procurement problem this evaluation must resolve, in one paragraph.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mandatory requirement text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mandatory requirement text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mandatory requirement text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mandatory requirement text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mandatory requirement text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mandatory requirement text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mandatory requirement text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34569" y="1793942"/>
            <a:ext cx="4278917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ARER-300 procurement decision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34569" y="2708342"/>
            <a:ext cx="427891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FFFFFF"/>
                </a:solidFill>
                <a:latin typeface="Open Sans" panose="020B0606030504020204" pitchFamily="34" charset="0"/>
              </a:rPr>
              <a:t>Evaluation Support Agent — working material for verification</a:t>
            </a:r>
          </a:p>
        </p:txBody>
      </p:sp>
      <p:sp>
        <p:nvSpPr>
          <p:cNvPr id="4" name="AUDIENCE"/>
          <p:cNvSpPr txBox="1"/>
          <p:nvPr/>
        </p:nvSpPr>
        <p:spPr>
          <a:xfrm>
            <a:off x="334569" y="1481328"/>
            <a:ext cx="427891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B9C7E6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5" name="SOURCE_NOTES"/>
          <p:cNvSpPr txBox="1"/>
          <p:nvPr/>
        </p:nvSpPr>
        <p:spPr>
          <a:xfrm>
            <a:off x="334569" y="6309360"/>
            <a:ext cx="4278917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SUMMARY"/>
          <p:cNvSpPr txBox="1"/>
          <p:nvPr/>
        </p:nvSpPr>
        <p:spPr>
          <a:xfrm>
            <a:off x="628335" y="1185212"/>
            <a:ext cx="10079999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What is being procured, in plain language.</a:t>
            </a:r>
          </a:p>
        </p:txBody>
      </p:sp>
      <p:sp>
        <p:nvSpPr>
          <p:cNvPr id="5" name="FACT_CARD_1"/>
          <p:cNvSpPr/>
          <p:nvPr/>
        </p:nvSpPr>
        <p:spPr>
          <a:xfrm>
            <a:off x="628335" y="2693972"/>
            <a:ext cx="2348550" cy="14630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FACT_ACCENT_1"/>
          <p:cNvSpPr/>
          <p:nvPr/>
        </p:nvSpPr>
        <p:spPr>
          <a:xfrm>
            <a:off x="628335" y="2693972"/>
            <a:ext cx="2348550" cy="7315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FACT_LABEL_1"/>
          <p:cNvSpPr txBox="1"/>
          <p:nvPr/>
        </p:nvSpPr>
        <p:spPr>
          <a:xfrm>
            <a:off x="792927" y="2922572"/>
            <a:ext cx="201936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Fact label</a:t>
            </a:r>
          </a:p>
        </p:txBody>
      </p:sp>
      <p:sp>
        <p:nvSpPr>
          <p:cNvPr id="8" name="FACT_VALUE_1"/>
          <p:cNvSpPr txBox="1"/>
          <p:nvPr/>
        </p:nvSpPr>
        <p:spPr>
          <a:xfrm>
            <a:off x="792927" y="3260900"/>
            <a:ext cx="201936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Headline value</a:t>
            </a:r>
          </a:p>
        </p:txBody>
      </p:sp>
      <p:sp>
        <p:nvSpPr>
          <p:cNvPr id="9" name="FACT_CARD_2"/>
          <p:cNvSpPr/>
          <p:nvPr/>
        </p:nvSpPr>
        <p:spPr>
          <a:xfrm>
            <a:off x="3205485" y="2693972"/>
            <a:ext cx="2348550" cy="14630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FACT_ACCENT_2"/>
          <p:cNvSpPr/>
          <p:nvPr/>
        </p:nvSpPr>
        <p:spPr>
          <a:xfrm>
            <a:off x="3205485" y="2693972"/>
            <a:ext cx="2348550" cy="7315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FACT_LABEL_2"/>
          <p:cNvSpPr txBox="1"/>
          <p:nvPr/>
        </p:nvSpPr>
        <p:spPr>
          <a:xfrm>
            <a:off x="3370077" y="2922572"/>
            <a:ext cx="201936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Fact label</a:t>
            </a:r>
          </a:p>
        </p:txBody>
      </p:sp>
      <p:sp>
        <p:nvSpPr>
          <p:cNvPr id="12" name="FACT_VALUE_2"/>
          <p:cNvSpPr txBox="1"/>
          <p:nvPr/>
        </p:nvSpPr>
        <p:spPr>
          <a:xfrm>
            <a:off x="3370077" y="3260900"/>
            <a:ext cx="201936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Headline value</a:t>
            </a:r>
          </a:p>
        </p:txBody>
      </p:sp>
      <p:sp>
        <p:nvSpPr>
          <p:cNvPr id="13" name="FACT_CARD_3"/>
          <p:cNvSpPr/>
          <p:nvPr/>
        </p:nvSpPr>
        <p:spPr>
          <a:xfrm>
            <a:off x="5782635" y="2693972"/>
            <a:ext cx="2348550" cy="14630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FACT_ACCENT_3"/>
          <p:cNvSpPr/>
          <p:nvPr/>
        </p:nvSpPr>
        <p:spPr>
          <a:xfrm>
            <a:off x="5782635" y="2693972"/>
            <a:ext cx="2348550" cy="7315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FACT_LABEL_3"/>
          <p:cNvSpPr txBox="1"/>
          <p:nvPr/>
        </p:nvSpPr>
        <p:spPr>
          <a:xfrm>
            <a:off x="5947227" y="2922572"/>
            <a:ext cx="201936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Fact label</a:t>
            </a:r>
          </a:p>
        </p:txBody>
      </p:sp>
      <p:sp>
        <p:nvSpPr>
          <p:cNvPr id="16" name="FACT_VALUE_3"/>
          <p:cNvSpPr txBox="1"/>
          <p:nvPr/>
        </p:nvSpPr>
        <p:spPr>
          <a:xfrm>
            <a:off x="5947227" y="3260900"/>
            <a:ext cx="201936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Headline value</a:t>
            </a:r>
          </a:p>
        </p:txBody>
      </p:sp>
      <p:sp>
        <p:nvSpPr>
          <p:cNvPr id="17" name="FACT_CARD_4"/>
          <p:cNvSpPr/>
          <p:nvPr/>
        </p:nvSpPr>
        <p:spPr>
          <a:xfrm>
            <a:off x="8359784" y="2693972"/>
            <a:ext cx="2348550" cy="14630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FACT_ACCENT_4"/>
          <p:cNvSpPr/>
          <p:nvPr/>
        </p:nvSpPr>
        <p:spPr>
          <a:xfrm>
            <a:off x="8359784" y="2693972"/>
            <a:ext cx="2348550" cy="7315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FACT_LABEL_4"/>
          <p:cNvSpPr txBox="1"/>
          <p:nvPr/>
        </p:nvSpPr>
        <p:spPr>
          <a:xfrm>
            <a:off x="8524376" y="2922572"/>
            <a:ext cx="201936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Fact label</a:t>
            </a:r>
          </a:p>
        </p:txBody>
      </p:sp>
      <p:sp>
        <p:nvSpPr>
          <p:cNvPr id="20" name="FACT_VALUE_4"/>
          <p:cNvSpPr txBox="1"/>
          <p:nvPr/>
        </p:nvSpPr>
        <p:spPr>
          <a:xfrm>
            <a:off x="8524376" y="3260900"/>
            <a:ext cx="201936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Headline value</a:t>
            </a:r>
          </a:p>
        </p:txBody>
      </p:sp>
      <p:sp>
        <p:nvSpPr>
          <p:cNvPr id="21" name="SOURCE_NOTES"/>
          <p:cNvSpPr txBox="1"/>
          <p:nvPr/>
        </p:nvSpPr>
        <p:spPr>
          <a:xfrm>
            <a:off x="628335" y="4522772"/>
            <a:ext cx="1007999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What we are buying: the ARER-300 test platform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SUMMARY"/>
          <p:cNvSpPr txBox="1"/>
          <p:nvPr/>
        </p:nvSpPr>
        <p:spPr>
          <a:xfrm>
            <a:off x="628335" y="1185212"/>
            <a:ext cx="10079999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A reliability test chamber that stresses many specimens at once with heat, mechanical load and electrical bias, and records when and how each one fails.</a:t>
            </a:r>
          </a:p>
        </p:txBody>
      </p:sp>
      <p:sp>
        <p:nvSpPr>
          <p:cNvPr id="5" name="FACT_CARD_1"/>
          <p:cNvSpPr/>
          <p:nvPr/>
        </p:nvSpPr>
        <p:spPr>
          <a:xfrm>
            <a:off x="628335" y="2693972"/>
            <a:ext cx="2348550" cy="14630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FACT_ACCENT_1"/>
          <p:cNvSpPr/>
          <p:nvPr/>
        </p:nvSpPr>
        <p:spPr>
          <a:xfrm>
            <a:off x="628335" y="2693972"/>
            <a:ext cx="2348550" cy="7315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FACT_LABEL_1"/>
          <p:cNvSpPr txBox="1"/>
          <p:nvPr/>
        </p:nvSpPr>
        <p:spPr>
          <a:xfrm>
            <a:off x="792927" y="2922572"/>
            <a:ext cx="201936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Capacity</a:t>
            </a:r>
          </a:p>
        </p:txBody>
      </p:sp>
      <p:sp>
        <p:nvSpPr>
          <p:cNvPr id="8" name="FACT_VALUE_1"/>
          <p:cNvSpPr txBox="1"/>
          <p:nvPr/>
        </p:nvSpPr>
        <p:spPr>
          <a:xfrm>
            <a:off x="792927" y="3260900"/>
            <a:ext cx="201936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48 specimens in one run</a:t>
            </a:r>
          </a:p>
        </p:txBody>
      </p:sp>
      <p:sp>
        <p:nvSpPr>
          <p:cNvPr id="9" name="FACT_CARD_2"/>
          <p:cNvSpPr/>
          <p:nvPr/>
        </p:nvSpPr>
        <p:spPr>
          <a:xfrm>
            <a:off x="3205485" y="2693972"/>
            <a:ext cx="2348550" cy="14630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FACT_ACCENT_2"/>
          <p:cNvSpPr/>
          <p:nvPr/>
        </p:nvSpPr>
        <p:spPr>
          <a:xfrm>
            <a:off x="3205485" y="2693972"/>
            <a:ext cx="2348550" cy="7315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FACT_LABEL_2"/>
          <p:cNvSpPr txBox="1"/>
          <p:nvPr/>
        </p:nvSpPr>
        <p:spPr>
          <a:xfrm>
            <a:off x="3370077" y="2922572"/>
            <a:ext cx="201936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Stress ranges</a:t>
            </a:r>
          </a:p>
        </p:txBody>
      </p:sp>
      <p:sp>
        <p:nvSpPr>
          <p:cNvPr id="12" name="FACT_VALUE_2"/>
          <p:cNvSpPr txBox="1"/>
          <p:nvPr/>
        </p:nvSpPr>
        <p:spPr>
          <a:xfrm>
            <a:off x="3370077" y="3260900"/>
            <a:ext cx="201936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−40 to 125 °C, 500 N, 24 V</a:t>
            </a:r>
          </a:p>
        </p:txBody>
      </p:sp>
      <p:sp>
        <p:nvSpPr>
          <p:cNvPr id="13" name="FACT_CARD_3"/>
          <p:cNvSpPr/>
          <p:nvPr/>
        </p:nvSpPr>
        <p:spPr>
          <a:xfrm>
            <a:off x="5782635" y="2693972"/>
            <a:ext cx="2348550" cy="14630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FACT_ACCENT_3"/>
          <p:cNvSpPr/>
          <p:nvPr/>
        </p:nvSpPr>
        <p:spPr>
          <a:xfrm>
            <a:off x="5782635" y="2693972"/>
            <a:ext cx="2348550" cy="7315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FACT_LABEL_3"/>
          <p:cNvSpPr txBox="1"/>
          <p:nvPr/>
        </p:nvSpPr>
        <p:spPr>
          <a:xfrm>
            <a:off x="5947227" y="2922572"/>
            <a:ext cx="201936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Budget ceiling</a:t>
            </a:r>
          </a:p>
        </p:txBody>
      </p:sp>
      <p:sp>
        <p:nvSpPr>
          <p:cNvPr id="16" name="FACT_VALUE_3"/>
          <p:cNvSpPr txBox="1"/>
          <p:nvPr/>
        </p:nvSpPr>
        <p:spPr>
          <a:xfrm>
            <a:off x="5947227" y="3260900"/>
            <a:ext cx="201936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S$450,000 ex GST</a:t>
            </a:r>
          </a:p>
        </p:txBody>
      </p:sp>
      <p:sp>
        <p:nvSpPr>
          <p:cNvPr id="17" name="FACT_CARD_4"/>
          <p:cNvSpPr/>
          <p:nvPr/>
        </p:nvSpPr>
        <p:spPr>
          <a:xfrm>
            <a:off x="8359784" y="2693972"/>
            <a:ext cx="2348550" cy="14630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FACT_ACCENT_4"/>
          <p:cNvSpPr/>
          <p:nvPr/>
        </p:nvSpPr>
        <p:spPr>
          <a:xfrm>
            <a:off x="8359784" y="2693972"/>
            <a:ext cx="2348550" cy="7315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FACT_LABEL_4"/>
          <p:cNvSpPr txBox="1"/>
          <p:nvPr/>
        </p:nvSpPr>
        <p:spPr>
          <a:xfrm>
            <a:off x="8524376" y="2922572"/>
            <a:ext cx="201936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In service</a:t>
            </a:r>
          </a:p>
        </p:txBody>
      </p:sp>
      <p:sp>
        <p:nvSpPr>
          <p:cNvPr id="20" name="FACT_VALUE_4"/>
          <p:cNvSpPr txBox="1"/>
          <p:nvPr/>
        </p:nvSpPr>
        <p:spPr>
          <a:xfrm>
            <a:off x="8524376" y="3260900"/>
            <a:ext cx="201936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Jan 2027 to Mar 2030</a:t>
            </a:r>
          </a:p>
        </p:txBody>
      </p:sp>
      <p:sp>
        <p:nvSpPr>
          <p:cNvPr id="21" name="SOURCE_NOTES"/>
          <p:cNvSpPr txBox="1"/>
          <p:nvPr/>
        </p:nvSpPr>
        <p:spPr>
          <a:xfrm>
            <a:off x="628335" y="4522772"/>
            <a:ext cx="1007999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N/A. Fictional training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ARER-300 evaluation: gates and scoring criteria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ARER-300 tender (RFQ-ARER-26-014) closed 28 Aug 2026 with five bids.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Total evaluated price no more than S$450,000 ex GST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Site Acceptance Test complete by 31 Jan 2027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At least 48 specimens per run, full ranges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Raw data exports as CSV/JSON, no vendor lock-in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Price includes installation, SAT, training for 8 staff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Warranty, PM visits, 2-day support through 31 Mar 2030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Only submitted or formally amended claims count at close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Technical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35%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Lifecycle cost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30%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Delivery &amp; training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20%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Service above minimum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15%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N/A. Fictional training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 results across all five bids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Recommendation: select Northstar, the top-scoring bid at S$348,000 ex GST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E8449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E8449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E8449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Peregrine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DA291C"/>
                </a:solidFill>
                <a:latin typeface="Open Sans" panose="020B0606030504020204" pitchFamily="34" charset="0"/>
              </a:rPr>
              <a:t>FAIL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M3: capacity below requirement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Aperture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DA291C"/>
                </a:solidFill>
                <a:latin typeface="Open Sans" panose="020B0606030504020204" pitchFamily="34" charset="0"/>
              </a:rPr>
              <a:t>FAIL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M1/M2: over budget and late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2296621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91.8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S$348,000 ex GST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2156522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86.2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S$391,500 ex GST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203643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3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81.4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S$422,000 ex GST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0" y="0"/>
            <a:ext cx="1" cy="1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N/A. Fictional training case.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orpora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3087"/>
      </a:accent1>
      <a:accent2>
        <a:srgbClr val="DA291C"/>
      </a:accent2>
      <a:accent3>
        <a:srgbClr val="FF6720"/>
      </a:accent3>
      <a:accent4>
        <a:srgbClr val="5C068C"/>
      </a:accent4>
      <a:accent5>
        <a:srgbClr val="003087"/>
      </a:accent5>
      <a:accent6>
        <a:srgbClr val="003087"/>
      </a:accent6>
      <a:hlink>
        <a:srgbClr val="003087"/>
      </a:hlink>
      <a:folHlink>
        <a:srgbClr val="003087"/>
      </a:folHlink>
    </a:clrScheme>
    <a:fontScheme name="Custom 1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TAR Masterbrand Powerpoint Templates 29Nov (Final) (002).potx  -  Read-Only" id="{6BB1E9B8-0CCE-4BA2-95C2-7F4268638456}" vid="{881FA3DF-12EC-4A18-A267-751C4D7C11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Fictional procurement workshop</Application>
  <PresentationFormat>Widescreen</PresentationFormat>
  <Slides>5</Slides>
  <Company>Fictional procurement 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Encabulation procurement — decision slide template</dc:title>
  <dc:creator>Fictional procurement workshop</dc:creator>
  <cp:lastModifiedBy>Fictional procurement workshop</cp:lastModifiedBy>
  <cp:revision>1</cp:revision>
</cp:coreProperties>
</file>