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Default Extension="emf" ContentType="image/x-emf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60" r:id="rId1"/>
  </p:sldMasterIdLst>
  <p:sldIdLst>
    <p:sldId r:id="rId9-created" id="256"/>
    <p:sldId r:id="rId10-created" id="257"/>
    <p:sldId r:id="rId11-created" id="258"/>
  </p:sldIdLst>
  <p:sldSz cx="12192000" cy="6858000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48"/>
  </p:normalViewPr>
  <p:slideViewPr>
    <p:cSldViewPr snapToGrid="0">
      <p:cViewPr varScale="1">
        <p:scale>
          <a:sx n="57" d="100"/>
          <a:sy n="57" d="100"/>
        </p:scale>
        <p:origin x="948" y="3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ableStyles" Target="tableStyles.xml"/><Relationship Id="rId9-created" Type="http://schemas.openxmlformats.org/officeDocument/2006/relationships/slide" Target="slides/slide5.xml"/><Relationship Id="rId10-created" Type="http://schemas.openxmlformats.org/officeDocument/2006/relationships/slide" Target="slides/slide6.xml"/><Relationship Id="rId11-created" Type="http://schemas.openxmlformats.org/officeDocument/2006/relationships/slide" Target="slides/slide7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E78251D2-2511-4289-9D0A-4DD21654B9DD}"/>
              </a:ext>
            </a:extLst>
          </p:cNvPr>
          <p:cNvSpPr/>
          <p:nvPr userDrawn="1"/>
        </p:nvSpPr>
        <p:spPr>
          <a:xfrm>
            <a:off x="-21571" y="-35558"/>
            <a:ext cx="4772216" cy="6929119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 sz="2400"/>
          </a:p>
        </p:txBody>
      </p:sp>
      <p:sp>
        <p:nvSpPr>
          <p:cNvPr id="26" name="Picture Placeholder 5">
            <a:extLst>
              <a:ext uri="{FF2B5EF4-FFF2-40B4-BE49-F238E27FC236}">
                <a16:creationId xmlns:a16="http://schemas.microsoft.com/office/drawing/2014/main" id="{25171BD9-438B-C340-4B6F-52ACC8299113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>
          <a:xfrm>
            <a:off x="4750646" y="0"/>
            <a:ext cx="7441353" cy="6929117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vert="horz" lIns="0" tIns="0" rIns="0" bIns="90000">
            <a:normAutofit/>
          </a:bodyPr>
          <a:lstStyle>
            <a:lvl1pPr marL="0" marR="0" indent="0" algn="l" defTabSz="609585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333" b="0" baseline="0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r>
              <a:rPr lang="en-US" dirty="0"/>
              <a:t> Click icon to insert image</a:t>
            </a:r>
          </a:p>
        </p:txBody>
      </p:sp>
      <p:sp>
        <p:nvSpPr>
          <p:cNvPr id="9" name="Text Placeholder 24">
            <a:extLst>
              <a:ext uri="{FF2B5EF4-FFF2-40B4-BE49-F238E27FC236}">
                <a16:creationId xmlns:a16="http://schemas.microsoft.com/office/drawing/2014/main" id="{5D1976F4-F620-4E3B-7930-BD424D122A61}"/>
              </a:ext>
            </a:extLst>
          </p:cNvPr>
          <p:cNvSpPr>
            <a:spLocks noGrp="1"/>
          </p:cNvSpPr>
          <p:nvPr>
            <p:ph type="body" sz="quarter" idx="69" hasCustomPrompt="1"/>
          </p:nvPr>
        </p:nvSpPr>
        <p:spPr>
          <a:xfrm>
            <a:off x="334569" y="5682895"/>
            <a:ext cx="3434439" cy="984885"/>
          </a:xfrm>
        </p:spPr>
        <p:txBody>
          <a:bodyPr wrap="square" lIns="0" tIns="0" rIns="0" bIns="0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>
                <a:solidFill>
                  <a:schemeClr val="bg1"/>
                </a:solidFill>
              </a:defRPr>
            </a:lvl1pPr>
            <a:lvl2pPr marL="457189" indent="0">
              <a:buNone/>
              <a:defRPr>
                <a:solidFill>
                  <a:schemeClr val="bg1"/>
                </a:solidFill>
              </a:defRPr>
            </a:lvl2pPr>
            <a:lvl3pPr marL="914377" indent="0">
              <a:buNone/>
              <a:defRPr>
                <a:solidFill>
                  <a:schemeClr val="bg1"/>
                </a:solidFill>
              </a:defRPr>
            </a:lvl3pPr>
            <a:lvl4pPr marL="1371566" indent="0">
              <a:buNone/>
              <a:defRPr>
                <a:solidFill>
                  <a:schemeClr val="bg1"/>
                </a:solidFill>
              </a:defRPr>
            </a:lvl4pPr>
            <a:lvl5pPr marL="1828754" indent="0">
              <a:buNone/>
              <a:defRPr>
                <a:solidFill>
                  <a:schemeClr val="bg1"/>
                </a:solidFill>
              </a:defRPr>
            </a:lvl5pPr>
          </a:lstStyle>
          <a:p>
            <a:r>
              <a:rPr lang="en-GB" dirty="0"/>
              <a:t>Name of presenter </a:t>
            </a:r>
            <a:r>
              <a:rPr lang="en-US" sz="1600" b="0" dirty="0">
                <a:solidFill>
                  <a:schemeClr val="bg1"/>
                </a:solidFill>
                <a:latin typeface="Open Sans 2"/>
                <a:ea typeface="Open Sans 2"/>
                <a:cs typeface="Open Sans 2"/>
                <a:sym typeface="Open Sans 2"/>
              </a:rPr>
              <a:t>Designation(s)/Department(s)      Date                     (Security/Sensitivity) Classification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F8AF469-9503-0765-4F71-CA4E54734D01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334569" y="1793942"/>
            <a:ext cx="4059936" cy="2297809"/>
          </a:xfrm>
          <a:prstGeom prst="rect">
            <a:avLst/>
          </a:prstGeom>
        </p:spPr>
        <p:txBody>
          <a:bodyPr wrap="square" lIns="0" tIns="0" rIns="0" bIns="0" anchor="t" anchorCtr="0">
            <a:spAutoFit/>
          </a:bodyPr>
          <a:lstStyle>
            <a:lvl1pPr algn="l">
              <a:lnSpc>
                <a:spcPct val="100000"/>
              </a:lnSpc>
              <a:defRPr sz="3733" b="1" i="0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r>
              <a:rPr lang="en-US" sz="3733" b="1" dirty="0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Open Sans 1"/>
              </a:rPr>
              <a:t>Title: First Line,</a:t>
            </a:r>
            <a:br>
              <a:rPr lang="en-US" sz="3733" b="1" dirty="0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Open Sans 1"/>
              </a:rPr>
            </a:br>
            <a:r>
              <a:rPr lang="en-US" sz="3733" b="1" dirty="0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Open Sans 1"/>
              </a:rPr>
              <a:t>Second Line, </a:t>
            </a:r>
            <a:br>
              <a:rPr lang="en-US" sz="3733" b="1" dirty="0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Open Sans 1"/>
              </a:rPr>
            </a:br>
            <a:r>
              <a:rPr lang="en-US" sz="3733" b="1" dirty="0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Open Sans 1"/>
              </a:rPr>
              <a:t>Open Sans Bold, </a:t>
            </a:r>
            <a:br>
              <a:rPr lang="en-US" sz="3733" b="1" dirty="0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Open Sans 1"/>
              </a:rPr>
            </a:br>
            <a:r>
              <a:rPr lang="en-US" sz="3733" b="1" dirty="0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Open Sans 1"/>
              </a:rPr>
              <a:t>36pt</a:t>
            </a:r>
          </a:p>
        </p:txBody>
      </p:sp>
      <p:sp>
        <p:nvSpPr>
          <p:cNvPr id="4" name="Text Placeholder 21">
            <a:extLst>
              <a:ext uri="{FF2B5EF4-FFF2-40B4-BE49-F238E27FC236}">
                <a16:creationId xmlns:a16="http://schemas.microsoft.com/office/drawing/2014/main" id="{8D21143B-9DB6-0751-9642-862106981A53}"/>
              </a:ext>
            </a:extLst>
          </p:cNvPr>
          <p:cNvSpPr>
            <a:spLocks noGrp="1"/>
          </p:cNvSpPr>
          <p:nvPr>
            <p:ph type="body" sz="quarter" idx="67" hasCustomPrompt="1"/>
          </p:nvPr>
        </p:nvSpPr>
        <p:spPr>
          <a:xfrm>
            <a:off x="335416" y="4237561"/>
            <a:ext cx="4059767" cy="738664"/>
          </a:xfrm>
        </p:spPr>
        <p:txBody>
          <a:bodyPr lIns="0" tIns="0" rIns="0" bIns="0">
            <a:spAutoFit/>
          </a:bodyPr>
          <a:lstStyle>
            <a:lvl1pPr marL="0" indent="0">
              <a:lnSpc>
                <a:spcPct val="100000"/>
              </a:lnSpc>
              <a:buNone/>
              <a:defRPr sz="2400">
                <a:solidFill>
                  <a:schemeClr val="bg1"/>
                </a:solidFill>
              </a:defRPr>
            </a:lvl1pPr>
            <a:lvl2pPr marL="457189" indent="0">
              <a:buNone/>
              <a:defRPr/>
            </a:lvl2pPr>
            <a:lvl3pPr marL="914377" indent="0">
              <a:buNone/>
              <a:defRPr/>
            </a:lvl3pPr>
            <a:lvl4pPr marL="1371566" indent="0">
              <a:buNone/>
              <a:defRPr/>
            </a:lvl4pPr>
            <a:lvl5pPr marL="1828754" indent="0">
              <a:buNone/>
              <a:defRPr/>
            </a:lvl5pPr>
          </a:lstStyle>
          <a:p>
            <a:pPr lvl="0"/>
            <a:r>
              <a:rPr lang="en-GB" dirty="0"/>
              <a:t>Sub-title: Open Sans, regular, 24pt, left align</a:t>
            </a:r>
          </a:p>
        </p:txBody>
      </p:sp>
    </p:spTree>
    <p:extLst>
      <p:ext uri="{BB962C8B-B14F-4D97-AF65-F5344CB8AC3E}">
        <p14:creationId xmlns:p14="http://schemas.microsoft.com/office/powerpoint/2010/main" val="268636324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1: Paragraph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11">
            <a:extLst>
              <a:ext uri="{FF2B5EF4-FFF2-40B4-BE49-F238E27FC236}">
                <a16:creationId xmlns:a16="http://schemas.microsoft.com/office/drawing/2014/main" id="{08F208A4-2027-EB03-FE12-CA123B46CAA1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628335" y="1203452"/>
            <a:ext cx="10079999" cy="4800000"/>
          </a:xfrm>
          <a:prstGeom prst="rect">
            <a:avLst/>
          </a:prstGeom>
        </p:spPr>
        <p:txBody>
          <a:bodyPr vert="horz" lIns="0" tIns="0" rIns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200"/>
              </a:spcBef>
              <a:buNone/>
              <a:defRPr lang="en-SG" sz="2000" b="0" i="0" smtClean="0">
                <a:effectLst/>
              </a:defRPr>
            </a:lvl1pPr>
          </a:lstStyle>
          <a:p>
            <a:r>
              <a:rPr lang="en-SG" b="0" i="0" dirty="0">
                <a:solidFill>
                  <a:srgbClr val="000000"/>
                </a:solidFill>
                <a:effectLst/>
                <a:latin typeface="Open Sans" panose="020B0606030504020204" pitchFamily="34" charset="0"/>
              </a:rPr>
              <a:t>Paragraph: Open Sans, regular 20pt, left align, maximum 170 words</a:t>
            </a:r>
            <a:endParaRPr lang="en-SG" b="0" i="0" dirty="0">
              <a:solidFill>
                <a:srgbClr val="424D61"/>
              </a:solidFill>
              <a:effectLst/>
              <a:latin typeface="Helvetica" pitchFamily="2" charset="0"/>
            </a:endParaRPr>
          </a:p>
        </p:txBody>
      </p:sp>
      <p:sp>
        <p:nvSpPr>
          <p:cNvPr id="9" name="Text Placeholder 9">
            <a:extLst>
              <a:ext uri="{FF2B5EF4-FFF2-40B4-BE49-F238E27FC236}">
                <a16:creationId xmlns:a16="http://schemas.microsoft.com/office/drawing/2014/main" id="{D0D2D4E9-4EF5-3F09-B66A-05A31EC77F2B}"/>
              </a:ext>
            </a:extLst>
          </p:cNvPr>
          <p:cNvSpPr>
            <a:spLocks noGrp="1"/>
          </p:cNvSpPr>
          <p:nvPr>
            <p:ph type="body" sz="quarter" idx="64" hasCustomPrompt="1"/>
          </p:nvPr>
        </p:nvSpPr>
        <p:spPr>
          <a:xfrm>
            <a:off x="628332" y="339452"/>
            <a:ext cx="10080000" cy="480000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 algn="l">
              <a:lnSpc>
                <a:spcPct val="110000"/>
              </a:lnSpc>
              <a:buNone/>
              <a:defRPr sz="2800" b="1" i="0">
                <a:solidFill>
                  <a:schemeClr val="accent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189" indent="0">
              <a:buNone/>
              <a:defRPr b="1" i="0">
                <a:solidFill>
                  <a:schemeClr val="bg1"/>
                </a:solidFill>
                <a:latin typeface="Gilroy SemiBold" pitchFamily="2" charset="77"/>
              </a:defRPr>
            </a:lvl2pPr>
            <a:lvl3pPr marL="914377" indent="0">
              <a:buNone/>
              <a:defRPr b="1" i="0">
                <a:solidFill>
                  <a:schemeClr val="bg1"/>
                </a:solidFill>
                <a:latin typeface="Gilroy SemiBold" pitchFamily="2" charset="77"/>
              </a:defRPr>
            </a:lvl3pPr>
            <a:lvl4pPr marL="1371566" indent="0">
              <a:buNone/>
              <a:defRPr b="1" i="0">
                <a:solidFill>
                  <a:schemeClr val="bg1"/>
                </a:solidFill>
                <a:latin typeface="Gilroy SemiBold" pitchFamily="2" charset="77"/>
              </a:defRPr>
            </a:lvl4pPr>
            <a:lvl5pPr marL="1828754" indent="0">
              <a:buNone/>
              <a:defRPr b="1" i="0">
                <a:solidFill>
                  <a:schemeClr val="bg1"/>
                </a:solidFill>
                <a:latin typeface="Gilroy SemiBold" pitchFamily="2" charset="77"/>
              </a:defRPr>
            </a:lvl5pPr>
          </a:lstStyle>
          <a:p>
            <a:pPr lvl="0"/>
            <a:r>
              <a:rPr lang="en-GB" dirty="0"/>
              <a:t>Content 1 – Paragraph: Open Sans, bold 28pt, left align</a:t>
            </a:r>
            <a:endParaRPr lang="en-US" dirty="0"/>
          </a:p>
        </p:txBody>
      </p:sp>
      <p:sp>
        <p:nvSpPr>
          <p:cNvPr id="2" name="Slide Number Placeholder 8">
            <a:extLst>
              <a:ext uri="{FF2B5EF4-FFF2-40B4-BE49-F238E27FC236}">
                <a16:creationId xmlns:a16="http://schemas.microsoft.com/office/drawing/2014/main" id="{5D1E752A-6C6B-E967-3218-57F6D37E49FB}"/>
              </a:ext>
            </a:extLst>
          </p:cNvPr>
          <p:cNvSpPr txBox="1">
            <a:spLocks/>
          </p:cNvSpPr>
          <p:nvPr userDrawn="1"/>
        </p:nvSpPr>
        <p:spPr>
          <a:xfrm>
            <a:off x="239999" y="6518548"/>
            <a:ext cx="720517" cy="177080"/>
          </a:xfrm>
          <a:prstGeom prst="rect">
            <a:avLst/>
          </a:prstGeom>
        </p:spPr>
        <p:txBody>
          <a:bodyPr lIns="0" tIns="0" rIns="0" bIns="0"/>
          <a:lstStyle>
            <a:defPPr>
              <a:defRPr lang="en-US"/>
            </a:defPPr>
            <a:lvl1pPr marL="0" algn="r" defTabSz="914400" rtl="0" eaLnBrk="1" latinLnBrk="0" hangingPunct="1">
              <a:lnSpc>
                <a:spcPct val="110000"/>
              </a:lnSpc>
              <a:defRPr sz="1300" kern="1200">
                <a:solidFill>
                  <a:srgbClr val="222222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fld id="{15E97092-FB62-2940-BF72-90FEE759286B}" type="slidenum">
              <a:rPr lang="en-US" sz="800" smtClean="0">
                <a:solidFill>
                  <a:schemeClr val="bg2">
                    <a:lumMod val="50000"/>
                    <a:alpha val="61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pPr algn="l"/>
              <a:t>‹#›</a:t>
            </a:fld>
            <a:endParaRPr lang="en-US" sz="800" dirty="0">
              <a:solidFill>
                <a:schemeClr val="bg2">
                  <a:lumMod val="50000"/>
                  <a:alpha val="61000"/>
                </a:schemeClr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4" name="Text Placeholder 11">
            <a:extLst>
              <a:ext uri="{FF2B5EF4-FFF2-40B4-BE49-F238E27FC236}">
                <a16:creationId xmlns:a16="http://schemas.microsoft.com/office/drawing/2014/main" id="{73E8E0B4-23A5-14AA-B5CE-A8D2917A6C62}"/>
              </a:ext>
            </a:extLst>
          </p:cNvPr>
          <p:cNvSpPr>
            <a:spLocks noGrp="1"/>
          </p:cNvSpPr>
          <p:nvPr>
            <p:ph type="body" sz="quarter" idx="63" hasCustomPrompt="1"/>
          </p:nvPr>
        </p:nvSpPr>
        <p:spPr>
          <a:xfrm>
            <a:off x="1558174" y="6518548"/>
            <a:ext cx="4876800" cy="177080"/>
          </a:xfrm>
          <a:prstGeom prst="rect">
            <a:avLst/>
          </a:prstGeom>
        </p:spPr>
        <p:txBody>
          <a:bodyPr vert="horz" lIns="0" tIns="0" rIns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200"/>
              </a:spcBef>
              <a:buNone/>
              <a:defRPr sz="900" b="0" spc="0" baseline="0">
                <a:solidFill>
                  <a:schemeClr val="bg2">
                    <a:lumMod val="50000"/>
                    <a:alpha val="61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r>
              <a:rPr lang="en-SG" dirty="0"/>
              <a:t>(Security / Sensitivity) Classification</a:t>
            </a:r>
          </a:p>
        </p:txBody>
      </p:sp>
      <p:sp>
        <p:nvSpPr>
          <p:cNvPr id="5" name="Text Placeholder 11">
            <a:extLst>
              <a:ext uri="{FF2B5EF4-FFF2-40B4-BE49-F238E27FC236}">
                <a16:creationId xmlns:a16="http://schemas.microsoft.com/office/drawing/2014/main" id="{F8BDEB36-659E-42FC-4B39-5388CA288EC0}"/>
              </a:ext>
            </a:extLst>
          </p:cNvPr>
          <p:cNvSpPr>
            <a:spLocks noGrp="1"/>
          </p:cNvSpPr>
          <p:nvPr>
            <p:ph type="body" sz="quarter" idx="65" hasCustomPrompt="1"/>
          </p:nvPr>
        </p:nvSpPr>
        <p:spPr>
          <a:xfrm>
            <a:off x="6540547" y="6510274"/>
            <a:ext cx="4301897" cy="193627"/>
          </a:xfrm>
          <a:prstGeom prst="rect">
            <a:avLst/>
          </a:prstGeom>
        </p:spPr>
        <p:txBody>
          <a:bodyPr vert="horz" lIns="0" tIns="0" rIns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200"/>
              </a:spcBef>
              <a:buNone/>
              <a:defRPr sz="900" b="0" spc="0" baseline="0">
                <a:solidFill>
                  <a:schemeClr val="bg2">
                    <a:lumMod val="50000"/>
                    <a:alpha val="61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r>
              <a:rPr lang="en-SG" dirty="0"/>
              <a:t>Source/Reference:</a:t>
            </a:r>
          </a:p>
        </p:txBody>
      </p:sp>
    </p:spTree>
    <p:extLst>
      <p:ext uri="{BB962C8B-B14F-4D97-AF65-F5344CB8AC3E}">
        <p14:creationId xmlns:p14="http://schemas.microsoft.com/office/powerpoint/2010/main" val="399667411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6: Empty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 Placeholder 9">
            <a:extLst>
              <a:ext uri="{FF2B5EF4-FFF2-40B4-BE49-F238E27FC236}">
                <a16:creationId xmlns:a16="http://schemas.microsoft.com/office/drawing/2014/main" id="{6E22C5E3-7B3C-57D5-17CC-6B9183211A8A}"/>
              </a:ext>
            </a:extLst>
          </p:cNvPr>
          <p:cNvSpPr>
            <a:spLocks noGrp="1"/>
          </p:cNvSpPr>
          <p:nvPr>
            <p:ph type="body" sz="quarter" idx="75" hasCustomPrompt="1"/>
          </p:nvPr>
        </p:nvSpPr>
        <p:spPr>
          <a:xfrm>
            <a:off x="629336" y="336000"/>
            <a:ext cx="10914963" cy="480000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 algn="l">
              <a:lnSpc>
                <a:spcPct val="110000"/>
              </a:lnSpc>
              <a:buNone/>
              <a:defRPr sz="2800" b="1" i="0">
                <a:solidFill>
                  <a:schemeClr val="accent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189" indent="0">
              <a:buNone/>
              <a:defRPr b="1" i="0">
                <a:solidFill>
                  <a:schemeClr val="bg1"/>
                </a:solidFill>
                <a:latin typeface="Gilroy SemiBold" pitchFamily="2" charset="77"/>
              </a:defRPr>
            </a:lvl2pPr>
            <a:lvl3pPr marL="914377" indent="0">
              <a:buNone/>
              <a:defRPr b="1" i="0">
                <a:solidFill>
                  <a:schemeClr val="bg1"/>
                </a:solidFill>
                <a:latin typeface="Gilroy SemiBold" pitchFamily="2" charset="77"/>
              </a:defRPr>
            </a:lvl3pPr>
            <a:lvl4pPr marL="1371566" indent="0">
              <a:buNone/>
              <a:defRPr b="1" i="0">
                <a:solidFill>
                  <a:schemeClr val="bg1"/>
                </a:solidFill>
                <a:latin typeface="Gilroy SemiBold" pitchFamily="2" charset="77"/>
              </a:defRPr>
            </a:lvl4pPr>
            <a:lvl5pPr marL="1828754" indent="0">
              <a:buNone/>
              <a:defRPr b="1" i="0">
                <a:solidFill>
                  <a:schemeClr val="bg1"/>
                </a:solidFill>
                <a:latin typeface="Gilroy SemiBold" pitchFamily="2" charset="77"/>
              </a:defRPr>
            </a:lvl5pPr>
          </a:lstStyle>
          <a:p>
            <a:pPr lvl="0"/>
            <a:r>
              <a:rPr lang="en-GB" dirty="0"/>
              <a:t>Content 6 – Empty: Open Sans, bold 28pt, left align</a:t>
            </a:r>
            <a:endParaRPr lang="en-US" dirty="0"/>
          </a:p>
        </p:txBody>
      </p:sp>
      <p:sp>
        <p:nvSpPr>
          <p:cNvPr id="6" name="Slide Number Placeholder 8">
            <a:extLst>
              <a:ext uri="{FF2B5EF4-FFF2-40B4-BE49-F238E27FC236}">
                <a16:creationId xmlns:a16="http://schemas.microsoft.com/office/drawing/2014/main" id="{162CABB7-54C7-824C-E165-1D2486DBBC5C}"/>
              </a:ext>
            </a:extLst>
          </p:cNvPr>
          <p:cNvSpPr txBox="1">
            <a:spLocks/>
          </p:cNvSpPr>
          <p:nvPr userDrawn="1"/>
        </p:nvSpPr>
        <p:spPr>
          <a:xfrm>
            <a:off x="239999" y="6518548"/>
            <a:ext cx="720517" cy="177080"/>
          </a:xfrm>
          <a:prstGeom prst="rect">
            <a:avLst/>
          </a:prstGeom>
        </p:spPr>
        <p:txBody>
          <a:bodyPr lIns="0" tIns="0" rIns="0" bIns="0"/>
          <a:lstStyle>
            <a:defPPr>
              <a:defRPr lang="en-US"/>
            </a:defPPr>
            <a:lvl1pPr marL="0" algn="r" defTabSz="914400" rtl="0" eaLnBrk="1" latinLnBrk="0" hangingPunct="1">
              <a:lnSpc>
                <a:spcPct val="110000"/>
              </a:lnSpc>
              <a:defRPr sz="1300" kern="1200">
                <a:solidFill>
                  <a:srgbClr val="222222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fld id="{15E97092-FB62-2940-BF72-90FEE759286B}" type="slidenum">
              <a:rPr lang="en-US" sz="800" smtClean="0">
                <a:solidFill>
                  <a:schemeClr val="bg2">
                    <a:lumMod val="50000"/>
                    <a:alpha val="61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pPr algn="l"/>
              <a:t>‹#›</a:t>
            </a:fld>
            <a:endParaRPr lang="en-US" sz="800" dirty="0">
              <a:solidFill>
                <a:schemeClr val="bg2">
                  <a:lumMod val="50000"/>
                  <a:alpha val="61000"/>
                </a:schemeClr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7" name="Text Placeholder 11">
            <a:extLst>
              <a:ext uri="{FF2B5EF4-FFF2-40B4-BE49-F238E27FC236}">
                <a16:creationId xmlns:a16="http://schemas.microsoft.com/office/drawing/2014/main" id="{49534EE1-3333-96D7-8107-389641F38A5D}"/>
              </a:ext>
            </a:extLst>
          </p:cNvPr>
          <p:cNvSpPr>
            <a:spLocks noGrp="1"/>
          </p:cNvSpPr>
          <p:nvPr>
            <p:ph type="body" sz="quarter" idx="63" hasCustomPrompt="1"/>
          </p:nvPr>
        </p:nvSpPr>
        <p:spPr>
          <a:xfrm>
            <a:off x="1558174" y="6518548"/>
            <a:ext cx="4876800" cy="177080"/>
          </a:xfrm>
          <a:prstGeom prst="rect">
            <a:avLst/>
          </a:prstGeom>
        </p:spPr>
        <p:txBody>
          <a:bodyPr vert="horz" lIns="0" tIns="0" rIns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200"/>
              </a:spcBef>
              <a:buNone/>
              <a:defRPr sz="900" b="0" spc="0" baseline="0">
                <a:solidFill>
                  <a:schemeClr val="bg2">
                    <a:lumMod val="50000"/>
                    <a:alpha val="61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r>
              <a:rPr lang="en-SG" dirty="0"/>
              <a:t>(Security / Sensitivity) Classification</a:t>
            </a:r>
          </a:p>
        </p:txBody>
      </p:sp>
      <p:sp>
        <p:nvSpPr>
          <p:cNvPr id="8" name="Text Placeholder 11">
            <a:extLst>
              <a:ext uri="{FF2B5EF4-FFF2-40B4-BE49-F238E27FC236}">
                <a16:creationId xmlns:a16="http://schemas.microsoft.com/office/drawing/2014/main" id="{89855949-E09D-EFBD-550A-46D66B0B87A1}"/>
              </a:ext>
            </a:extLst>
          </p:cNvPr>
          <p:cNvSpPr>
            <a:spLocks noGrp="1"/>
          </p:cNvSpPr>
          <p:nvPr>
            <p:ph type="body" sz="quarter" idx="65" hasCustomPrompt="1"/>
          </p:nvPr>
        </p:nvSpPr>
        <p:spPr>
          <a:xfrm>
            <a:off x="6540547" y="6510274"/>
            <a:ext cx="4301897" cy="193627"/>
          </a:xfrm>
          <a:prstGeom prst="rect">
            <a:avLst/>
          </a:prstGeom>
        </p:spPr>
        <p:txBody>
          <a:bodyPr vert="horz" lIns="0" tIns="0" rIns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200"/>
              </a:spcBef>
              <a:buNone/>
              <a:defRPr sz="900" b="0" spc="0" baseline="0">
                <a:solidFill>
                  <a:schemeClr val="bg2">
                    <a:lumMod val="50000"/>
                    <a:alpha val="61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r>
              <a:rPr lang="en-SG" dirty="0"/>
              <a:t>Source/Reference:</a:t>
            </a:r>
          </a:p>
        </p:txBody>
      </p:sp>
    </p:spTree>
    <p:extLst>
      <p:ext uri="{BB962C8B-B14F-4D97-AF65-F5344CB8AC3E}">
        <p14:creationId xmlns:p14="http://schemas.microsoft.com/office/powerpoint/2010/main" val="270279978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9.xml"/></Relationships>
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9619906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2"/>
    <p:sldLayoutId id="2147483662" r:id="rId3"/>
    <p:sldLayoutId id="2147483663" r:id="rId4"/>
  </p:sldLayoutIdLst>
  <p:txStyles>
    <p:titleStyle>
      <a:lvl1pPr algn="l" defTabSz="914377" rtl="0" eaLnBrk="1" latinLnBrk="0" hangingPunct="1">
        <a:lnSpc>
          <a:spcPct val="90000"/>
        </a:lnSpc>
        <a:spcBef>
          <a:spcPct val="0"/>
        </a:spcBef>
        <a:buNone/>
        <a:defRPr sz="4667" kern="1200">
          <a:solidFill>
            <a:schemeClr val="tx1"/>
          </a:solidFill>
          <a:latin typeface="Open Sans" panose="020B0606030504020204" pitchFamily="34" charset="0"/>
          <a:ea typeface="Open Sans" panose="020B0606030504020204" pitchFamily="34" charset="0"/>
          <a:cs typeface="Open Sans" panose="020B0606030504020204" pitchFamily="34" charset="0"/>
        </a:defRPr>
      </a:lvl1pPr>
    </p:titleStyle>
    <p:bodyStyle>
      <a:lvl1pPr marL="228594" indent="-228594" algn="l" defTabSz="914377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Open Sans" panose="020B0606030504020204" pitchFamily="34" charset="0"/>
          <a:ea typeface="Open Sans" panose="020B0606030504020204" pitchFamily="34" charset="0"/>
          <a:cs typeface="Open Sans" panose="020B0606030504020204" pitchFamily="34" charset="0"/>
        </a:defRPr>
      </a:lvl1pPr>
      <a:lvl2pPr marL="685783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Open Sans" panose="020B0606030504020204" pitchFamily="34" charset="0"/>
          <a:ea typeface="Open Sans" panose="020B0606030504020204" pitchFamily="34" charset="0"/>
          <a:cs typeface="Open Sans" panose="020B0606030504020204" pitchFamily="34" charset="0"/>
        </a:defRPr>
      </a:lvl2pPr>
      <a:lvl3pPr marL="1142971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Open Sans" panose="020B0606030504020204" pitchFamily="34" charset="0"/>
          <a:ea typeface="Open Sans" panose="020B0606030504020204" pitchFamily="34" charset="0"/>
          <a:cs typeface="Open Sans" panose="020B0606030504020204" pitchFamily="34" charset="0"/>
        </a:defRPr>
      </a:lvl3pPr>
      <a:lvl4pPr marL="1600160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Open Sans" panose="020B0606030504020204" pitchFamily="34" charset="0"/>
          <a:ea typeface="Open Sans" panose="020B0606030504020204" pitchFamily="34" charset="0"/>
          <a:cs typeface="Open Sans" panose="020B0606030504020204" pitchFamily="34" charset="0"/>
        </a:defRPr>
      </a:lvl4pPr>
      <a:lvl5pPr marL="2057349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Open Sans" panose="020B0606030504020204" pitchFamily="34" charset="0"/>
          <a:ea typeface="Open Sans" panose="020B0606030504020204" pitchFamily="34" charset="0"/>
          <a:cs typeface="Open Sans" panose="020B0606030504020204" pitchFamily="34" charset="0"/>
        </a:defRPr>
      </a:lvl5pPr>
      <a:lvl6pPr marL="2514537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726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914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103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8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77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66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54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943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131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32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50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>
          <p15:clr>
            <a:srgbClr val="F26B43"/>
          </p15:clr>
        </p15:guide>
        <p15:guide id="2" pos="2880">
          <p15:clr>
            <a:srgbClr val="F26B43"/>
          </p15:clr>
        </p15:guide>
      </p15:sldGuideLst>
    </p:ext>
  </p:extLst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9.xml"/></Relationships>
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9.xml"/></Relationships>
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/Relationships>
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9.xml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decision_summar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629336" y="336000"/>
            <a:ext cx="10914963" cy="48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2400" b="1" i="0" dirty="0">
                <a:solidFill>
                  <a:srgbClr val="003087"/>
                </a:solidFill>
                <a:latin typeface="Open Sans" panose="020B0606030504020204" pitchFamily="34" charset="0"/>
              </a:rPr>
              <a:t>One clear decision headline</a:t>
            </a:r>
          </a:p>
        </p:txBody>
      </p:sp>
      <p:sp>
        <p:nvSpPr>
          <p:cNvPr id="3" name="AUDIENCE"/>
          <p:cNvSpPr txBox="1"/>
          <p:nvPr/>
        </p:nvSpPr>
        <p:spPr>
          <a:xfrm>
            <a:off x="629336" y="852576"/>
            <a:ext cx="10914963" cy="2011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000" b="1" i="0" dirty="0">
                <a:solidFill>
                  <a:srgbClr val="44546A"/>
                </a:solidFill>
                <a:latin typeface="Open Sans" panose="020B0606030504020204" pitchFamily="34" charset="0"/>
              </a:rPr>
              <a:t>Audience / decision owner</a:t>
            </a:r>
          </a:p>
        </p:txBody>
      </p:sp>
      <p:sp>
        <p:nvSpPr>
          <p:cNvPr id="4" name="RECOMMENDATION_PANEL"/>
          <p:cNvSpPr/>
          <p:nvPr/>
        </p:nvSpPr>
        <p:spPr>
          <a:xfrm>
            <a:off x="629336" y="1090320"/>
            <a:ext cx="10914963" cy="566928"/>
          </a:xfrm>
          <a:prstGeom prst="roundRect">
            <a:avLst>
              <a:gd name="adj" fmla="val 8000"/>
            </a:avLst>
          </a:prstGeom>
          <a:solidFill>
            <a:srgbClr val="E7E6E6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5" name="RECOMMENDATION_ACCENT"/>
          <p:cNvSpPr/>
          <p:nvPr/>
        </p:nvSpPr>
        <p:spPr>
          <a:xfrm>
            <a:off x="629336" y="1090320"/>
            <a:ext cx="82296" cy="566928"/>
          </a:xfrm>
          <a:prstGeom prst="rect">
            <a:avLst/>
          </a:prstGeom>
          <a:solidFill>
            <a:srgbClr val="003087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" name="RECOMMENDATION"/>
          <p:cNvSpPr txBox="1"/>
          <p:nvPr/>
        </p:nvSpPr>
        <p:spPr>
          <a:xfrm>
            <a:off x="830504" y="1163472"/>
            <a:ext cx="10549203" cy="42062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en-US" sz="1500" b="1" i="0" dirty="0">
                <a:solidFill>
                  <a:srgbClr val="1A1A2E"/>
                </a:solidFill>
                <a:latin typeface="Open Sans" panose="020B0606030504020204" pitchFamily="34" charset="0"/>
              </a:rPr>
              <a:t>Recommendation statement, based on verified evidence</a:t>
            </a:r>
          </a:p>
        </p:txBody>
      </p:sp>
      <p:sp>
        <p:nvSpPr>
          <p:cNvPr id="7" name="GATE_TABLE"/>
          <p:cNvSpPr txBox="1"/>
          <p:nvPr/>
        </p:nvSpPr>
        <p:spPr>
          <a:xfrm>
            <a:off x="629336" y="1858416"/>
            <a:ext cx="5457482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250" b="1" i="0" dirty="0">
                <a:solidFill>
                  <a:srgbClr val="003087"/>
                </a:solidFill>
                <a:latin typeface="Open Sans" panose="020B0606030504020204" pitchFamily="34" charset="0"/>
              </a:rPr>
              <a:t>MANDATORY COMPLIANCE</a:t>
            </a:r>
          </a:p>
        </p:txBody>
      </p:sp>
      <p:sp>
        <p:nvSpPr>
          <p:cNvPr id="8" name="COMPARISON_CHART"/>
          <p:cNvSpPr txBox="1"/>
          <p:nvPr/>
        </p:nvSpPr>
        <p:spPr>
          <a:xfrm>
            <a:off x="6315418" y="1858416"/>
            <a:ext cx="5228881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250" b="1" i="0" dirty="0">
                <a:solidFill>
                  <a:srgbClr val="003087"/>
                </a:solidFill>
                <a:latin typeface="Open Sans" panose="020B0606030504020204" pitchFamily="34" charset="0"/>
              </a:rPr>
              <a:t>SCORES AFTER GATE</a:t>
            </a:r>
          </a:p>
        </p:txBody>
      </p:sp>
      <p:sp>
        <p:nvSpPr>
          <p:cNvPr id="9" name="GATE_HEADER_BG"/>
          <p:cNvSpPr/>
          <p:nvPr/>
        </p:nvSpPr>
        <p:spPr>
          <a:xfrm>
            <a:off x="629336" y="2187600"/>
            <a:ext cx="5457482" cy="237744"/>
          </a:xfrm>
          <a:prstGeom prst="rect">
            <a:avLst/>
          </a:prstGeom>
          <a:solidFill>
            <a:srgbClr val="E7E6E6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0" name="GATE_VENDOR_HEADER"/>
          <p:cNvSpPr txBox="1"/>
          <p:nvPr/>
        </p:nvSpPr>
        <p:spPr>
          <a:xfrm>
            <a:off x="739064" y="2215032"/>
            <a:ext cx="1528095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850" b="1" i="0" dirty="0">
                <a:solidFill>
                  <a:srgbClr val="44546A"/>
                </a:solidFill>
                <a:latin typeface="Open Sans" panose="020B0606030504020204" pitchFamily="34" charset="0"/>
              </a:rPr>
              <a:t>VENDOR</a:t>
            </a:r>
          </a:p>
        </p:txBody>
      </p:sp>
      <p:sp>
        <p:nvSpPr>
          <p:cNvPr id="11" name="GATE_STATUS_HEADER"/>
          <p:cNvSpPr txBox="1"/>
          <p:nvPr/>
        </p:nvSpPr>
        <p:spPr>
          <a:xfrm>
            <a:off x="2266581" y="2215032"/>
            <a:ext cx="545748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850" b="1" i="0" dirty="0">
                <a:solidFill>
                  <a:srgbClr val="44546A"/>
                </a:solidFill>
                <a:latin typeface="Open Sans" panose="020B0606030504020204" pitchFamily="34" charset="0"/>
              </a:rPr>
              <a:t>GATE</a:t>
            </a:r>
          </a:p>
        </p:txBody>
      </p:sp>
      <p:sp>
        <p:nvSpPr>
          <p:cNvPr id="12" name="GATE_REASON_HEADER"/>
          <p:cNvSpPr txBox="1"/>
          <p:nvPr/>
        </p:nvSpPr>
        <p:spPr>
          <a:xfrm>
            <a:off x="2921478" y="2215032"/>
            <a:ext cx="3165340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850" b="1" i="0" dirty="0">
                <a:solidFill>
                  <a:srgbClr val="44546A"/>
                </a:solidFill>
                <a:latin typeface="Open Sans" panose="020B0606030504020204" pitchFamily="34" charset="0"/>
              </a:rPr>
              <a:t>DECISIVE BASIS</a:t>
            </a:r>
          </a:p>
        </p:txBody>
      </p:sp>
      <p:sp>
        <p:nvSpPr>
          <p:cNvPr id="13" name="GATE_ROW_1_BG"/>
          <p:cNvSpPr/>
          <p:nvPr/>
        </p:nvSpPr>
        <p:spPr>
          <a:xfrm>
            <a:off x="629336" y="2471064"/>
            <a:ext cx="5457482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4" name="GATE_VENDOR_1"/>
          <p:cNvSpPr txBox="1"/>
          <p:nvPr/>
        </p:nvSpPr>
        <p:spPr>
          <a:xfrm>
            <a:off x="739064" y="2516784"/>
            <a:ext cx="1418367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050" b="1" i="0" dirty="0">
                <a:solidFill>
                  <a:srgbClr val="1A1A2E"/>
                </a:solidFill>
                <a:latin typeface="Open Sans" panose="020B0606030504020204" pitchFamily="34" charset="0"/>
              </a:rPr>
              <a:t>Vendor</a:t>
            </a:r>
          </a:p>
        </p:txBody>
      </p:sp>
      <p:sp>
        <p:nvSpPr>
          <p:cNvPr id="15" name="GATE_STATUS_1"/>
          <p:cNvSpPr txBox="1"/>
          <p:nvPr/>
        </p:nvSpPr>
        <p:spPr>
          <a:xfrm>
            <a:off x="2266581" y="2516784"/>
            <a:ext cx="545748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850" b="1" i="0" dirty="0">
                <a:solidFill>
                  <a:srgbClr val="44546A"/>
                </a:solidFill>
                <a:latin typeface="Open Sans" panose="020B0606030504020204" pitchFamily="34" charset="0"/>
              </a:rPr>
              <a:t>—</a:t>
            </a:r>
          </a:p>
        </p:txBody>
      </p:sp>
      <p:sp>
        <p:nvSpPr>
          <p:cNvPr id="16" name="GATE_REASON_1"/>
          <p:cNvSpPr txBox="1"/>
          <p:nvPr/>
        </p:nvSpPr>
        <p:spPr>
          <a:xfrm>
            <a:off x="2921478" y="2516784"/>
            <a:ext cx="316534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900" b="0" i="0" dirty="0">
                <a:solidFill>
                  <a:srgbClr val="44546A"/>
                </a:solidFill>
                <a:latin typeface="Open Sans" panose="020B0606030504020204" pitchFamily="34" charset="0"/>
              </a:rPr>
              <a:t>Requirement / source status</a:t>
            </a:r>
          </a:p>
        </p:txBody>
      </p:sp>
      <p:sp>
        <p:nvSpPr>
          <p:cNvPr id="17" name="GATE_ROW_2_BG"/>
          <p:cNvSpPr/>
          <p:nvPr/>
        </p:nvSpPr>
        <p:spPr>
          <a:xfrm>
            <a:off x="629336" y="2946552"/>
            <a:ext cx="5457482" cy="4572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8" name="GATE_VENDOR_2"/>
          <p:cNvSpPr txBox="1"/>
          <p:nvPr/>
        </p:nvSpPr>
        <p:spPr>
          <a:xfrm>
            <a:off x="739064" y="2992272"/>
            <a:ext cx="1418367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050" b="1" i="0" dirty="0">
                <a:solidFill>
                  <a:srgbClr val="1A1A2E"/>
                </a:solidFill>
                <a:latin typeface="Open Sans" panose="020B0606030504020204" pitchFamily="34" charset="0"/>
              </a:rPr>
              <a:t>Vendor</a:t>
            </a:r>
          </a:p>
        </p:txBody>
      </p:sp>
      <p:sp>
        <p:nvSpPr>
          <p:cNvPr id="19" name="GATE_STATUS_2"/>
          <p:cNvSpPr txBox="1"/>
          <p:nvPr/>
        </p:nvSpPr>
        <p:spPr>
          <a:xfrm>
            <a:off x="2266581" y="2992272"/>
            <a:ext cx="545748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850" b="1" i="0" dirty="0">
                <a:solidFill>
                  <a:srgbClr val="44546A"/>
                </a:solidFill>
                <a:latin typeface="Open Sans" panose="020B0606030504020204" pitchFamily="34" charset="0"/>
              </a:rPr>
              <a:t>—</a:t>
            </a:r>
          </a:p>
        </p:txBody>
      </p:sp>
      <p:sp>
        <p:nvSpPr>
          <p:cNvPr id="20" name="GATE_REASON_2"/>
          <p:cNvSpPr txBox="1"/>
          <p:nvPr/>
        </p:nvSpPr>
        <p:spPr>
          <a:xfrm>
            <a:off x="2921478" y="2992272"/>
            <a:ext cx="316534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900" b="0" i="0" dirty="0">
                <a:solidFill>
                  <a:srgbClr val="44546A"/>
                </a:solidFill>
                <a:latin typeface="Open Sans" panose="020B0606030504020204" pitchFamily="34" charset="0"/>
              </a:rPr>
              <a:t>Requirement / source status</a:t>
            </a:r>
          </a:p>
        </p:txBody>
      </p:sp>
      <p:sp>
        <p:nvSpPr>
          <p:cNvPr id="21" name="GATE_ROW_3_BG"/>
          <p:cNvSpPr/>
          <p:nvPr/>
        </p:nvSpPr>
        <p:spPr>
          <a:xfrm>
            <a:off x="629336" y="3422040"/>
            <a:ext cx="5457482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2" name="GATE_VENDOR_3"/>
          <p:cNvSpPr txBox="1"/>
          <p:nvPr/>
        </p:nvSpPr>
        <p:spPr>
          <a:xfrm>
            <a:off x="739064" y="3467760"/>
            <a:ext cx="1418367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050" b="1" i="0" dirty="0">
                <a:solidFill>
                  <a:srgbClr val="1A1A2E"/>
                </a:solidFill>
                <a:latin typeface="Open Sans" panose="020B0606030504020204" pitchFamily="34" charset="0"/>
              </a:rPr>
              <a:t>Vendor</a:t>
            </a:r>
          </a:p>
        </p:txBody>
      </p:sp>
      <p:sp>
        <p:nvSpPr>
          <p:cNvPr id="23" name="GATE_STATUS_3"/>
          <p:cNvSpPr txBox="1"/>
          <p:nvPr/>
        </p:nvSpPr>
        <p:spPr>
          <a:xfrm>
            <a:off x="2266581" y="3467760"/>
            <a:ext cx="545748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850" b="1" i="0" dirty="0">
                <a:solidFill>
                  <a:srgbClr val="44546A"/>
                </a:solidFill>
                <a:latin typeface="Open Sans" panose="020B0606030504020204" pitchFamily="34" charset="0"/>
              </a:rPr>
              <a:t>—</a:t>
            </a:r>
          </a:p>
        </p:txBody>
      </p:sp>
      <p:sp>
        <p:nvSpPr>
          <p:cNvPr id="24" name="GATE_REASON_3"/>
          <p:cNvSpPr txBox="1"/>
          <p:nvPr/>
        </p:nvSpPr>
        <p:spPr>
          <a:xfrm>
            <a:off x="2921478" y="3467760"/>
            <a:ext cx="316534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900" b="0" i="0" dirty="0">
                <a:solidFill>
                  <a:srgbClr val="44546A"/>
                </a:solidFill>
                <a:latin typeface="Open Sans" panose="020B0606030504020204" pitchFamily="34" charset="0"/>
              </a:rPr>
              <a:t>Requirement / source status</a:t>
            </a:r>
          </a:p>
        </p:txBody>
      </p:sp>
      <p:sp>
        <p:nvSpPr>
          <p:cNvPr id="25" name="GATE_ROW_4_BG"/>
          <p:cNvSpPr/>
          <p:nvPr/>
        </p:nvSpPr>
        <p:spPr>
          <a:xfrm>
            <a:off x="629336" y="3897528"/>
            <a:ext cx="5457482" cy="4572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6" name="GATE_VENDOR_4"/>
          <p:cNvSpPr txBox="1"/>
          <p:nvPr/>
        </p:nvSpPr>
        <p:spPr>
          <a:xfrm>
            <a:off x="739064" y="3943248"/>
            <a:ext cx="1418367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050" b="1" i="0" dirty="0">
                <a:solidFill>
                  <a:srgbClr val="1A1A2E"/>
                </a:solidFill>
                <a:latin typeface="Open Sans" panose="020B0606030504020204" pitchFamily="34" charset="0"/>
              </a:rPr>
              <a:t>Vendor</a:t>
            </a:r>
          </a:p>
        </p:txBody>
      </p:sp>
      <p:sp>
        <p:nvSpPr>
          <p:cNvPr id="27" name="GATE_STATUS_4"/>
          <p:cNvSpPr txBox="1"/>
          <p:nvPr/>
        </p:nvSpPr>
        <p:spPr>
          <a:xfrm>
            <a:off x="2266581" y="3943248"/>
            <a:ext cx="545748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850" b="1" i="0" dirty="0">
                <a:solidFill>
                  <a:srgbClr val="44546A"/>
                </a:solidFill>
                <a:latin typeface="Open Sans" panose="020B0606030504020204" pitchFamily="34" charset="0"/>
              </a:rPr>
              <a:t>—</a:t>
            </a:r>
          </a:p>
        </p:txBody>
      </p:sp>
      <p:sp>
        <p:nvSpPr>
          <p:cNvPr id="28" name="GATE_REASON_4"/>
          <p:cNvSpPr txBox="1"/>
          <p:nvPr/>
        </p:nvSpPr>
        <p:spPr>
          <a:xfrm>
            <a:off x="2921478" y="3943248"/>
            <a:ext cx="316534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900" b="0" i="0" dirty="0">
                <a:solidFill>
                  <a:srgbClr val="44546A"/>
                </a:solidFill>
                <a:latin typeface="Open Sans" panose="020B0606030504020204" pitchFamily="34" charset="0"/>
              </a:rPr>
              <a:t>Requirement / source status</a:t>
            </a:r>
          </a:p>
        </p:txBody>
      </p:sp>
      <p:sp>
        <p:nvSpPr>
          <p:cNvPr id="29" name="GATE_ROW_5_BG"/>
          <p:cNvSpPr/>
          <p:nvPr/>
        </p:nvSpPr>
        <p:spPr>
          <a:xfrm>
            <a:off x="629336" y="4373016"/>
            <a:ext cx="5457482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0" name="GATE_VENDOR_5"/>
          <p:cNvSpPr txBox="1"/>
          <p:nvPr/>
        </p:nvSpPr>
        <p:spPr>
          <a:xfrm>
            <a:off x="739064" y="4418736"/>
            <a:ext cx="1418367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050" b="1" i="0" dirty="0">
                <a:solidFill>
                  <a:srgbClr val="1A1A2E"/>
                </a:solidFill>
                <a:latin typeface="Open Sans" panose="020B0606030504020204" pitchFamily="34" charset="0"/>
              </a:rPr>
              <a:t>Vendor</a:t>
            </a:r>
          </a:p>
        </p:txBody>
      </p:sp>
      <p:sp>
        <p:nvSpPr>
          <p:cNvPr id="31" name="GATE_STATUS_5"/>
          <p:cNvSpPr txBox="1"/>
          <p:nvPr/>
        </p:nvSpPr>
        <p:spPr>
          <a:xfrm>
            <a:off x="2266581" y="4418736"/>
            <a:ext cx="545748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850" b="1" i="0" dirty="0">
                <a:solidFill>
                  <a:srgbClr val="44546A"/>
                </a:solidFill>
                <a:latin typeface="Open Sans" panose="020B0606030504020204" pitchFamily="34" charset="0"/>
              </a:rPr>
              <a:t>—</a:t>
            </a:r>
          </a:p>
        </p:txBody>
      </p:sp>
      <p:sp>
        <p:nvSpPr>
          <p:cNvPr id="32" name="GATE_REASON_5"/>
          <p:cNvSpPr txBox="1"/>
          <p:nvPr/>
        </p:nvSpPr>
        <p:spPr>
          <a:xfrm>
            <a:off x="2921478" y="4418736"/>
            <a:ext cx="316534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900" b="0" i="0" dirty="0">
                <a:solidFill>
                  <a:srgbClr val="44546A"/>
                </a:solidFill>
                <a:latin typeface="Open Sans" panose="020B0606030504020204" pitchFamily="34" charset="0"/>
              </a:rPr>
              <a:t>Requirement / source status</a:t>
            </a:r>
          </a:p>
        </p:txBody>
      </p:sp>
      <p:sp>
        <p:nvSpPr>
          <p:cNvPr id="33" name="COMPARISON_BG"/>
          <p:cNvSpPr/>
          <p:nvPr/>
        </p:nvSpPr>
        <p:spPr>
          <a:xfrm>
            <a:off x="6315418" y="2187600"/>
            <a:ext cx="5228881" cy="2660904"/>
          </a:xfrm>
          <a:prstGeom prst="roundRect">
            <a:avLst>
              <a:gd name="adj" fmla="val 8000"/>
            </a:avLst>
          </a:prstGeom>
          <a:solidFill>
            <a:srgbClr val="F8FAFB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4" name="SCORE_VENDOR_1"/>
          <p:cNvSpPr txBox="1"/>
          <p:nvPr/>
        </p:nvSpPr>
        <p:spPr>
          <a:xfrm>
            <a:off x="6461722" y="2297328"/>
            <a:ext cx="2377440" cy="2011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050" b="1" i="0" dirty="0">
                <a:solidFill>
                  <a:srgbClr val="1A1A2E"/>
                </a:solidFill>
                <a:latin typeface="Open Sans" panose="020B0606030504020204" pitchFamily="34" charset="0"/>
              </a:rPr>
              <a:t>Compliant bid</a:t>
            </a:r>
          </a:p>
        </p:txBody>
      </p:sp>
      <p:sp>
        <p:nvSpPr>
          <p:cNvPr id="35" name="SCORE_TRACK_1"/>
          <p:cNvSpPr/>
          <p:nvPr/>
        </p:nvSpPr>
        <p:spPr>
          <a:xfrm>
            <a:off x="6461722" y="2544216"/>
            <a:ext cx="3811561" cy="118872"/>
          </a:xfrm>
          <a:prstGeom prst="roundRect">
            <a:avLst>
              <a:gd name="adj" fmla="val 8000"/>
            </a:avLst>
          </a:prstGeom>
          <a:solidFill>
            <a:srgbClr val="C7CFD9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6" name="SCORE_BAR_1"/>
          <p:cNvSpPr/>
          <p:nvPr/>
        </p:nvSpPr>
        <p:spPr>
          <a:xfrm>
            <a:off x="6461722" y="2544216"/>
            <a:ext cx="2286937" cy="118872"/>
          </a:xfrm>
          <a:prstGeom prst="roundRect">
            <a:avLst>
              <a:gd name="adj" fmla="val 8000"/>
            </a:avLst>
          </a:prstGeom>
          <a:solidFill>
            <a:srgbClr val="003087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7" name="SCORE_VALUE_1"/>
          <p:cNvSpPr txBox="1"/>
          <p:nvPr/>
        </p:nvSpPr>
        <p:spPr>
          <a:xfrm>
            <a:off x="10319003" y="2498496"/>
            <a:ext cx="566928" cy="2011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/>
            <a:r>
              <a:rPr lang="en-US" sz="1050" b="1" i="0" dirty="0">
                <a:solidFill>
                  <a:srgbClr val="1A1A2E"/>
                </a:solidFill>
                <a:latin typeface="Open Sans" panose="020B0606030504020204" pitchFamily="34" charset="0"/>
              </a:rPr>
              <a:t>—</a:t>
            </a:r>
          </a:p>
        </p:txBody>
      </p:sp>
      <p:sp>
        <p:nvSpPr>
          <p:cNvPr id="38" name="SCORE_LABEL_1"/>
          <p:cNvSpPr txBox="1"/>
          <p:nvPr/>
        </p:nvSpPr>
        <p:spPr>
          <a:xfrm>
            <a:off x="6461722" y="2699664"/>
            <a:ext cx="4908841" cy="16459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850" b="0" i="0" dirty="0">
                <a:solidFill>
                  <a:srgbClr val="44546A"/>
                </a:solidFill>
                <a:latin typeface="Open Sans" panose="020B0606030504020204" pitchFamily="34" charset="0"/>
              </a:rPr>
              <a:t>Evaluated price / context</a:t>
            </a:r>
          </a:p>
        </p:txBody>
      </p:sp>
      <p:sp>
        <p:nvSpPr>
          <p:cNvPr id="39" name="SCORE_VENDOR_2"/>
          <p:cNvSpPr txBox="1"/>
          <p:nvPr/>
        </p:nvSpPr>
        <p:spPr>
          <a:xfrm>
            <a:off x="6461722" y="3138576"/>
            <a:ext cx="2377440" cy="2011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050" b="1" i="0" dirty="0">
                <a:solidFill>
                  <a:srgbClr val="1A1A2E"/>
                </a:solidFill>
                <a:latin typeface="Open Sans" panose="020B0606030504020204" pitchFamily="34" charset="0"/>
              </a:rPr>
              <a:t>Compliant bid</a:t>
            </a:r>
          </a:p>
        </p:txBody>
      </p:sp>
      <p:sp>
        <p:nvSpPr>
          <p:cNvPr id="40" name="SCORE_TRACK_2"/>
          <p:cNvSpPr/>
          <p:nvPr/>
        </p:nvSpPr>
        <p:spPr>
          <a:xfrm>
            <a:off x="6461722" y="3385464"/>
            <a:ext cx="3811561" cy="118872"/>
          </a:xfrm>
          <a:prstGeom prst="roundRect">
            <a:avLst>
              <a:gd name="adj" fmla="val 8000"/>
            </a:avLst>
          </a:prstGeom>
          <a:solidFill>
            <a:srgbClr val="C7CFD9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41" name="SCORE_BAR_2"/>
          <p:cNvSpPr/>
          <p:nvPr/>
        </p:nvSpPr>
        <p:spPr>
          <a:xfrm>
            <a:off x="6461722" y="3385464"/>
            <a:ext cx="1829549" cy="118872"/>
          </a:xfrm>
          <a:prstGeom prst="roundRect">
            <a:avLst>
              <a:gd name="adj" fmla="val 8000"/>
            </a:avLst>
          </a:prstGeom>
          <a:solidFill>
            <a:srgbClr val="003087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42" name="SCORE_VALUE_2"/>
          <p:cNvSpPr txBox="1"/>
          <p:nvPr/>
        </p:nvSpPr>
        <p:spPr>
          <a:xfrm>
            <a:off x="10319003" y="3339744"/>
            <a:ext cx="566928" cy="2011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/>
            <a:r>
              <a:rPr lang="en-US" sz="1050" b="1" i="0" dirty="0">
                <a:solidFill>
                  <a:srgbClr val="1A1A2E"/>
                </a:solidFill>
                <a:latin typeface="Open Sans" panose="020B0606030504020204" pitchFamily="34" charset="0"/>
              </a:rPr>
              <a:t>—</a:t>
            </a:r>
          </a:p>
        </p:txBody>
      </p:sp>
      <p:sp>
        <p:nvSpPr>
          <p:cNvPr id="43" name="SCORE_LABEL_2"/>
          <p:cNvSpPr txBox="1"/>
          <p:nvPr/>
        </p:nvSpPr>
        <p:spPr>
          <a:xfrm>
            <a:off x="6461722" y="3540912"/>
            <a:ext cx="4908841" cy="16459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850" b="0" i="0" dirty="0">
                <a:solidFill>
                  <a:srgbClr val="44546A"/>
                </a:solidFill>
                <a:latin typeface="Open Sans" panose="020B0606030504020204" pitchFamily="34" charset="0"/>
              </a:rPr>
              <a:t>Evaluated price / context</a:t>
            </a:r>
          </a:p>
        </p:txBody>
      </p:sp>
      <p:sp>
        <p:nvSpPr>
          <p:cNvPr id="44" name="SCORE_VENDOR_3"/>
          <p:cNvSpPr txBox="1"/>
          <p:nvPr/>
        </p:nvSpPr>
        <p:spPr>
          <a:xfrm>
            <a:off x="6461722" y="3979824"/>
            <a:ext cx="2377440" cy="2011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050" b="1" i="0" dirty="0">
                <a:solidFill>
                  <a:srgbClr val="1A1A2E"/>
                </a:solidFill>
                <a:latin typeface="Open Sans" panose="020B0606030504020204" pitchFamily="34" charset="0"/>
              </a:rPr>
              <a:t>Compliant bid</a:t>
            </a:r>
          </a:p>
        </p:txBody>
      </p:sp>
      <p:sp>
        <p:nvSpPr>
          <p:cNvPr id="45" name="SCORE_TRACK_3"/>
          <p:cNvSpPr/>
          <p:nvPr/>
        </p:nvSpPr>
        <p:spPr>
          <a:xfrm>
            <a:off x="6461722" y="4226712"/>
            <a:ext cx="3811561" cy="118872"/>
          </a:xfrm>
          <a:prstGeom prst="roundRect">
            <a:avLst>
              <a:gd name="adj" fmla="val 8000"/>
            </a:avLst>
          </a:prstGeom>
          <a:solidFill>
            <a:srgbClr val="C7CFD9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46" name="SCORE_BAR_3"/>
          <p:cNvSpPr/>
          <p:nvPr/>
        </p:nvSpPr>
        <p:spPr>
          <a:xfrm>
            <a:off x="6461722" y="4226712"/>
            <a:ext cx="1372162" cy="118872"/>
          </a:xfrm>
          <a:prstGeom prst="roundRect">
            <a:avLst>
              <a:gd name="adj" fmla="val 8000"/>
            </a:avLst>
          </a:prstGeom>
          <a:solidFill>
            <a:srgbClr val="003087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47" name="SCORE_VALUE_3"/>
          <p:cNvSpPr txBox="1"/>
          <p:nvPr/>
        </p:nvSpPr>
        <p:spPr>
          <a:xfrm>
            <a:off x="10319003" y="4180992"/>
            <a:ext cx="566928" cy="2011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/>
            <a:r>
              <a:rPr lang="en-US" sz="1050" b="1" i="0" dirty="0">
                <a:solidFill>
                  <a:srgbClr val="1A1A2E"/>
                </a:solidFill>
                <a:latin typeface="Open Sans" panose="020B0606030504020204" pitchFamily="34" charset="0"/>
              </a:rPr>
              <a:t>—</a:t>
            </a:r>
          </a:p>
        </p:txBody>
      </p:sp>
      <p:sp>
        <p:nvSpPr>
          <p:cNvPr id="48" name="SCORE_LABEL_3"/>
          <p:cNvSpPr txBox="1"/>
          <p:nvPr/>
        </p:nvSpPr>
        <p:spPr>
          <a:xfrm>
            <a:off x="6461722" y="4382160"/>
            <a:ext cx="4908841" cy="16459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850" b="0" i="0" dirty="0">
                <a:solidFill>
                  <a:srgbClr val="44546A"/>
                </a:solidFill>
                <a:latin typeface="Open Sans" panose="020B0606030504020204" pitchFamily="34" charset="0"/>
              </a:rPr>
              <a:t>Evaluated price / context</a:t>
            </a:r>
          </a:p>
        </p:txBody>
      </p:sp>
      <p:sp>
        <p:nvSpPr>
          <p:cNvPr id="49" name="DECISION_PANEL"/>
          <p:cNvSpPr/>
          <p:nvPr/>
        </p:nvSpPr>
        <p:spPr>
          <a:xfrm>
            <a:off x="629336" y="5013096"/>
            <a:ext cx="10914963" cy="530352"/>
          </a:xfrm>
          <a:prstGeom prst="roundRect">
            <a:avLst>
              <a:gd name="adj" fmla="val 8000"/>
            </a:avLst>
          </a:prstGeom>
          <a:solidFill>
            <a:srgbClr val="003087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50" name="DECISION"/>
          <p:cNvSpPr txBox="1"/>
          <p:nvPr/>
        </p:nvSpPr>
        <p:spPr>
          <a:xfrm>
            <a:off x="830504" y="5113680"/>
            <a:ext cx="10549203" cy="32918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en-US" sz="1400" b="1" i="0" dirty="0">
                <a:solidFill>
                  <a:srgbClr val="FFFFFF"/>
                </a:solidFill>
                <a:latin typeface="Open Sans" panose="020B0606030504020204" pitchFamily="34" charset="0"/>
              </a:rPr>
              <a:t>Approval or next action requested</a:t>
            </a:r>
          </a:p>
        </p:txBody>
      </p:sp>
      <p:sp>
        <p:nvSpPr>
          <p:cNvPr id="51" name="SOURCE_NOTES"/>
          <p:cNvSpPr txBox="1"/>
          <p:nvPr/>
        </p:nvSpPr>
        <p:spPr>
          <a:xfrm>
            <a:off x="629336" y="5689752"/>
            <a:ext cx="10914963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850" b="0" i="0" dirty="0">
                <a:solidFill>
                  <a:srgbClr val="44546A"/>
                </a:solidFill>
                <a:latin typeface="Open Sans" panose="020B0606030504020204" pitchFamily="34" charset="0"/>
              </a:rPr>
              <a:t>Sources: document ID and exact locator. Fictional training case; not organisational policy or Singapore procurement law.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gate_foc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629336" y="336000"/>
            <a:ext cx="10914963" cy="48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2400" b="1" i="0" dirty="0">
                <a:solidFill>
                  <a:srgbClr val="003087"/>
                </a:solidFill>
                <a:latin typeface="Open Sans" panose="020B0606030504020204" pitchFamily="34" charset="0"/>
              </a:rPr>
              <a:t>One clear decision headline</a:t>
            </a:r>
          </a:p>
        </p:txBody>
      </p:sp>
      <p:sp>
        <p:nvSpPr>
          <p:cNvPr id="3" name="AUDIENCE"/>
          <p:cNvSpPr txBox="1"/>
          <p:nvPr/>
        </p:nvSpPr>
        <p:spPr>
          <a:xfrm>
            <a:off x="629336" y="852576"/>
            <a:ext cx="10914963" cy="2011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000" b="1" i="0" dirty="0">
                <a:solidFill>
                  <a:srgbClr val="44546A"/>
                </a:solidFill>
                <a:latin typeface="Open Sans" panose="020B0606030504020204" pitchFamily="34" charset="0"/>
              </a:rPr>
              <a:t>Audience / decision owner</a:t>
            </a:r>
          </a:p>
        </p:txBody>
      </p:sp>
      <p:sp>
        <p:nvSpPr>
          <p:cNvPr id="4" name="RECOMMENDATION_PANEL"/>
          <p:cNvSpPr/>
          <p:nvPr/>
        </p:nvSpPr>
        <p:spPr>
          <a:xfrm>
            <a:off x="629336" y="1090320"/>
            <a:ext cx="10914963" cy="566928"/>
          </a:xfrm>
          <a:prstGeom prst="roundRect">
            <a:avLst>
              <a:gd name="adj" fmla="val 8000"/>
            </a:avLst>
          </a:prstGeom>
          <a:solidFill>
            <a:srgbClr val="E7E6E6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5" name="RECOMMENDATION_ACCENT"/>
          <p:cNvSpPr/>
          <p:nvPr/>
        </p:nvSpPr>
        <p:spPr>
          <a:xfrm>
            <a:off x="629336" y="1090320"/>
            <a:ext cx="82296" cy="566928"/>
          </a:xfrm>
          <a:prstGeom prst="rect">
            <a:avLst/>
          </a:prstGeom>
          <a:solidFill>
            <a:srgbClr val="FF672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" name="RECOMMENDATION"/>
          <p:cNvSpPr txBox="1"/>
          <p:nvPr/>
        </p:nvSpPr>
        <p:spPr>
          <a:xfrm>
            <a:off x="830504" y="1163472"/>
            <a:ext cx="10549203" cy="42062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en-US" sz="1500" b="1" i="0" dirty="0">
                <a:solidFill>
                  <a:srgbClr val="1A1A2E"/>
                </a:solidFill>
                <a:latin typeface="Open Sans" panose="020B0606030504020204" pitchFamily="34" charset="0"/>
              </a:rPr>
              <a:t>Recommendation statement, based on verified evidence</a:t>
            </a:r>
          </a:p>
        </p:txBody>
      </p:sp>
      <p:sp>
        <p:nvSpPr>
          <p:cNvPr id="7" name="GATE_TABLE"/>
          <p:cNvSpPr txBox="1"/>
          <p:nvPr/>
        </p:nvSpPr>
        <p:spPr>
          <a:xfrm>
            <a:off x="629336" y="1858416"/>
            <a:ext cx="6767277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250" b="1" i="0" dirty="0">
                <a:solidFill>
                  <a:srgbClr val="003087"/>
                </a:solidFill>
                <a:latin typeface="Open Sans" panose="020B0606030504020204" pitchFamily="34" charset="0"/>
              </a:rPr>
              <a:t>MANDATORY COMPLIANCE</a:t>
            </a:r>
          </a:p>
        </p:txBody>
      </p:sp>
      <p:sp>
        <p:nvSpPr>
          <p:cNvPr id="8" name="COMPARISON_CHART"/>
          <p:cNvSpPr txBox="1"/>
          <p:nvPr/>
        </p:nvSpPr>
        <p:spPr>
          <a:xfrm>
            <a:off x="7625213" y="1858416"/>
            <a:ext cx="3919086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250" b="1" i="0" dirty="0">
                <a:solidFill>
                  <a:srgbClr val="003087"/>
                </a:solidFill>
                <a:latin typeface="Open Sans" panose="020B0606030504020204" pitchFamily="34" charset="0"/>
              </a:rPr>
              <a:t>SCORES AFTER GATE</a:t>
            </a:r>
          </a:p>
        </p:txBody>
      </p:sp>
      <p:sp>
        <p:nvSpPr>
          <p:cNvPr id="9" name="GATE_HEADER_BG"/>
          <p:cNvSpPr/>
          <p:nvPr/>
        </p:nvSpPr>
        <p:spPr>
          <a:xfrm>
            <a:off x="629336" y="2187600"/>
            <a:ext cx="6767277" cy="237744"/>
          </a:xfrm>
          <a:prstGeom prst="rect">
            <a:avLst/>
          </a:prstGeom>
          <a:solidFill>
            <a:srgbClr val="E7E6E6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0" name="GATE_VENDOR_HEADER"/>
          <p:cNvSpPr txBox="1"/>
          <p:nvPr/>
        </p:nvSpPr>
        <p:spPr>
          <a:xfrm>
            <a:off x="739064" y="2215032"/>
            <a:ext cx="1894838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850" b="1" i="0" dirty="0">
                <a:solidFill>
                  <a:srgbClr val="44546A"/>
                </a:solidFill>
                <a:latin typeface="Open Sans" panose="020B0606030504020204" pitchFamily="34" charset="0"/>
              </a:rPr>
              <a:t>VENDOR</a:t>
            </a:r>
          </a:p>
        </p:txBody>
      </p:sp>
      <p:sp>
        <p:nvSpPr>
          <p:cNvPr id="11" name="GATE_STATUS_HEADER"/>
          <p:cNvSpPr txBox="1"/>
          <p:nvPr/>
        </p:nvSpPr>
        <p:spPr>
          <a:xfrm>
            <a:off x="2659519" y="2215032"/>
            <a:ext cx="676728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850" b="1" i="0" dirty="0">
                <a:solidFill>
                  <a:srgbClr val="44546A"/>
                </a:solidFill>
                <a:latin typeface="Open Sans" panose="020B0606030504020204" pitchFamily="34" charset="0"/>
              </a:rPr>
              <a:t>GATE</a:t>
            </a:r>
          </a:p>
        </p:txBody>
      </p:sp>
      <p:sp>
        <p:nvSpPr>
          <p:cNvPr id="12" name="GATE_REASON_HEADER"/>
          <p:cNvSpPr txBox="1"/>
          <p:nvPr/>
        </p:nvSpPr>
        <p:spPr>
          <a:xfrm>
            <a:off x="3471592" y="2215032"/>
            <a:ext cx="3925021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850" b="1" i="0" dirty="0">
                <a:solidFill>
                  <a:srgbClr val="44546A"/>
                </a:solidFill>
                <a:latin typeface="Open Sans" panose="020B0606030504020204" pitchFamily="34" charset="0"/>
              </a:rPr>
              <a:t>DECISIVE BASIS</a:t>
            </a:r>
          </a:p>
        </p:txBody>
      </p:sp>
      <p:sp>
        <p:nvSpPr>
          <p:cNvPr id="13" name="GATE_ROW_1_BG"/>
          <p:cNvSpPr/>
          <p:nvPr/>
        </p:nvSpPr>
        <p:spPr>
          <a:xfrm>
            <a:off x="629336" y="2471064"/>
            <a:ext cx="6767277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4" name="GATE_VENDOR_1"/>
          <p:cNvSpPr txBox="1"/>
          <p:nvPr/>
        </p:nvSpPr>
        <p:spPr>
          <a:xfrm>
            <a:off x="739064" y="2516784"/>
            <a:ext cx="178511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050" b="1" i="0" dirty="0">
                <a:solidFill>
                  <a:srgbClr val="1A1A2E"/>
                </a:solidFill>
                <a:latin typeface="Open Sans" panose="020B0606030504020204" pitchFamily="34" charset="0"/>
              </a:rPr>
              <a:t>Vendor</a:t>
            </a:r>
          </a:p>
        </p:txBody>
      </p:sp>
      <p:sp>
        <p:nvSpPr>
          <p:cNvPr id="15" name="GATE_STATUS_1"/>
          <p:cNvSpPr txBox="1"/>
          <p:nvPr/>
        </p:nvSpPr>
        <p:spPr>
          <a:xfrm>
            <a:off x="2659519" y="2516784"/>
            <a:ext cx="676728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850" b="1" i="0" dirty="0">
                <a:solidFill>
                  <a:srgbClr val="44546A"/>
                </a:solidFill>
                <a:latin typeface="Open Sans" panose="020B0606030504020204" pitchFamily="34" charset="0"/>
              </a:rPr>
              <a:t>—</a:t>
            </a:r>
          </a:p>
        </p:txBody>
      </p:sp>
      <p:sp>
        <p:nvSpPr>
          <p:cNvPr id="16" name="GATE_REASON_1"/>
          <p:cNvSpPr txBox="1"/>
          <p:nvPr/>
        </p:nvSpPr>
        <p:spPr>
          <a:xfrm>
            <a:off x="3471592" y="2516784"/>
            <a:ext cx="3925021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900" b="0" i="0" dirty="0">
                <a:solidFill>
                  <a:srgbClr val="44546A"/>
                </a:solidFill>
                <a:latin typeface="Open Sans" panose="020B0606030504020204" pitchFamily="34" charset="0"/>
              </a:rPr>
              <a:t>Requirement / source status</a:t>
            </a:r>
          </a:p>
        </p:txBody>
      </p:sp>
      <p:sp>
        <p:nvSpPr>
          <p:cNvPr id="17" name="GATE_ROW_2_BG"/>
          <p:cNvSpPr/>
          <p:nvPr/>
        </p:nvSpPr>
        <p:spPr>
          <a:xfrm>
            <a:off x="629336" y="2946552"/>
            <a:ext cx="6767277" cy="4572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8" name="GATE_VENDOR_2"/>
          <p:cNvSpPr txBox="1"/>
          <p:nvPr/>
        </p:nvSpPr>
        <p:spPr>
          <a:xfrm>
            <a:off x="739064" y="2992272"/>
            <a:ext cx="178511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050" b="1" i="0" dirty="0">
                <a:solidFill>
                  <a:srgbClr val="1A1A2E"/>
                </a:solidFill>
                <a:latin typeface="Open Sans" panose="020B0606030504020204" pitchFamily="34" charset="0"/>
              </a:rPr>
              <a:t>Vendor</a:t>
            </a:r>
          </a:p>
        </p:txBody>
      </p:sp>
      <p:sp>
        <p:nvSpPr>
          <p:cNvPr id="19" name="GATE_STATUS_2"/>
          <p:cNvSpPr txBox="1"/>
          <p:nvPr/>
        </p:nvSpPr>
        <p:spPr>
          <a:xfrm>
            <a:off x="2659519" y="2992272"/>
            <a:ext cx="676728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850" b="1" i="0" dirty="0">
                <a:solidFill>
                  <a:srgbClr val="44546A"/>
                </a:solidFill>
                <a:latin typeface="Open Sans" panose="020B0606030504020204" pitchFamily="34" charset="0"/>
              </a:rPr>
              <a:t>—</a:t>
            </a:r>
          </a:p>
        </p:txBody>
      </p:sp>
      <p:sp>
        <p:nvSpPr>
          <p:cNvPr id="20" name="GATE_REASON_2"/>
          <p:cNvSpPr txBox="1"/>
          <p:nvPr/>
        </p:nvSpPr>
        <p:spPr>
          <a:xfrm>
            <a:off x="3471592" y="2992272"/>
            <a:ext cx="3925021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900" b="0" i="0" dirty="0">
                <a:solidFill>
                  <a:srgbClr val="44546A"/>
                </a:solidFill>
                <a:latin typeface="Open Sans" panose="020B0606030504020204" pitchFamily="34" charset="0"/>
              </a:rPr>
              <a:t>Requirement / source status</a:t>
            </a:r>
          </a:p>
        </p:txBody>
      </p:sp>
      <p:sp>
        <p:nvSpPr>
          <p:cNvPr id="21" name="GATE_ROW_3_BG"/>
          <p:cNvSpPr/>
          <p:nvPr/>
        </p:nvSpPr>
        <p:spPr>
          <a:xfrm>
            <a:off x="629336" y="3422040"/>
            <a:ext cx="6767277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2" name="GATE_VENDOR_3"/>
          <p:cNvSpPr txBox="1"/>
          <p:nvPr/>
        </p:nvSpPr>
        <p:spPr>
          <a:xfrm>
            <a:off x="739064" y="3467760"/>
            <a:ext cx="178511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050" b="1" i="0" dirty="0">
                <a:solidFill>
                  <a:srgbClr val="1A1A2E"/>
                </a:solidFill>
                <a:latin typeface="Open Sans" panose="020B0606030504020204" pitchFamily="34" charset="0"/>
              </a:rPr>
              <a:t>Vendor</a:t>
            </a:r>
          </a:p>
        </p:txBody>
      </p:sp>
      <p:sp>
        <p:nvSpPr>
          <p:cNvPr id="23" name="GATE_STATUS_3"/>
          <p:cNvSpPr txBox="1"/>
          <p:nvPr/>
        </p:nvSpPr>
        <p:spPr>
          <a:xfrm>
            <a:off x="2659519" y="3467760"/>
            <a:ext cx="676728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850" b="1" i="0" dirty="0">
                <a:solidFill>
                  <a:srgbClr val="44546A"/>
                </a:solidFill>
                <a:latin typeface="Open Sans" panose="020B0606030504020204" pitchFamily="34" charset="0"/>
              </a:rPr>
              <a:t>—</a:t>
            </a:r>
          </a:p>
        </p:txBody>
      </p:sp>
      <p:sp>
        <p:nvSpPr>
          <p:cNvPr id="24" name="GATE_REASON_3"/>
          <p:cNvSpPr txBox="1"/>
          <p:nvPr/>
        </p:nvSpPr>
        <p:spPr>
          <a:xfrm>
            <a:off x="3471592" y="3467760"/>
            <a:ext cx="3925021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900" b="0" i="0" dirty="0">
                <a:solidFill>
                  <a:srgbClr val="44546A"/>
                </a:solidFill>
                <a:latin typeface="Open Sans" panose="020B0606030504020204" pitchFamily="34" charset="0"/>
              </a:rPr>
              <a:t>Requirement / source status</a:t>
            </a:r>
          </a:p>
        </p:txBody>
      </p:sp>
      <p:sp>
        <p:nvSpPr>
          <p:cNvPr id="25" name="GATE_ROW_4_BG"/>
          <p:cNvSpPr/>
          <p:nvPr/>
        </p:nvSpPr>
        <p:spPr>
          <a:xfrm>
            <a:off x="629336" y="3897528"/>
            <a:ext cx="6767277" cy="4572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6" name="GATE_VENDOR_4"/>
          <p:cNvSpPr txBox="1"/>
          <p:nvPr/>
        </p:nvSpPr>
        <p:spPr>
          <a:xfrm>
            <a:off x="739064" y="3943248"/>
            <a:ext cx="178511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050" b="1" i="0" dirty="0">
                <a:solidFill>
                  <a:srgbClr val="1A1A2E"/>
                </a:solidFill>
                <a:latin typeface="Open Sans" panose="020B0606030504020204" pitchFamily="34" charset="0"/>
              </a:rPr>
              <a:t>Vendor</a:t>
            </a:r>
          </a:p>
        </p:txBody>
      </p:sp>
      <p:sp>
        <p:nvSpPr>
          <p:cNvPr id="27" name="GATE_STATUS_4"/>
          <p:cNvSpPr txBox="1"/>
          <p:nvPr/>
        </p:nvSpPr>
        <p:spPr>
          <a:xfrm>
            <a:off x="2659519" y="3943248"/>
            <a:ext cx="676728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850" b="1" i="0" dirty="0">
                <a:solidFill>
                  <a:srgbClr val="44546A"/>
                </a:solidFill>
                <a:latin typeface="Open Sans" panose="020B0606030504020204" pitchFamily="34" charset="0"/>
              </a:rPr>
              <a:t>—</a:t>
            </a:r>
          </a:p>
        </p:txBody>
      </p:sp>
      <p:sp>
        <p:nvSpPr>
          <p:cNvPr id="28" name="GATE_REASON_4"/>
          <p:cNvSpPr txBox="1"/>
          <p:nvPr/>
        </p:nvSpPr>
        <p:spPr>
          <a:xfrm>
            <a:off x="3471592" y="3943248"/>
            <a:ext cx="3925021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900" b="0" i="0" dirty="0">
                <a:solidFill>
                  <a:srgbClr val="44546A"/>
                </a:solidFill>
                <a:latin typeface="Open Sans" panose="020B0606030504020204" pitchFamily="34" charset="0"/>
              </a:rPr>
              <a:t>Requirement / source status</a:t>
            </a:r>
          </a:p>
        </p:txBody>
      </p:sp>
      <p:sp>
        <p:nvSpPr>
          <p:cNvPr id="29" name="GATE_ROW_5_BG"/>
          <p:cNvSpPr/>
          <p:nvPr/>
        </p:nvSpPr>
        <p:spPr>
          <a:xfrm>
            <a:off x="629336" y="4373016"/>
            <a:ext cx="6767277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0" name="GATE_VENDOR_5"/>
          <p:cNvSpPr txBox="1"/>
          <p:nvPr/>
        </p:nvSpPr>
        <p:spPr>
          <a:xfrm>
            <a:off x="739064" y="4418736"/>
            <a:ext cx="178511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050" b="1" i="0" dirty="0">
                <a:solidFill>
                  <a:srgbClr val="1A1A2E"/>
                </a:solidFill>
                <a:latin typeface="Open Sans" panose="020B0606030504020204" pitchFamily="34" charset="0"/>
              </a:rPr>
              <a:t>Vendor</a:t>
            </a:r>
          </a:p>
        </p:txBody>
      </p:sp>
      <p:sp>
        <p:nvSpPr>
          <p:cNvPr id="31" name="GATE_STATUS_5"/>
          <p:cNvSpPr txBox="1"/>
          <p:nvPr/>
        </p:nvSpPr>
        <p:spPr>
          <a:xfrm>
            <a:off x="2659519" y="4418736"/>
            <a:ext cx="676728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850" b="1" i="0" dirty="0">
                <a:solidFill>
                  <a:srgbClr val="44546A"/>
                </a:solidFill>
                <a:latin typeface="Open Sans" panose="020B0606030504020204" pitchFamily="34" charset="0"/>
              </a:rPr>
              <a:t>—</a:t>
            </a:r>
          </a:p>
        </p:txBody>
      </p:sp>
      <p:sp>
        <p:nvSpPr>
          <p:cNvPr id="32" name="GATE_REASON_5"/>
          <p:cNvSpPr txBox="1"/>
          <p:nvPr/>
        </p:nvSpPr>
        <p:spPr>
          <a:xfrm>
            <a:off x="3471592" y="4418736"/>
            <a:ext cx="3925021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900" b="0" i="0" dirty="0">
                <a:solidFill>
                  <a:srgbClr val="44546A"/>
                </a:solidFill>
                <a:latin typeface="Open Sans" panose="020B0606030504020204" pitchFamily="34" charset="0"/>
              </a:rPr>
              <a:t>Requirement / source status</a:t>
            </a:r>
          </a:p>
        </p:txBody>
      </p:sp>
      <p:sp>
        <p:nvSpPr>
          <p:cNvPr id="33" name="COMPARISON_BG"/>
          <p:cNvSpPr/>
          <p:nvPr/>
        </p:nvSpPr>
        <p:spPr>
          <a:xfrm>
            <a:off x="7625213" y="2187600"/>
            <a:ext cx="3919086" cy="2660904"/>
          </a:xfrm>
          <a:prstGeom prst="roundRect">
            <a:avLst>
              <a:gd name="adj" fmla="val 8000"/>
            </a:avLst>
          </a:prstGeom>
          <a:solidFill>
            <a:srgbClr val="F8FAFB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4" name="SCORE_VENDOR_1"/>
          <p:cNvSpPr txBox="1"/>
          <p:nvPr/>
        </p:nvSpPr>
        <p:spPr>
          <a:xfrm>
            <a:off x="7771517" y="2297328"/>
            <a:ext cx="2377440" cy="2011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050" b="1" i="0" dirty="0">
                <a:solidFill>
                  <a:srgbClr val="1A1A2E"/>
                </a:solidFill>
                <a:latin typeface="Open Sans" panose="020B0606030504020204" pitchFamily="34" charset="0"/>
              </a:rPr>
              <a:t>Compliant bid</a:t>
            </a:r>
          </a:p>
        </p:txBody>
      </p:sp>
      <p:sp>
        <p:nvSpPr>
          <p:cNvPr id="35" name="SCORE_TRACK_1"/>
          <p:cNvSpPr/>
          <p:nvPr/>
        </p:nvSpPr>
        <p:spPr>
          <a:xfrm>
            <a:off x="7771517" y="2544216"/>
            <a:ext cx="2501766" cy="118872"/>
          </a:xfrm>
          <a:prstGeom prst="roundRect">
            <a:avLst>
              <a:gd name="adj" fmla="val 8000"/>
            </a:avLst>
          </a:prstGeom>
          <a:solidFill>
            <a:srgbClr val="C7CFD9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6" name="SCORE_BAR_1"/>
          <p:cNvSpPr/>
          <p:nvPr/>
        </p:nvSpPr>
        <p:spPr>
          <a:xfrm>
            <a:off x="7771517" y="2544216"/>
            <a:ext cx="1501060" cy="118872"/>
          </a:xfrm>
          <a:prstGeom prst="roundRect">
            <a:avLst>
              <a:gd name="adj" fmla="val 8000"/>
            </a:avLst>
          </a:prstGeom>
          <a:solidFill>
            <a:srgbClr val="FF672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7" name="SCORE_VALUE_1"/>
          <p:cNvSpPr txBox="1"/>
          <p:nvPr/>
        </p:nvSpPr>
        <p:spPr>
          <a:xfrm>
            <a:off x="10319003" y="2498496"/>
            <a:ext cx="566928" cy="2011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/>
            <a:r>
              <a:rPr lang="en-US" sz="1050" b="1" i="0" dirty="0">
                <a:solidFill>
                  <a:srgbClr val="1A1A2E"/>
                </a:solidFill>
                <a:latin typeface="Open Sans" panose="020B0606030504020204" pitchFamily="34" charset="0"/>
              </a:rPr>
              <a:t>—</a:t>
            </a:r>
          </a:p>
        </p:txBody>
      </p:sp>
      <p:sp>
        <p:nvSpPr>
          <p:cNvPr id="38" name="SCORE_LABEL_1"/>
          <p:cNvSpPr txBox="1"/>
          <p:nvPr/>
        </p:nvSpPr>
        <p:spPr>
          <a:xfrm>
            <a:off x="7771517" y="2699664"/>
            <a:ext cx="3599046" cy="16459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850" b="0" i="0" dirty="0">
                <a:solidFill>
                  <a:srgbClr val="44546A"/>
                </a:solidFill>
                <a:latin typeface="Open Sans" panose="020B0606030504020204" pitchFamily="34" charset="0"/>
              </a:rPr>
              <a:t>Evaluated price / context</a:t>
            </a:r>
          </a:p>
        </p:txBody>
      </p:sp>
      <p:sp>
        <p:nvSpPr>
          <p:cNvPr id="39" name="SCORE_VENDOR_2"/>
          <p:cNvSpPr txBox="1"/>
          <p:nvPr/>
        </p:nvSpPr>
        <p:spPr>
          <a:xfrm>
            <a:off x="7771517" y="3138576"/>
            <a:ext cx="2377440" cy="2011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050" b="1" i="0" dirty="0">
                <a:solidFill>
                  <a:srgbClr val="1A1A2E"/>
                </a:solidFill>
                <a:latin typeface="Open Sans" panose="020B0606030504020204" pitchFamily="34" charset="0"/>
              </a:rPr>
              <a:t>Compliant bid</a:t>
            </a:r>
          </a:p>
        </p:txBody>
      </p:sp>
      <p:sp>
        <p:nvSpPr>
          <p:cNvPr id="40" name="SCORE_TRACK_2"/>
          <p:cNvSpPr/>
          <p:nvPr/>
        </p:nvSpPr>
        <p:spPr>
          <a:xfrm>
            <a:off x="7771517" y="3385464"/>
            <a:ext cx="2501766" cy="118872"/>
          </a:xfrm>
          <a:prstGeom prst="roundRect">
            <a:avLst>
              <a:gd name="adj" fmla="val 8000"/>
            </a:avLst>
          </a:prstGeom>
          <a:solidFill>
            <a:srgbClr val="C7CFD9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41" name="SCORE_BAR_2"/>
          <p:cNvSpPr/>
          <p:nvPr/>
        </p:nvSpPr>
        <p:spPr>
          <a:xfrm>
            <a:off x="7771517" y="3385464"/>
            <a:ext cx="1200848" cy="118872"/>
          </a:xfrm>
          <a:prstGeom prst="roundRect">
            <a:avLst>
              <a:gd name="adj" fmla="val 8000"/>
            </a:avLst>
          </a:prstGeom>
          <a:solidFill>
            <a:srgbClr val="FF672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42" name="SCORE_VALUE_2"/>
          <p:cNvSpPr txBox="1"/>
          <p:nvPr/>
        </p:nvSpPr>
        <p:spPr>
          <a:xfrm>
            <a:off x="10319003" y="3339744"/>
            <a:ext cx="566928" cy="2011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/>
            <a:r>
              <a:rPr lang="en-US" sz="1050" b="1" i="0" dirty="0">
                <a:solidFill>
                  <a:srgbClr val="1A1A2E"/>
                </a:solidFill>
                <a:latin typeface="Open Sans" panose="020B0606030504020204" pitchFamily="34" charset="0"/>
              </a:rPr>
              <a:t>—</a:t>
            </a:r>
          </a:p>
        </p:txBody>
      </p:sp>
      <p:sp>
        <p:nvSpPr>
          <p:cNvPr id="43" name="SCORE_LABEL_2"/>
          <p:cNvSpPr txBox="1"/>
          <p:nvPr/>
        </p:nvSpPr>
        <p:spPr>
          <a:xfrm>
            <a:off x="7771517" y="3540912"/>
            <a:ext cx="3599046" cy="16459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850" b="0" i="0" dirty="0">
                <a:solidFill>
                  <a:srgbClr val="44546A"/>
                </a:solidFill>
                <a:latin typeface="Open Sans" panose="020B0606030504020204" pitchFamily="34" charset="0"/>
              </a:rPr>
              <a:t>Evaluated price / context</a:t>
            </a:r>
          </a:p>
        </p:txBody>
      </p:sp>
      <p:sp>
        <p:nvSpPr>
          <p:cNvPr id="44" name="SCORE_VENDOR_3"/>
          <p:cNvSpPr txBox="1"/>
          <p:nvPr/>
        </p:nvSpPr>
        <p:spPr>
          <a:xfrm>
            <a:off x="7771517" y="3979824"/>
            <a:ext cx="2377440" cy="2011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050" b="1" i="0" dirty="0">
                <a:solidFill>
                  <a:srgbClr val="1A1A2E"/>
                </a:solidFill>
                <a:latin typeface="Open Sans" panose="020B0606030504020204" pitchFamily="34" charset="0"/>
              </a:rPr>
              <a:t>Compliant bid</a:t>
            </a:r>
          </a:p>
        </p:txBody>
      </p:sp>
      <p:sp>
        <p:nvSpPr>
          <p:cNvPr id="45" name="SCORE_TRACK_3"/>
          <p:cNvSpPr/>
          <p:nvPr/>
        </p:nvSpPr>
        <p:spPr>
          <a:xfrm>
            <a:off x="7771517" y="4226712"/>
            <a:ext cx="2501766" cy="118872"/>
          </a:xfrm>
          <a:prstGeom prst="roundRect">
            <a:avLst>
              <a:gd name="adj" fmla="val 8000"/>
            </a:avLst>
          </a:prstGeom>
          <a:solidFill>
            <a:srgbClr val="C7CFD9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46" name="SCORE_BAR_3"/>
          <p:cNvSpPr/>
          <p:nvPr/>
        </p:nvSpPr>
        <p:spPr>
          <a:xfrm>
            <a:off x="7771517" y="4226712"/>
            <a:ext cx="900636" cy="118872"/>
          </a:xfrm>
          <a:prstGeom prst="roundRect">
            <a:avLst>
              <a:gd name="adj" fmla="val 8000"/>
            </a:avLst>
          </a:prstGeom>
          <a:solidFill>
            <a:srgbClr val="FF672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47" name="SCORE_VALUE_3"/>
          <p:cNvSpPr txBox="1"/>
          <p:nvPr/>
        </p:nvSpPr>
        <p:spPr>
          <a:xfrm>
            <a:off x="10319003" y="4180992"/>
            <a:ext cx="566928" cy="2011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/>
            <a:r>
              <a:rPr lang="en-US" sz="1050" b="1" i="0" dirty="0">
                <a:solidFill>
                  <a:srgbClr val="1A1A2E"/>
                </a:solidFill>
                <a:latin typeface="Open Sans" panose="020B0606030504020204" pitchFamily="34" charset="0"/>
              </a:rPr>
              <a:t>—</a:t>
            </a:r>
          </a:p>
        </p:txBody>
      </p:sp>
      <p:sp>
        <p:nvSpPr>
          <p:cNvPr id="48" name="SCORE_LABEL_3"/>
          <p:cNvSpPr txBox="1"/>
          <p:nvPr/>
        </p:nvSpPr>
        <p:spPr>
          <a:xfrm>
            <a:off x="7771517" y="4382160"/>
            <a:ext cx="3599046" cy="16459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850" b="0" i="0" dirty="0">
                <a:solidFill>
                  <a:srgbClr val="44546A"/>
                </a:solidFill>
                <a:latin typeface="Open Sans" panose="020B0606030504020204" pitchFamily="34" charset="0"/>
              </a:rPr>
              <a:t>Evaluated price / context</a:t>
            </a:r>
          </a:p>
        </p:txBody>
      </p:sp>
      <p:sp>
        <p:nvSpPr>
          <p:cNvPr id="49" name="DECISION_PANEL"/>
          <p:cNvSpPr/>
          <p:nvPr/>
        </p:nvSpPr>
        <p:spPr>
          <a:xfrm>
            <a:off x="629336" y="5013096"/>
            <a:ext cx="10914963" cy="530352"/>
          </a:xfrm>
          <a:prstGeom prst="roundRect">
            <a:avLst>
              <a:gd name="adj" fmla="val 8000"/>
            </a:avLst>
          </a:prstGeom>
          <a:solidFill>
            <a:srgbClr val="003087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50" name="DECISION"/>
          <p:cNvSpPr txBox="1"/>
          <p:nvPr/>
        </p:nvSpPr>
        <p:spPr>
          <a:xfrm>
            <a:off x="830504" y="5113680"/>
            <a:ext cx="10549203" cy="32918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en-US" sz="1400" b="1" i="0" dirty="0">
                <a:solidFill>
                  <a:srgbClr val="FFFFFF"/>
                </a:solidFill>
                <a:latin typeface="Open Sans" panose="020B0606030504020204" pitchFamily="34" charset="0"/>
              </a:rPr>
              <a:t>Approval or next action requested</a:t>
            </a:r>
          </a:p>
        </p:txBody>
      </p:sp>
      <p:sp>
        <p:nvSpPr>
          <p:cNvPr id="51" name="SOURCE_NOTES"/>
          <p:cNvSpPr txBox="1"/>
          <p:nvPr/>
        </p:nvSpPr>
        <p:spPr>
          <a:xfrm>
            <a:off x="629336" y="5689752"/>
            <a:ext cx="10914963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850" b="0" i="0" dirty="0">
                <a:solidFill>
                  <a:srgbClr val="44546A"/>
                </a:solidFill>
                <a:latin typeface="Open Sans" panose="020B0606030504020204" pitchFamily="34" charset="0"/>
              </a:rPr>
              <a:t>Sources: document ID and exact locator. Fictional training case; not organisational policy or Singapore procurement law.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con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628332" y="339452"/>
            <a:ext cx="10080000" cy="48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2400" b="1" i="0" dirty="0">
                <a:solidFill>
                  <a:srgbClr val="003087"/>
                </a:solidFill>
                <a:latin typeface="Open Sans" panose="020B0606030504020204" pitchFamily="34" charset="0"/>
              </a:rPr>
              <a:t>One clear decision headline</a:t>
            </a:r>
          </a:p>
        </p:txBody>
      </p:sp>
      <p:sp>
        <p:nvSpPr>
          <p:cNvPr id="3" name="AUDIENCE"/>
          <p:cNvSpPr txBox="1"/>
          <p:nvPr/>
        </p:nvSpPr>
        <p:spPr>
          <a:xfrm>
            <a:off x="628332" y="856028"/>
            <a:ext cx="10080000" cy="2011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000" b="1" i="0" dirty="0">
                <a:solidFill>
                  <a:srgbClr val="44546A"/>
                </a:solidFill>
                <a:latin typeface="Open Sans" panose="020B0606030504020204" pitchFamily="34" charset="0"/>
              </a:rPr>
              <a:t>Audience / decision owner</a:t>
            </a:r>
          </a:p>
        </p:txBody>
      </p:sp>
      <p:sp>
        <p:nvSpPr>
          <p:cNvPr id="4" name="PROBLEM"/>
          <p:cNvSpPr txBox="1"/>
          <p:nvPr/>
        </p:nvSpPr>
        <p:spPr>
          <a:xfrm>
            <a:off x="628335" y="1075484"/>
            <a:ext cx="10079999" cy="8686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300" b="0" i="0" dirty="0">
                <a:solidFill>
                  <a:srgbClr val="1A1A2E"/>
                </a:solidFill>
                <a:latin typeface="Open Sans" panose="020B0606030504020204" pitchFamily="34" charset="0"/>
              </a:rPr>
              <a:t>The procurement problem this evaluation must resolve, in one paragraph.</a:t>
            </a:r>
          </a:p>
        </p:txBody>
      </p:sp>
      <p:sp>
        <p:nvSpPr>
          <p:cNvPr id="5" name="GATES_HEADER"/>
          <p:cNvSpPr txBox="1"/>
          <p:nvPr/>
        </p:nvSpPr>
        <p:spPr>
          <a:xfrm>
            <a:off x="628335" y="2145332"/>
            <a:ext cx="6051175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150" b="1" i="0" dirty="0">
                <a:solidFill>
                  <a:srgbClr val="003087"/>
                </a:solidFill>
                <a:latin typeface="Open Sans" panose="020B0606030504020204" pitchFamily="34" charset="0"/>
              </a:rPr>
              <a:t>MANDATORY GATES (M1–M7)</a:t>
            </a:r>
          </a:p>
        </p:txBody>
      </p:sp>
      <p:sp>
        <p:nvSpPr>
          <p:cNvPr id="6" name="CRITERIA_HEADER"/>
          <p:cNvSpPr txBox="1"/>
          <p:nvPr/>
        </p:nvSpPr>
        <p:spPr>
          <a:xfrm>
            <a:off x="6999550" y="2145332"/>
            <a:ext cx="3708784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150" b="1" i="0" dirty="0">
                <a:solidFill>
                  <a:srgbClr val="003087"/>
                </a:solidFill>
                <a:latin typeface="Open Sans" panose="020B0606030504020204" pitchFamily="34" charset="0"/>
              </a:rPr>
              <a:t>WEIGHTED SCORING CRITERIA</a:t>
            </a:r>
          </a:p>
        </p:txBody>
      </p:sp>
      <p:sp>
        <p:nvSpPr>
          <p:cNvPr id="7" name="GATE_LINE_1"/>
          <p:cNvSpPr txBox="1"/>
          <p:nvPr/>
        </p:nvSpPr>
        <p:spPr>
          <a:xfrm>
            <a:off x="628335" y="2419652"/>
            <a:ext cx="6051175" cy="38404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950" b="0" i="0" dirty="0">
                <a:solidFill>
                  <a:srgbClr val="1A1A2E"/>
                </a:solidFill>
                <a:latin typeface="Open Sans" panose="020B0606030504020204" pitchFamily="34" charset="0"/>
              </a:rPr>
              <a:t>M1: mandatory requirement text</a:t>
            </a:r>
          </a:p>
        </p:txBody>
      </p:sp>
      <p:sp>
        <p:nvSpPr>
          <p:cNvPr id="8" name="GATE_LINE_2"/>
          <p:cNvSpPr txBox="1"/>
          <p:nvPr/>
        </p:nvSpPr>
        <p:spPr>
          <a:xfrm>
            <a:off x="628335" y="2803700"/>
            <a:ext cx="6051175" cy="38404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950" b="0" i="0" dirty="0">
                <a:solidFill>
                  <a:srgbClr val="1A1A2E"/>
                </a:solidFill>
                <a:latin typeface="Open Sans" panose="020B0606030504020204" pitchFamily="34" charset="0"/>
              </a:rPr>
              <a:t>M2: mandatory requirement text</a:t>
            </a:r>
          </a:p>
        </p:txBody>
      </p:sp>
      <p:sp>
        <p:nvSpPr>
          <p:cNvPr id="9" name="GATE_LINE_3"/>
          <p:cNvSpPr txBox="1"/>
          <p:nvPr/>
        </p:nvSpPr>
        <p:spPr>
          <a:xfrm>
            <a:off x="628335" y="3187748"/>
            <a:ext cx="6051175" cy="38404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950" b="0" i="0" dirty="0">
                <a:solidFill>
                  <a:srgbClr val="1A1A2E"/>
                </a:solidFill>
                <a:latin typeface="Open Sans" panose="020B0606030504020204" pitchFamily="34" charset="0"/>
              </a:rPr>
              <a:t>M3: mandatory requirement text</a:t>
            </a:r>
          </a:p>
        </p:txBody>
      </p:sp>
      <p:sp>
        <p:nvSpPr>
          <p:cNvPr id="10" name="GATE_LINE_4"/>
          <p:cNvSpPr txBox="1"/>
          <p:nvPr/>
        </p:nvSpPr>
        <p:spPr>
          <a:xfrm>
            <a:off x="628335" y="3571796"/>
            <a:ext cx="6051175" cy="38404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950" b="0" i="0" dirty="0">
                <a:solidFill>
                  <a:srgbClr val="1A1A2E"/>
                </a:solidFill>
                <a:latin typeface="Open Sans" panose="020B0606030504020204" pitchFamily="34" charset="0"/>
              </a:rPr>
              <a:t>M4: mandatory requirement text</a:t>
            </a:r>
          </a:p>
        </p:txBody>
      </p:sp>
      <p:sp>
        <p:nvSpPr>
          <p:cNvPr id="11" name="GATE_LINE_5"/>
          <p:cNvSpPr txBox="1"/>
          <p:nvPr/>
        </p:nvSpPr>
        <p:spPr>
          <a:xfrm>
            <a:off x="628335" y="3955844"/>
            <a:ext cx="6051175" cy="38404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950" b="0" i="0" dirty="0">
                <a:solidFill>
                  <a:srgbClr val="1A1A2E"/>
                </a:solidFill>
                <a:latin typeface="Open Sans" panose="020B0606030504020204" pitchFamily="34" charset="0"/>
              </a:rPr>
              <a:t>M5: mandatory requirement text</a:t>
            </a:r>
          </a:p>
        </p:txBody>
      </p:sp>
      <p:sp>
        <p:nvSpPr>
          <p:cNvPr id="12" name="GATE_LINE_6"/>
          <p:cNvSpPr txBox="1"/>
          <p:nvPr/>
        </p:nvSpPr>
        <p:spPr>
          <a:xfrm>
            <a:off x="628335" y="4339892"/>
            <a:ext cx="6051175" cy="38404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950" b="0" i="0" dirty="0">
                <a:solidFill>
                  <a:srgbClr val="1A1A2E"/>
                </a:solidFill>
                <a:latin typeface="Open Sans" panose="020B0606030504020204" pitchFamily="34" charset="0"/>
              </a:rPr>
              <a:t>M6: mandatory requirement text</a:t>
            </a:r>
          </a:p>
        </p:txBody>
      </p:sp>
      <p:sp>
        <p:nvSpPr>
          <p:cNvPr id="13" name="GATE_LINE_7"/>
          <p:cNvSpPr txBox="1"/>
          <p:nvPr/>
        </p:nvSpPr>
        <p:spPr>
          <a:xfrm>
            <a:off x="628335" y="4723940"/>
            <a:ext cx="6051175" cy="38404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950" b="0" i="0" dirty="0">
                <a:solidFill>
                  <a:srgbClr val="1A1A2E"/>
                </a:solidFill>
                <a:latin typeface="Open Sans" panose="020B0606030504020204" pitchFamily="34" charset="0"/>
              </a:rPr>
              <a:t>M7: mandatory requirement text</a:t>
            </a:r>
          </a:p>
        </p:txBody>
      </p:sp>
      <p:sp>
        <p:nvSpPr>
          <p:cNvPr id="14" name="CRITERION_ROW_1_BG"/>
          <p:cNvSpPr/>
          <p:nvPr/>
        </p:nvSpPr>
        <p:spPr>
          <a:xfrm>
            <a:off x="6999550" y="2419652"/>
            <a:ext cx="3708784" cy="5212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5" name="CRITERION_NAME_1"/>
          <p:cNvSpPr txBox="1"/>
          <p:nvPr/>
        </p:nvSpPr>
        <p:spPr>
          <a:xfrm>
            <a:off x="7090990" y="2474516"/>
            <a:ext cx="2521973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050" b="1" i="0" dirty="0">
                <a:solidFill>
                  <a:srgbClr val="1A1A2E"/>
                </a:solidFill>
                <a:latin typeface="Open Sans" panose="020B0606030504020204" pitchFamily="34" charset="0"/>
              </a:rPr>
              <a:t>Criterion name</a:t>
            </a:r>
          </a:p>
        </p:txBody>
      </p:sp>
      <p:sp>
        <p:nvSpPr>
          <p:cNvPr id="16" name="CRITERION_WEIGHT_1"/>
          <p:cNvSpPr txBox="1"/>
          <p:nvPr/>
        </p:nvSpPr>
        <p:spPr>
          <a:xfrm>
            <a:off x="9595699" y="2474516"/>
            <a:ext cx="103846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/>
            <a:r>
              <a:rPr lang="en-US" sz="1050" b="1" i="0" dirty="0">
                <a:solidFill>
                  <a:srgbClr val="5C068C"/>
                </a:solidFill>
                <a:latin typeface="Open Sans" panose="020B0606030504020204" pitchFamily="34" charset="0"/>
              </a:rPr>
              <a:t>—</a:t>
            </a:r>
          </a:p>
        </p:txBody>
      </p:sp>
      <p:sp>
        <p:nvSpPr>
          <p:cNvPr id="17" name="CRITERION_ROW_2_BG"/>
          <p:cNvSpPr/>
          <p:nvPr/>
        </p:nvSpPr>
        <p:spPr>
          <a:xfrm>
            <a:off x="6999550" y="2986580"/>
            <a:ext cx="3708784" cy="521208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8" name="CRITERION_NAME_2"/>
          <p:cNvSpPr txBox="1"/>
          <p:nvPr/>
        </p:nvSpPr>
        <p:spPr>
          <a:xfrm>
            <a:off x="7090990" y="3041444"/>
            <a:ext cx="2521973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050" b="1" i="0" dirty="0">
                <a:solidFill>
                  <a:srgbClr val="1A1A2E"/>
                </a:solidFill>
                <a:latin typeface="Open Sans" panose="020B0606030504020204" pitchFamily="34" charset="0"/>
              </a:rPr>
              <a:t>Criterion name</a:t>
            </a:r>
          </a:p>
        </p:txBody>
      </p:sp>
      <p:sp>
        <p:nvSpPr>
          <p:cNvPr id="19" name="CRITERION_WEIGHT_2"/>
          <p:cNvSpPr txBox="1"/>
          <p:nvPr/>
        </p:nvSpPr>
        <p:spPr>
          <a:xfrm>
            <a:off x="9595699" y="3041444"/>
            <a:ext cx="103846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/>
            <a:r>
              <a:rPr lang="en-US" sz="1050" b="1" i="0" dirty="0">
                <a:solidFill>
                  <a:srgbClr val="5C068C"/>
                </a:solidFill>
                <a:latin typeface="Open Sans" panose="020B0606030504020204" pitchFamily="34" charset="0"/>
              </a:rPr>
              <a:t>—</a:t>
            </a:r>
          </a:p>
        </p:txBody>
      </p:sp>
      <p:sp>
        <p:nvSpPr>
          <p:cNvPr id="20" name="CRITERION_ROW_3_BG"/>
          <p:cNvSpPr/>
          <p:nvPr/>
        </p:nvSpPr>
        <p:spPr>
          <a:xfrm>
            <a:off x="6999550" y="3553508"/>
            <a:ext cx="3708784" cy="5212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1" name="CRITERION_NAME_3"/>
          <p:cNvSpPr txBox="1"/>
          <p:nvPr/>
        </p:nvSpPr>
        <p:spPr>
          <a:xfrm>
            <a:off x="7090990" y="3608372"/>
            <a:ext cx="2521973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050" b="1" i="0" dirty="0">
                <a:solidFill>
                  <a:srgbClr val="1A1A2E"/>
                </a:solidFill>
                <a:latin typeface="Open Sans" panose="020B0606030504020204" pitchFamily="34" charset="0"/>
              </a:rPr>
              <a:t>Criterion name</a:t>
            </a:r>
          </a:p>
        </p:txBody>
      </p:sp>
      <p:sp>
        <p:nvSpPr>
          <p:cNvPr id="22" name="CRITERION_WEIGHT_3"/>
          <p:cNvSpPr txBox="1"/>
          <p:nvPr/>
        </p:nvSpPr>
        <p:spPr>
          <a:xfrm>
            <a:off x="9595699" y="3608372"/>
            <a:ext cx="103846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/>
            <a:r>
              <a:rPr lang="en-US" sz="1050" b="1" i="0" dirty="0">
                <a:solidFill>
                  <a:srgbClr val="5C068C"/>
                </a:solidFill>
                <a:latin typeface="Open Sans" panose="020B0606030504020204" pitchFamily="34" charset="0"/>
              </a:rPr>
              <a:t>—</a:t>
            </a:r>
          </a:p>
        </p:txBody>
      </p:sp>
      <p:sp>
        <p:nvSpPr>
          <p:cNvPr id="23" name="CRITERION_ROW_4_BG"/>
          <p:cNvSpPr/>
          <p:nvPr/>
        </p:nvSpPr>
        <p:spPr>
          <a:xfrm>
            <a:off x="6999550" y="4120436"/>
            <a:ext cx="3708784" cy="521208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4" name="CRITERION_NAME_4"/>
          <p:cNvSpPr txBox="1"/>
          <p:nvPr/>
        </p:nvSpPr>
        <p:spPr>
          <a:xfrm>
            <a:off x="7090990" y="4175300"/>
            <a:ext cx="2521973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050" b="1" i="0" dirty="0">
                <a:solidFill>
                  <a:srgbClr val="1A1A2E"/>
                </a:solidFill>
                <a:latin typeface="Open Sans" panose="020B0606030504020204" pitchFamily="34" charset="0"/>
              </a:rPr>
              <a:t>Criterion name</a:t>
            </a:r>
          </a:p>
        </p:txBody>
      </p:sp>
      <p:sp>
        <p:nvSpPr>
          <p:cNvPr id="25" name="CRITERION_WEIGHT_4"/>
          <p:cNvSpPr txBox="1"/>
          <p:nvPr/>
        </p:nvSpPr>
        <p:spPr>
          <a:xfrm>
            <a:off x="9595699" y="4175300"/>
            <a:ext cx="103846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/>
            <a:r>
              <a:rPr lang="en-US" sz="1050" b="1" i="0" dirty="0">
                <a:solidFill>
                  <a:srgbClr val="5C068C"/>
                </a:solidFill>
                <a:latin typeface="Open Sans" panose="020B0606030504020204" pitchFamily="34" charset="0"/>
              </a:rPr>
              <a:t>—</a:t>
            </a:r>
          </a:p>
        </p:txBody>
      </p:sp>
      <p:sp>
        <p:nvSpPr>
          <p:cNvPr id="26" name="SOURCE_NOTES"/>
          <p:cNvSpPr txBox="1"/>
          <p:nvPr/>
        </p:nvSpPr>
        <p:spPr>
          <a:xfrm>
            <a:off x="628335" y="5290868"/>
            <a:ext cx="10079999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850" b="0" i="0" dirty="0">
                <a:solidFill>
                  <a:srgbClr val="44546A"/>
                </a:solidFill>
                <a:latin typeface="Open Sans" panose="020B0606030504020204" pitchFamily="34" charset="0"/>
              </a:rPr>
              <a:t>Sources: document ID and exact locator. Fictional training case; not organisational policy or Singapore procurement law.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cov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334569" y="1793942"/>
            <a:ext cx="4278917" cy="8686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2600" b="1" i="0" dirty="0">
                <a:solidFill>
                  <a:srgbClr val="FFFFFF"/>
                </a:solidFill>
                <a:latin typeface="Open Sans" panose="020B0606030504020204" pitchFamily="34" charset="0"/>
              </a:rPr>
              <a:t>ARER-300 procurement decision</a:t>
            </a:r>
          </a:p>
        </p:txBody>
      </p:sp>
      <p:sp>
        <p:nvSpPr>
          <p:cNvPr id="3" name="SUBTITLE"/>
          <p:cNvSpPr txBox="1"/>
          <p:nvPr/>
        </p:nvSpPr>
        <p:spPr>
          <a:xfrm>
            <a:off x="334569" y="2708342"/>
            <a:ext cx="4278917" cy="5486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400" b="0" i="0" dirty="0">
                <a:solidFill>
                  <a:srgbClr val="FFFFFF"/>
                </a:solidFill>
                <a:latin typeface="Open Sans" panose="020B0606030504020204" pitchFamily="34" charset="0"/>
              </a:rPr>
              <a:t>Evaluation Support Agent — working material for verification</a:t>
            </a:r>
          </a:p>
        </p:txBody>
      </p:sp>
      <p:sp>
        <p:nvSpPr>
          <p:cNvPr id="4" name="AUDIENCE"/>
          <p:cNvSpPr txBox="1"/>
          <p:nvPr/>
        </p:nvSpPr>
        <p:spPr>
          <a:xfrm>
            <a:off x="334569" y="1481328"/>
            <a:ext cx="4278917" cy="2011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000" b="1" i="0" dirty="0">
                <a:solidFill>
                  <a:srgbClr val="B9C7E6"/>
                </a:solidFill>
                <a:latin typeface="Open Sans" panose="020B0606030504020204" pitchFamily="34" charset="0"/>
              </a:rPr>
              <a:t>Audience / decision owner</a:t>
            </a:r>
          </a:p>
        </p:txBody>
      </p:sp>
      <p:sp>
        <p:nvSpPr>
          <p:cNvPr id="5" name="SOURCE_NOTES"/>
          <p:cNvSpPr txBox="1"/>
          <p:nvPr/>
        </p:nvSpPr>
        <p:spPr>
          <a:xfrm>
            <a:off x="334569" y="6309360"/>
            <a:ext cx="4278917" cy="4114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850" b="0" i="0" dirty="0">
                <a:solidFill>
                  <a:srgbClr val="44546A"/>
                </a:solidFill>
                <a:latin typeface="Open Sans" panose="020B0606030504020204" pitchFamily="34" charset="0"/>
              </a:rPr>
              <a:t>Sources: document ID and exact locator. Fictional training case; not organisational policy or Singapore procurement law.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con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628332" y="339452"/>
            <a:ext cx="10080000" cy="48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2400" b="1" i="0" dirty="0">
                <a:solidFill>
                  <a:srgbClr val="003087"/>
                </a:solidFill>
                <a:latin typeface="Open Sans" panose="020B0606030504020204" pitchFamily="34" charset="0"/>
              </a:rPr>
              <a:t>ARER-300 evaluation: gates and scoring criteria</a:t>
            </a:r>
          </a:p>
        </p:txBody>
      </p:sp>
      <p:sp>
        <p:nvSpPr>
          <p:cNvPr id="3" name="AUDIENCE"/>
          <p:cNvSpPr txBox="1"/>
          <p:nvPr/>
        </p:nvSpPr>
        <p:spPr>
          <a:xfrm>
            <a:off x="628332" y="856028"/>
            <a:ext cx="10080000" cy="2011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000" b="1" i="0" dirty="0">
                <a:solidFill>
                  <a:srgbClr val="44546A"/>
                </a:solidFill>
                <a:latin typeface="Open Sans" panose="020B0606030504020204" pitchFamily="34" charset="0"/>
              </a:rPr>
              <a:t>Executive Approval Committee</a:t>
            </a:r>
          </a:p>
        </p:txBody>
      </p:sp>
      <p:sp>
        <p:nvSpPr>
          <p:cNvPr id="4" name="PROBLEM"/>
          <p:cNvSpPr txBox="1"/>
          <p:nvPr/>
        </p:nvSpPr>
        <p:spPr>
          <a:xfrm>
            <a:off x="628335" y="1075484"/>
            <a:ext cx="10079999" cy="8686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300" b="0" i="0" dirty="0">
                <a:solidFill>
                  <a:srgbClr val="1A1A2E"/>
                </a:solidFill>
                <a:latin typeface="Open Sans" panose="020B0606030504020204" pitchFamily="34" charset="0"/>
              </a:rPr>
              <a:t>The ARER-300 tender (RFQ-ARER-26-014) closed 28 Aug 2026 with five bids. Mandatory gates M1-M7 must all pass before any weighted score counts, so the committee needs the eligible leader, not simply the highest raw score.</a:t>
            </a:r>
          </a:p>
        </p:txBody>
      </p:sp>
      <p:sp>
        <p:nvSpPr>
          <p:cNvPr id="5" name="GATES_HEADER"/>
          <p:cNvSpPr txBox="1"/>
          <p:nvPr/>
        </p:nvSpPr>
        <p:spPr>
          <a:xfrm>
            <a:off x="628335" y="2145332"/>
            <a:ext cx="6051175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150" b="1" i="0" dirty="0">
                <a:solidFill>
                  <a:srgbClr val="003087"/>
                </a:solidFill>
                <a:latin typeface="Open Sans" panose="020B0606030504020204" pitchFamily="34" charset="0"/>
              </a:rPr>
              <a:t>MANDATORY GATES (M1–M7)</a:t>
            </a:r>
          </a:p>
        </p:txBody>
      </p:sp>
      <p:sp>
        <p:nvSpPr>
          <p:cNvPr id="6" name="CRITERIA_HEADER"/>
          <p:cNvSpPr txBox="1"/>
          <p:nvPr/>
        </p:nvSpPr>
        <p:spPr>
          <a:xfrm>
            <a:off x="6999550" y="2145332"/>
            <a:ext cx="3708784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150" b="1" i="0" dirty="0">
                <a:solidFill>
                  <a:srgbClr val="003087"/>
                </a:solidFill>
                <a:latin typeface="Open Sans" panose="020B0606030504020204" pitchFamily="34" charset="0"/>
              </a:rPr>
              <a:t>WEIGHTED SCORING CRITERIA</a:t>
            </a:r>
          </a:p>
        </p:txBody>
      </p:sp>
      <p:sp>
        <p:nvSpPr>
          <p:cNvPr id="7" name="GATE_LINE_1"/>
          <p:cNvSpPr txBox="1"/>
          <p:nvPr/>
        </p:nvSpPr>
        <p:spPr>
          <a:xfrm>
            <a:off x="628335" y="2419652"/>
            <a:ext cx="6051175" cy="38404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950" b="0" i="0" dirty="0">
                <a:solidFill>
                  <a:srgbClr val="1A1A2E"/>
                </a:solidFill>
                <a:latin typeface="Open Sans" panose="020B0606030504020204" pitchFamily="34" charset="0"/>
              </a:rPr>
              <a:t>M1: Total evaluated price no more than S$450,000 ex GST</a:t>
            </a:r>
          </a:p>
        </p:txBody>
      </p:sp>
      <p:sp>
        <p:nvSpPr>
          <p:cNvPr id="8" name="GATE_LINE_2"/>
          <p:cNvSpPr txBox="1"/>
          <p:nvPr/>
        </p:nvSpPr>
        <p:spPr>
          <a:xfrm>
            <a:off x="628335" y="2803700"/>
            <a:ext cx="6051175" cy="38404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950" b="0" i="0" dirty="0">
                <a:solidFill>
                  <a:srgbClr val="1A1A2E"/>
                </a:solidFill>
                <a:latin typeface="Open Sans" panose="020B0606030504020204" pitchFamily="34" charset="0"/>
              </a:rPr>
              <a:t>M2: Site Acceptance Test complete by 31 Jan 2027</a:t>
            </a:r>
          </a:p>
        </p:txBody>
      </p:sp>
      <p:sp>
        <p:nvSpPr>
          <p:cNvPr id="9" name="GATE_LINE_3"/>
          <p:cNvSpPr txBox="1"/>
          <p:nvPr/>
        </p:nvSpPr>
        <p:spPr>
          <a:xfrm>
            <a:off x="628335" y="3187748"/>
            <a:ext cx="6051175" cy="38404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950" b="0" i="0" dirty="0">
                <a:solidFill>
                  <a:srgbClr val="1A1A2E"/>
                </a:solidFill>
                <a:latin typeface="Open Sans" panose="020B0606030504020204" pitchFamily="34" charset="0"/>
              </a:rPr>
              <a:t>M3: At least 48 specimens per run, full ranges</a:t>
            </a:r>
          </a:p>
        </p:txBody>
      </p:sp>
      <p:sp>
        <p:nvSpPr>
          <p:cNvPr id="10" name="GATE_LINE_4"/>
          <p:cNvSpPr txBox="1"/>
          <p:nvPr/>
        </p:nvSpPr>
        <p:spPr>
          <a:xfrm>
            <a:off x="628335" y="3571796"/>
            <a:ext cx="6051175" cy="38404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950" b="0" i="0" dirty="0">
                <a:solidFill>
                  <a:srgbClr val="1A1A2E"/>
                </a:solidFill>
                <a:latin typeface="Open Sans" panose="020B0606030504020204" pitchFamily="34" charset="0"/>
              </a:rPr>
              <a:t>M4: Raw data exports as CSV/JSON, no vendor lock-in</a:t>
            </a:r>
          </a:p>
        </p:txBody>
      </p:sp>
      <p:sp>
        <p:nvSpPr>
          <p:cNvPr id="11" name="GATE_LINE_5"/>
          <p:cNvSpPr txBox="1"/>
          <p:nvPr/>
        </p:nvSpPr>
        <p:spPr>
          <a:xfrm>
            <a:off x="628335" y="3955844"/>
            <a:ext cx="6051175" cy="38404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950" b="0" i="0" dirty="0">
                <a:solidFill>
                  <a:srgbClr val="1A1A2E"/>
                </a:solidFill>
                <a:latin typeface="Open Sans" panose="020B0606030504020204" pitchFamily="34" charset="0"/>
              </a:rPr>
              <a:t>M5: Price includes installation, SAT, training for 8 staff</a:t>
            </a:r>
          </a:p>
        </p:txBody>
      </p:sp>
      <p:sp>
        <p:nvSpPr>
          <p:cNvPr id="12" name="GATE_LINE_6"/>
          <p:cNvSpPr txBox="1"/>
          <p:nvPr/>
        </p:nvSpPr>
        <p:spPr>
          <a:xfrm>
            <a:off x="628335" y="4339892"/>
            <a:ext cx="6051175" cy="38404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950" b="0" i="0" dirty="0">
                <a:solidFill>
                  <a:srgbClr val="1A1A2E"/>
                </a:solidFill>
                <a:latin typeface="Open Sans" panose="020B0606030504020204" pitchFamily="34" charset="0"/>
              </a:rPr>
              <a:t>M6: Warranty, PM visits, 2-day support through 31 Mar 2030</a:t>
            </a:r>
          </a:p>
        </p:txBody>
      </p:sp>
      <p:sp>
        <p:nvSpPr>
          <p:cNvPr id="13" name="GATE_LINE_7"/>
          <p:cNvSpPr txBox="1"/>
          <p:nvPr/>
        </p:nvSpPr>
        <p:spPr>
          <a:xfrm>
            <a:off x="628335" y="4723940"/>
            <a:ext cx="6051175" cy="38404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950" b="0" i="0" dirty="0">
                <a:solidFill>
                  <a:srgbClr val="1A1A2E"/>
                </a:solidFill>
                <a:latin typeface="Open Sans" panose="020B0606030504020204" pitchFamily="34" charset="0"/>
              </a:rPr>
              <a:t>M7: Only submitted or formally amended claims count at close</a:t>
            </a:r>
          </a:p>
        </p:txBody>
      </p:sp>
      <p:sp>
        <p:nvSpPr>
          <p:cNvPr id="14" name="CRITERION_ROW_1_BG"/>
          <p:cNvSpPr/>
          <p:nvPr/>
        </p:nvSpPr>
        <p:spPr>
          <a:xfrm>
            <a:off x="6999550" y="2419652"/>
            <a:ext cx="3708784" cy="5212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5" name="CRITERION_NAME_1"/>
          <p:cNvSpPr txBox="1"/>
          <p:nvPr/>
        </p:nvSpPr>
        <p:spPr>
          <a:xfrm>
            <a:off x="7090990" y="2474516"/>
            <a:ext cx="2521973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050" b="1" i="0" dirty="0">
                <a:solidFill>
                  <a:srgbClr val="1A1A2E"/>
                </a:solidFill>
                <a:latin typeface="Open Sans" panose="020B0606030504020204" pitchFamily="34" charset="0"/>
              </a:rPr>
              <a:t>Technical</a:t>
            </a:r>
          </a:p>
        </p:txBody>
      </p:sp>
      <p:sp>
        <p:nvSpPr>
          <p:cNvPr id="16" name="CRITERION_WEIGHT_1"/>
          <p:cNvSpPr txBox="1"/>
          <p:nvPr/>
        </p:nvSpPr>
        <p:spPr>
          <a:xfrm>
            <a:off x="9595699" y="2474516"/>
            <a:ext cx="103846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/>
            <a:r>
              <a:rPr lang="en-US" sz="1050" b="1" i="0" dirty="0">
                <a:solidFill>
                  <a:srgbClr val="5C068C"/>
                </a:solidFill>
                <a:latin typeface="Open Sans" panose="020B0606030504020204" pitchFamily="34" charset="0"/>
              </a:rPr>
              <a:t>35%</a:t>
            </a:r>
          </a:p>
        </p:txBody>
      </p:sp>
      <p:sp>
        <p:nvSpPr>
          <p:cNvPr id="17" name="CRITERION_ROW_2_BG"/>
          <p:cNvSpPr/>
          <p:nvPr/>
        </p:nvSpPr>
        <p:spPr>
          <a:xfrm>
            <a:off x="6999550" y="2986580"/>
            <a:ext cx="3708784" cy="521208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8" name="CRITERION_NAME_2"/>
          <p:cNvSpPr txBox="1"/>
          <p:nvPr/>
        </p:nvSpPr>
        <p:spPr>
          <a:xfrm>
            <a:off x="7090990" y="3041444"/>
            <a:ext cx="2521973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050" b="1" i="0" dirty="0">
                <a:solidFill>
                  <a:srgbClr val="1A1A2E"/>
                </a:solidFill>
                <a:latin typeface="Open Sans" panose="020B0606030504020204" pitchFamily="34" charset="0"/>
              </a:rPr>
              <a:t>Lifecycle cost</a:t>
            </a:r>
          </a:p>
        </p:txBody>
      </p:sp>
      <p:sp>
        <p:nvSpPr>
          <p:cNvPr id="19" name="CRITERION_WEIGHT_2"/>
          <p:cNvSpPr txBox="1"/>
          <p:nvPr/>
        </p:nvSpPr>
        <p:spPr>
          <a:xfrm>
            <a:off x="9595699" y="3041444"/>
            <a:ext cx="103846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/>
            <a:r>
              <a:rPr lang="en-US" sz="1050" b="1" i="0" dirty="0">
                <a:solidFill>
                  <a:srgbClr val="5C068C"/>
                </a:solidFill>
                <a:latin typeface="Open Sans" panose="020B0606030504020204" pitchFamily="34" charset="0"/>
              </a:rPr>
              <a:t>30%</a:t>
            </a:r>
          </a:p>
        </p:txBody>
      </p:sp>
      <p:sp>
        <p:nvSpPr>
          <p:cNvPr id="20" name="CRITERION_ROW_3_BG"/>
          <p:cNvSpPr/>
          <p:nvPr/>
        </p:nvSpPr>
        <p:spPr>
          <a:xfrm>
            <a:off x="6999550" y="3553508"/>
            <a:ext cx="3708784" cy="5212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1" name="CRITERION_NAME_3"/>
          <p:cNvSpPr txBox="1"/>
          <p:nvPr/>
        </p:nvSpPr>
        <p:spPr>
          <a:xfrm>
            <a:off x="7090990" y="3608372"/>
            <a:ext cx="2521973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050" b="1" i="0" dirty="0">
                <a:solidFill>
                  <a:srgbClr val="1A1A2E"/>
                </a:solidFill>
                <a:latin typeface="Open Sans" panose="020B0606030504020204" pitchFamily="34" charset="0"/>
              </a:rPr>
              <a:t>Delivery &amp; training</a:t>
            </a:r>
          </a:p>
        </p:txBody>
      </p:sp>
      <p:sp>
        <p:nvSpPr>
          <p:cNvPr id="22" name="CRITERION_WEIGHT_3"/>
          <p:cNvSpPr txBox="1"/>
          <p:nvPr/>
        </p:nvSpPr>
        <p:spPr>
          <a:xfrm>
            <a:off x="9595699" y="3608372"/>
            <a:ext cx="103846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/>
            <a:r>
              <a:rPr lang="en-US" sz="1050" b="1" i="0" dirty="0">
                <a:solidFill>
                  <a:srgbClr val="5C068C"/>
                </a:solidFill>
                <a:latin typeface="Open Sans" panose="020B0606030504020204" pitchFamily="34" charset="0"/>
              </a:rPr>
              <a:t>20%</a:t>
            </a:r>
          </a:p>
        </p:txBody>
      </p:sp>
      <p:sp>
        <p:nvSpPr>
          <p:cNvPr id="23" name="CRITERION_ROW_4_BG"/>
          <p:cNvSpPr/>
          <p:nvPr/>
        </p:nvSpPr>
        <p:spPr>
          <a:xfrm>
            <a:off x="6999550" y="4120436"/>
            <a:ext cx="3708784" cy="521208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4" name="CRITERION_NAME_4"/>
          <p:cNvSpPr txBox="1"/>
          <p:nvPr/>
        </p:nvSpPr>
        <p:spPr>
          <a:xfrm>
            <a:off x="7090990" y="4175300"/>
            <a:ext cx="2521973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050" b="1" i="0" dirty="0">
                <a:solidFill>
                  <a:srgbClr val="1A1A2E"/>
                </a:solidFill>
                <a:latin typeface="Open Sans" panose="020B0606030504020204" pitchFamily="34" charset="0"/>
              </a:rPr>
              <a:t>Service above minimum</a:t>
            </a:r>
          </a:p>
        </p:txBody>
      </p:sp>
      <p:sp>
        <p:nvSpPr>
          <p:cNvPr id="25" name="CRITERION_WEIGHT_4"/>
          <p:cNvSpPr txBox="1"/>
          <p:nvPr/>
        </p:nvSpPr>
        <p:spPr>
          <a:xfrm>
            <a:off x="9595699" y="4175300"/>
            <a:ext cx="103846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/>
            <a:r>
              <a:rPr lang="en-US" sz="1050" b="1" i="0" dirty="0">
                <a:solidFill>
                  <a:srgbClr val="5C068C"/>
                </a:solidFill>
                <a:latin typeface="Open Sans" panose="020B0606030504020204" pitchFamily="34" charset="0"/>
              </a:rPr>
              <a:t>15%</a:t>
            </a:r>
          </a:p>
        </p:txBody>
      </p:sp>
      <p:sp>
        <p:nvSpPr>
          <p:cNvPr id="26" name="SOURCE_NOTES"/>
          <p:cNvSpPr txBox="1"/>
          <p:nvPr/>
        </p:nvSpPr>
        <p:spPr>
          <a:xfrm>
            <a:off x="628335" y="5290868"/>
            <a:ext cx="10079999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850" b="0" i="0" dirty="0">
                <a:solidFill>
                  <a:srgbClr val="44546A"/>
                </a:solidFill>
                <a:latin typeface="Open Sans" panose="020B0606030504020204" pitchFamily="34" charset="0"/>
              </a:rPr>
              <a:t>Sources: RFQ-02 M1-M7; NST-05 service term; EMAIL-02 service clarification thread; EVAL-01 summary scores; EVAL-02 proposal comparison. Fictional training case.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gate_foc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629336" y="336000"/>
            <a:ext cx="10914963" cy="48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2400" b="1" i="0" dirty="0">
                <a:solidFill>
                  <a:srgbClr val="003087"/>
                </a:solidFill>
                <a:latin typeface="Open Sans" panose="020B0606030504020204" pitchFamily="34" charset="0"/>
              </a:rPr>
              <a:t>Mandatory gate results across all five bids</a:t>
            </a:r>
          </a:p>
        </p:txBody>
      </p:sp>
      <p:sp>
        <p:nvSpPr>
          <p:cNvPr id="3" name="AUDIENCE"/>
          <p:cNvSpPr txBox="1"/>
          <p:nvPr/>
        </p:nvSpPr>
        <p:spPr>
          <a:xfrm>
            <a:off x="629336" y="852576"/>
            <a:ext cx="10914963" cy="2011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000" b="1" i="0" dirty="0">
                <a:solidFill>
                  <a:srgbClr val="44546A"/>
                </a:solidFill>
                <a:latin typeface="Open Sans" panose="020B0606030504020204" pitchFamily="34" charset="0"/>
              </a:rPr>
              <a:t>Executive Approval Committee</a:t>
            </a:r>
          </a:p>
        </p:txBody>
      </p:sp>
      <p:sp>
        <p:nvSpPr>
          <p:cNvPr id="4" name="RECOMMENDATION_PANEL"/>
          <p:cNvSpPr/>
          <p:nvPr/>
        </p:nvSpPr>
        <p:spPr>
          <a:xfrm>
            <a:off x="629336" y="1090320"/>
            <a:ext cx="10914963" cy="566928"/>
          </a:xfrm>
          <a:prstGeom prst="roundRect">
            <a:avLst>
              <a:gd name="adj" fmla="val 8000"/>
            </a:avLst>
          </a:prstGeom>
          <a:solidFill>
            <a:srgbClr val="E7E6E6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5" name="RECOMMENDATION_ACCENT"/>
          <p:cNvSpPr/>
          <p:nvPr/>
        </p:nvSpPr>
        <p:spPr>
          <a:xfrm>
            <a:off x="629336" y="1090320"/>
            <a:ext cx="82296" cy="566928"/>
          </a:xfrm>
          <a:prstGeom prst="rect">
            <a:avLst/>
          </a:prstGeom>
          <a:solidFill>
            <a:srgbClr val="FF672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" name="RECOMMENDATION"/>
          <p:cNvSpPr txBox="1"/>
          <p:nvPr/>
        </p:nvSpPr>
        <p:spPr>
          <a:xfrm>
            <a:off x="830504" y="1163472"/>
            <a:ext cx="10549203" cy="42062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en-US" sz="1500" b="1" i="0" dirty="0">
                <a:solidFill>
                  <a:srgbClr val="1A1A2E"/>
                </a:solidFill>
                <a:latin typeface="Open Sans" panose="020B0606030504020204" pitchFamily="34" charset="0"/>
              </a:rPr>
              <a:t>Three of five bids pass all seven mandatory gates; two fail and are dismissed</a:t>
            </a:r>
          </a:p>
        </p:txBody>
      </p:sp>
      <p:sp>
        <p:nvSpPr>
          <p:cNvPr id="7" name="GATE_TABLE"/>
          <p:cNvSpPr txBox="1"/>
          <p:nvPr/>
        </p:nvSpPr>
        <p:spPr>
          <a:xfrm>
            <a:off x="629336" y="1858416"/>
            <a:ext cx="6767277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250" b="1" i="0" dirty="0">
                <a:solidFill>
                  <a:srgbClr val="003087"/>
                </a:solidFill>
                <a:latin typeface="Open Sans" panose="020B0606030504020204" pitchFamily="34" charset="0"/>
              </a:rPr>
              <a:t>MANDATORY COMPLIANCE</a:t>
            </a:r>
          </a:p>
        </p:txBody>
      </p:sp>
      <p:sp>
        <p:nvSpPr>
          <p:cNvPr id="8" name="COMPARISON_CHART"/>
          <p:cNvSpPr txBox="1"/>
          <p:nvPr/>
        </p:nvSpPr>
        <p:spPr>
          <a:xfrm>
            <a:off x="7625213" y="1858416"/>
            <a:ext cx="3919086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250" b="1" i="0" dirty="0">
                <a:solidFill>
                  <a:srgbClr val="003087"/>
                </a:solidFill>
                <a:latin typeface="Open Sans" panose="020B0606030504020204" pitchFamily="34" charset="0"/>
              </a:rPr>
              <a:t>SCORES AFTER GATE</a:t>
            </a:r>
          </a:p>
        </p:txBody>
      </p:sp>
      <p:sp>
        <p:nvSpPr>
          <p:cNvPr id="9" name="GATE_HEADER_BG"/>
          <p:cNvSpPr/>
          <p:nvPr/>
        </p:nvSpPr>
        <p:spPr>
          <a:xfrm>
            <a:off x="629336" y="2187600"/>
            <a:ext cx="6767277" cy="237744"/>
          </a:xfrm>
          <a:prstGeom prst="rect">
            <a:avLst/>
          </a:prstGeom>
          <a:solidFill>
            <a:srgbClr val="E7E6E6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0" name="GATE_VENDOR_HEADER"/>
          <p:cNvSpPr txBox="1"/>
          <p:nvPr/>
        </p:nvSpPr>
        <p:spPr>
          <a:xfrm>
            <a:off x="739064" y="2215032"/>
            <a:ext cx="1894838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850" b="1" i="0" dirty="0">
                <a:solidFill>
                  <a:srgbClr val="44546A"/>
                </a:solidFill>
                <a:latin typeface="Open Sans" panose="020B0606030504020204" pitchFamily="34" charset="0"/>
              </a:rPr>
              <a:t>VENDOR</a:t>
            </a:r>
          </a:p>
        </p:txBody>
      </p:sp>
      <p:sp>
        <p:nvSpPr>
          <p:cNvPr id="11" name="GATE_STATUS_HEADER"/>
          <p:cNvSpPr txBox="1"/>
          <p:nvPr/>
        </p:nvSpPr>
        <p:spPr>
          <a:xfrm>
            <a:off x="2659519" y="2215032"/>
            <a:ext cx="676728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850" b="1" i="0" dirty="0">
                <a:solidFill>
                  <a:srgbClr val="44546A"/>
                </a:solidFill>
                <a:latin typeface="Open Sans" panose="020B0606030504020204" pitchFamily="34" charset="0"/>
              </a:rPr>
              <a:t>GATE</a:t>
            </a:r>
          </a:p>
        </p:txBody>
      </p:sp>
      <p:sp>
        <p:nvSpPr>
          <p:cNvPr id="12" name="GATE_REASON_HEADER"/>
          <p:cNvSpPr txBox="1"/>
          <p:nvPr/>
        </p:nvSpPr>
        <p:spPr>
          <a:xfrm>
            <a:off x="3471592" y="2215032"/>
            <a:ext cx="3925021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850" b="1" i="0" dirty="0">
                <a:solidFill>
                  <a:srgbClr val="44546A"/>
                </a:solidFill>
                <a:latin typeface="Open Sans" panose="020B0606030504020204" pitchFamily="34" charset="0"/>
              </a:rPr>
              <a:t>DECISIVE BASIS</a:t>
            </a:r>
          </a:p>
        </p:txBody>
      </p:sp>
      <p:sp>
        <p:nvSpPr>
          <p:cNvPr id="13" name="GATE_ROW_1_BG"/>
          <p:cNvSpPr/>
          <p:nvPr/>
        </p:nvSpPr>
        <p:spPr>
          <a:xfrm>
            <a:off x="629336" y="2471064"/>
            <a:ext cx="6767277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4" name="GATE_VENDOR_1"/>
          <p:cNvSpPr txBox="1"/>
          <p:nvPr/>
        </p:nvSpPr>
        <p:spPr>
          <a:xfrm>
            <a:off x="739064" y="2516784"/>
            <a:ext cx="178511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050" b="1" i="0" dirty="0">
                <a:solidFill>
                  <a:srgbClr val="1A1A2E"/>
                </a:solidFill>
                <a:latin typeface="Open Sans" panose="020B0606030504020204" pitchFamily="34" charset="0"/>
              </a:rPr>
              <a:t>Northstar</a:t>
            </a:r>
          </a:p>
        </p:txBody>
      </p:sp>
      <p:sp>
        <p:nvSpPr>
          <p:cNvPr id="15" name="GATE_STATUS_1"/>
          <p:cNvSpPr txBox="1"/>
          <p:nvPr/>
        </p:nvSpPr>
        <p:spPr>
          <a:xfrm>
            <a:off x="2659519" y="2516784"/>
            <a:ext cx="676728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850" b="1" i="0" dirty="0">
                <a:solidFill>
                  <a:srgbClr val="44546A"/>
                </a:solidFill>
                <a:latin typeface="Open Sans" panose="020B0606030504020204" pitchFamily="34" charset="0"/>
              </a:rPr>
              <a:t>PASS</a:t>
            </a:r>
          </a:p>
        </p:txBody>
      </p:sp>
      <p:sp>
        <p:nvSpPr>
          <p:cNvPr id="16" name="GATE_REASON_1"/>
          <p:cNvSpPr txBox="1"/>
          <p:nvPr/>
        </p:nvSpPr>
        <p:spPr>
          <a:xfrm>
            <a:off x="3471592" y="2516784"/>
            <a:ext cx="3925021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900" b="0" i="0" dirty="0">
                <a:solidFill>
                  <a:srgbClr val="44546A"/>
                </a:solidFill>
                <a:latin typeface="Open Sans" panose="020B0606030504020204" pitchFamily="34" charset="0"/>
              </a:rPr>
              <a:t>M1-M7 satisfied</a:t>
            </a:r>
          </a:p>
        </p:txBody>
      </p:sp>
      <p:sp>
        <p:nvSpPr>
          <p:cNvPr id="17" name="GATE_ROW_2_BG"/>
          <p:cNvSpPr/>
          <p:nvPr/>
        </p:nvSpPr>
        <p:spPr>
          <a:xfrm>
            <a:off x="629336" y="2946552"/>
            <a:ext cx="6767277" cy="4572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8" name="GATE_VENDOR_2"/>
          <p:cNvSpPr txBox="1"/>
          <p:nvPr/>
        </p:nvSpPr>
        <p:spPr>
          <a:xfrm>
            <a:off x="739064" y="2992272"/>
            <a:ext cx="178511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050" b="1" i="0" dirty="0">
                <a:solidFill>
                  <a:srgbClr val="1A1A2E"/>
                </a:solidFill>
                <a:latin typeface="Open Sans" panose="020B0606030504020204" pitchFamily="34" charset="0"/>
              </a:rPr>
              <a:t>Meridian</a:t>
            </a:r>
          </a:p>
        </p:txBody>
      </p:sp>
      <p:sp>
        <p:nvSpPr>
          <p:cNvPr id="19" name="GATE_STATUS_2"/>
          <p:cNvSpPr txBox="1"/>
          <p:nvPr/>
        </p:nvSpPr>
        <p:spPr>
          <a:xfrm>
            <a:off x="2659519" y="2992272"/>
            <a:ext cx="676728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850" b="1" i="0" dirty="0">
                <a:solidFill>
                  <a:srgbClr val="44546A"/>
                </a:solidFill>
                <a:latin typeface="Open Sans" panose="020B0606030504020204" pitchFamily="34" charset="0"/>
              </a:rPr>
              <a:t>PASS</a:t>
            </a:r>
          </a:p>
        </p:txBody>
      </p:sp>
      <p:sp>
        <p:nvSpPr>
          <p:cNvPr id="20" name="GATE_REASON_2"/>
          <p:cNvSpPr txBox="1"/>
          <p:nvPr/>
        </p:nvSpPr>
        <p:spPr>
          <a:xfrm>
            <a:off x="3471592" y="2992272"/>
            <a:ext cx="3925021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900" b="0" i="0" dirty="0">
                <a:solidFill>
                  <a:srgbClr val="44546A"/>
                </a:solidFill>
                <a:latin typeface="Open Sans" panose="020B0606030504020204" pitchFamily="34" charset="0"/>
              </a:rPr>
              <a:t>M1-M7 satisfied</a:t>
            </a:r>
          </a:p>
        </p:txBody>
      </p:sp>
      <p:sp>
        <p:nvSpPr>
          <p:cNvPr id="21" name="GATE_ROW_3_BG"/>
          <p:cNvSpPr/>
          <p:nvPr/>
        </p:nvSpPr>
        <p:spPr>
          <a:xfrm>
            <a:off x="629336" y="3422040"/>
            <a:ext cx="6767277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2" name="GATE_VENDOR_3"/>
          <p:cNvSpPr txBox="1"/>
          <p:nvPr/>
        </p:nvSpPr>
        <p:spPr>
          <a:xfrm>
            <a:off x="739064" y="3467760"/>
            <a:ext cx="178511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050" b="1" i="0" dirty="0">
                <a:solidFill>
                  <a:srgbClr val="1A1A2E"/>
                </a:solidFill>
                <a:latin typeface="Open Sans" panose="020B0606030504020204" pitchFamily="34" charset="0"/>
              </a:rPr>
              <a:t>Helix</a:t>
            </a:r>
          </a:p>
        </p:txBody>
      </p:sp>
      <p:sp>
        <p:nvSpPr>
          <p:cNvPr id="23" name="GATE_STATUS_3"/>
          <p:cNvSpPr txBox="1"/>
          <p:nvPr/>
        </p:nvSpPr>
        <p:spPr>
          <a:xfrm>
            <a:off x="2659519" y="3467760"/>
            <a:ext cx="676728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850" b="1" i="0" dirty="0">
                <a:solidFill>
                  <a:srgbClr val="44546A"/>
                </a:solidFill>
                <a:latin typeface="Open Sans" panose="020B0606030504020204" pitchFamily="34" charset="0"/>
              </a:rPr>
              <a:t>PASS</a:t>
            </a:r>
          </a:p>
        </p:txBody>
      </p:sp>
      <p:sp>
        <p:nvSpPr>
          <p:cNvPr id="24" name="GATE_REASON_3"/>
          <p:cNvSpPr txBox="1"/>
          <p:nvPr/>
        </p:nvSpPr>
        <p:spPr>
          <a:xfrm>
            <a:off x="3471592" y="3467760"/>
            <a:ext cx="3925021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900" b="0" i="0" dirty="0">
                <a:solidFill>
                  <a:srgbClr val="44546A"/>
                </a:solidFill>
                <a:latin typeface="Open Sans" panose="020B0606030504020204" pitchFamily="34" charset="0"/>
              </a:rPr>
              <a:t>M1-M7 satisfied</a:t>
            </a:r>
          </a:p>
        </p:txBody>
      </p:sp>
      <p:sp>
        <p:nvSpPr>
          <p:cNvPr id="25" name="GATE_ROW_4_BG"/>
          <p:cNvSpPr/>
          <p:nvPr/>
        </p:nvSpPr>
        <p:spPr>
          <a:xfrm>
            <a:off x="629336" y="3897528"/>
            <a:ext cx="6767277" cy="4572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6" name="GATE_VENDOR_4"/>
          <p:cNvSpPr txBox="1"/>
          <p:nvPr/>
        </p:nvSpPr>
        <p:spPr>
          <a:xfrm>
            <a:off x="739064" y="3943248"/>
            <a:ext cx="178511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050" b="1" i="0" dirty="0">
                <a:solidFill>
                  <a:srgbClr val="1A1A2E"/>
                </a:solidFill>
                <a:latin typeface="Open Sans" panose="020B0606030504020204" pitchFamily="34" charset="0"/>
              </a:rPr>
              <a:t>Peregrine</a:t>
            </a:r>
          </a:p>
        </p:txBody>
      </p:sp>
      <p:sp>
        <p:nvSpPr>
          <p:cNvPr id="27" name="GATE_STATUS_4"/>
          <p:cNvSpPr txBox="1"/>
          <p:nvPr/>
        </p:nvSpPr>
        <p:spPr>
          <a:xfrm>
            <a:off x="2659519" y="3943248"/>
            <a:ext cx="676728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850" b="1" i="0" dirty="0">
                <a:solidFill>
                  <a:srgbClr val="44546A"/>
                </a:solidFill>
                <a:latin typeface="Open Sans" panose="020B0606030504020204" pitchFamily="34" charset="0"/>
              </a:rPr>
              <a:t>FAIL</a:t>
            </a:r>
          </a:p>
        </p:txBody>
      </p:sp>
      <p:sp>
        <p:nvSpPr>
          <p:cNvPr id="28" name="GATE_REASON_4"/>
          <p:cNvSpPr txBox="1"/>
          <p:nvPr/>
        </p:nvSpPr>
        <p:spPr>
          <a:xfrm>
            <a:off x="3471592" y="3943248"/>
            <a:ext cx="3925021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900" b="0" i="0" dirty="0">
                <a:solidFill>
                  <a:srgbClr val="44546A"/>
                </a:solidFill>
                <a:latin typeface="Open Sans" panose="020B0606030504020204" pitchFamily="34" charset="0"/>
              </a:rPr>
              <a:t>M3: capacity below requirement</a:t>
            </a:r>
          </a:p>
        </p:txBody>
      </p:sp>
      <p:sp>
        <p:nvSpPr>
          <p:cNvPr id="29" name="GATE_ROW_5_BG"/>
          <p:cNvSpPr/>
          <p:nvPr/>
        </p:nvSpPr>
        <p:spPr>
          <a:xfrm>
            <a:off x="629336" y="4373016"/>
            <a:ext cx="6767277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0" name="GATE_VENDOR_5"/>
          <p:cNvSpPr txBox="1"/>
          <p:nvPr/>
        </p:nvSpPr>
        <p:spPr>
          <a:xfrm>
            <a:off x="739064" y="4418736"/>
            <a:ext cx="178511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050" b="1" i="0" dirty="0">
                <a:solidFill>
                  <a:srgbClr val="1A1A2E"/>
                </a:solidFill>
                <a:latin typeface="Open Sans" panose="020B0606030504020204" pitchFamily="34" charset="0"/>
              </a:rPr>
              <a:t>Aperture</a:t>
            </a:r>
          </a:p>
        </p:txBody>
      </p:sp>
      <p:sp>
        <p:nvSpPr>
          <p:cNvPr id="31" name="GATE_STATUS_5"/>
          <p:cNvSpPr txBox="1"/>
          <p:nvPr/>
        </p:nvSpPr>
        <p:spPr>
          <a:xfrm>
            <a:off x="2659519" y="4418736"/>
            <a:ext cx="676728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850" b="1" i="0" dirty="0">
                <a:solidFill>
                  <a:srgbClr val="44546A"/>
                </a:solidFill>
                <a:latin typeface="Open Sans" panose="020B0606030504020204" pitchFamily="34" charset="0"/>
              </a:rPr>
              <a:t>FAIL</a:t>
            </a:r>
          </a:p>
        </p:txBody>
      </p:sp>
      <p:sp>
        <p:nvSpPr>
          <p:cNvPr id="32" name="GATE_REASON_5"/>
          <p:cNvSpPr txBox="1"/>
          <p:nvPr/>
        </p:nvSpPr>
        <p:spPr>
          <a:xfrm>
            <a:off x="3471592" y="4418736"/>
            <a:ext cx="3925021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900" b="0" i="0" dirty="0">
                <a:solidFill>
                  <a:srgbClr val="44546A"/>
                </a:solidFill>
                <a:latin typeface="Open Sans" panose="020B0606030504020204" pitchFamily="34" charset="0"/>
              </a:rPr>
              <a:t>M1/M2: over budget and late</a:t>
            </a:r>
          </a:p>
        </p:txBody>
      </p:sp>
      <p:sp>
        <p:nvSpPr>
          <p:cNvPr id="33" name="COMPARISON_BG"/>
          <p:cNvSpPr/>
          <p:nvPr/>
        </p:nvSpPr>
        <p:spPr>
          <a:xfrm>
            <a:off x="7625213" y="2187600"/>
            <a:ext cx="3919086" cy="2660904"/>
          </a:xfrm>
          <a:prstGeom prst="roundRect">
            <a:avLst>
              <a:gd name="adj" fmla="val 8000"/>
            </a:avLst>
          </a:prstGeom>
          <a:solidFill>
            <a:srgbClr val="F8FAFB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4" name="SCORE_VENDOR_1"/>
          <p:cNvSpPr txBox="1"/>
          <p:nvPr/>
        </p:nvSpPr>
        <p:spPr>
          <a:xfrm>
            <a:off x="7771517" y="2297328"/>
            <a:ext cx="2377440" cy="2011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050" b="1" i="0" dirty="0">
                <a:solidFill>
                  <a:srgbClr val="1A1A2E"/>
                </a:solidFill>
                <a:latin typeface="Open Sans" panose="020B0606030504020204" pitchFamily="34" charset="0"/>
              </a:rPr>
              <a:t>Northstar</a:t>
            </a:r>
          </a:p>
        </p:txBody>
      </p:sp>
      <p:sp>
        <p:nvSpPr>
          <p:cNvPr id="35" name="SCORE_TRACK_1"/>
          <p:cNvSpPr/>
          <p:nvPr/>
        </p:nvSpPr>
        <p:spPr>
          <a:xfrm>
            <a:off x="7771517" y="2544216"/>
            <a:ext cx="2501766" cy="118872"/>
          </a:xfrm>
          <a:prstGeom prst="roundRect">
            <a:avLst>
              <a:gd name="adj" fmla="val 8000"/>
            </a:avLst>
          </a:prstGeom>
          <a:solidFill>
            <a:srgbClr val="C7CFD9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6" name="SCORE_BAR_1"/>
          <p:cNvSpPr/>
          <p:nvPr/>
        </p:nvSpPr>
        <p:spPr>
          <a:xfrm>
            <a:off x="7771517" y="2544216"/>
            <a:ext cx="2296621" cy="118872"/>
          </a:xfrm>
          <a:prstGeom prst="roundRect">
            <a:avLst>
              <a:gd name="adj" fmla="val 8000"/>
            </a:avLst>
          </a:prstGeom>
          <a:solidFill>
            <a:srgbClr val="FF672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7" name="SCORE_VALUE_1"/>
          <p:cNvSpPr txBox="1"/>
          <p:nvPr/>
        </p:nvSpPr>
        <p:spPr>
          <a:xfrm>
            <a:off x="10319003" y="2498496"/>
            <a:ext cx="566928" cy="2011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/>
            <a:r>
              <a:rPr lang="en-US" sz="1050" b="1" i="0" dirty="0">
                <a:solidFill>
                  <a:srgbClr val="1A1A2E"/>
                </a:solidFill>
                <a:latin typeface="Open Sans" panose="020B0606030504020204" pitchFamily="34" charset="0"/>
              </a:rPr>
              <a:t>91.8</a:t>
            </a:r>
          </a:p>
        </p:txBody>
      </p:sp>
      <p:sp>
        <p:nvSpPr>
          <p:cNvPr id="38" name="SCORE_LABEL_1"/>
          <p:cNvSpPr txBox="1"/>
          <p:nvPr/>
        </p:nvSpPr>
        <p:spPr>
          <a:xfrm>
            <a:off x="7771517" y="2699664"/>
            <a:ext cx="3599046" cy="16459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850" b="0" i="0" dirty="0">
                <a:solidFill>
                  <a:srgbClr val="44546A"/>
                </a:solidFill>
                <a:latin typeface="Open Sans" panose="020B0606030504020204" pitchFamily="34" charset="0"/>
              </a:rPr>
              <a:t>S$348,000 ex GST</a:t>
            </a:r>
          </a:p>
        </p:txBody>
      </p:sp>
      <p:sp>
        <p:nvSpPr>
          <p:cNvPr id="39" name="SCORE_VENDOR_2"/>
          <p:cNvSpPr txBox="1"/>
          <p:nvPr/>
        </p:nvSpPr>
        <p:spPr>
          <a:xfrm>
            <a:off x="7771517" y="3138576"/>
            <a:ext cx="2377440" cy="2011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050" b="1" i="0" dirty="0">
                <a:solidFill>
                  <a:srgbClr val="1A1A2E"/>
                </a:solidFill>
                <a:latin typeface="Open Sans" panose="020B0606030504020204" pitchFamily="34" charset="0"/>
              </a:rPr>
              <a:t>Meridian</a:t>
            </a:r>
          </a:p>
        </p:txBody>
      </p:sp>
      <p:sp>
        <p:nvSpPr>
          <p:cNvPr id="40" name="SCORE_TRACK_2"/>
          <p:cNvSpPr/>
          <p:nvPr/>
        </p:nvSpPr>
        <p:spPr>
          <a:xfrm>
            <a:off x="7771517" y="3385464"/>
            <a:ext cx="2501766" cy="118872"/>
          </a:xfrm>
          <a:prstGeom prst="roundRect">
            <a:avLst>
              <a:gd name="adj" fmla="val 8000"/>
            </a:avLst>
          </a:prstGeom>
          <a:solidFill>
            <a:srgbClr val="C7CFD9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41" name="SCORE_BAR_2"/>
          <p:cNvSpPr/>
          <p:nvPr/>
        </p:nvSpPr>
        <p:spPr>
          <a:xfrm>
            <a:off x="7771517" y="3385464"/>
            <a:ext cx="2156522" cy="118872"/>
          </a:xfrm>
          <a:prstGeom prst="roundRect">
            <a:avLst>
              <a:gd name="adj" fmla="val 8000"/>
            </a:avLst>
          </a:prstGeom>
          <a:solidFill>
            <a:srgbClr val="FF672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42" name="SCORE_VALUE_2"/>
          <p:cNvSpPr txBox="1"/>
          <p:nvPr/>
        </p:nvSpPr>
        <p:spPr>
          <a:xfrm>
            <a:off x="10319003" y="3339744"/>
            <a:ext cx="566928" cy="2011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/>
            <a:r>
              <a:rPr lang="en-US" sz="1050" b="1" i="0" dirty="0">
                <a:solidFill>
                  <a:srgbClr val="1A1A2E"/>
                </a:solidFill>
                <a:latin typeface="Open Sans" panose="020B0606030504020204" pitchFamily="34" charset="0"/>
              </a:rPr>
              <a:t>86.2</a:t>
            </a:r>
          </a:p>
        </p:txBody>
      </p:sp>
      <p:sp>
        <p:nvSpPr>
          <p:cNvPr id="43" name="SCORE_LABEL_2"/>
          <p:cNvSpPr txBox="1"/>
          <p:nvPr/>
        </p:nvSpPr>
        <p:spPr>
          <a:xfrm>
            <a:off x="7771517" y="3540912"/>
            <a:ext cx="3599046" cy="16459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850" b="0" i="0" dirty="0">
                <a:solidFill>
                  <a:srgbClr val="44546A"/>
                </a:solidFill>
                <a:latin typeface="Open Sans" panose="020B0606030504020204" pitchFamily="34" charset="0"/>
              </a:rPr>
              <a:t>S$391,500 ex GST</a:t>
            </a:r>
          </a:p>
        </p:txBody>
      </p:sp>
      <p:sp>
        <p:nvSpPr>
          <p:cNvPr id="44" name="SCORE_VENDOR_3"/>
          <p:cNvSpPr txBox="1"/>
          <p:nvPr/>
        </p:nvSpPr>
        <p:spPr>
          <a:xfrm>
            <a:off x="7771517" y="3979824"/>
            <a:ext cx="2377440" cy="2011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050" b="1" i="0" dirty="0">
                <a:solidFill>
                  <a:srgbClr val="1A1A2E"/>
                </a:solidFill>
                <a:latin typeface="Open Sans" panose="020B0606030504020204" pitchFamily="34" charset="0"/>
              </a:rPr>
              <a:t>Helix</a:t>
            </a:r>
          </a:p>
        </p:txBody>
      </p:sp>
      <p:sp>
        <p:nvSpPr>
          <p:cNvPr id="45" name="SCORE_TRACK_3"/>
          <p:cNvSpPr/>
          <p:nvPr/>
        </p:nvSpPr>
        <p:spPr>
          <a:xfrm>
            <a:off x="7771517" y="4226712"/>
            <a:ext cx="2501766" cy="118872"/>
          </a:xfrm>
          <a:prstGeom prst="roundRect">
            <a:avLst>
              <a:gd name="adj" fmla="val 8000"/>
            </a:avLst>
          </a:prstGeom>
          <a:solidFill>
            <a:srgbClr val="C7CFD9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46" name="SCORE_BAR_3"/>
          <p:cNvSpPr/>
          <p:nvPr/>
        </p:nvSpPr>
        <p:spPr>
          <a:xfrm>
            <a:off x="7771517" y="4226712"/>
            <a:ext cx="2036438" cy="118872"/>
          </a:xfrm>
          <a:prstGeom prst="roundRect">
            <a:avLst>
              <a:gd name="adj" fmla="val 8000"/>
            </a:avLst>
          </a:prstGeom>
          <a:solidFill>
            <a:srgbClr val="FF672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47" name="SCORE_VALUE_3"/>
          <p:cNvSpPr txBox="1"/>
          <p:nvPr/>
        </p:nvSpPr>
        <p:spPr>
          <a:xfrm>
            <a:off x="10319003" y="4180992"/>
            <a:ext cx="566928" cy="2011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/>
            <a:r>
              <a:rPr lang="en-US" sz="1050" b="1" i="0" dirty="0">
                <a:solidFill>
                  <a:srgbClr val="1A1A2E"/>
                </a:solidFill>
                <a:latin typeface="Open Sans" panose="020B0606030504020204" pitchFamily="34" charset="0"/>
              </a:rPr>
              <a:t>81.4</a:t>
            </a:r>
          </a:p>
        </p:txBody>
      </p:sp>
      <p:sp>
        <p:nvSpPr>
          <p:cNvPr id="48" name="SCORE_LABEL_3"/>
          <p:cNvSpPr txBox="1"/>
          <p:nvPr/>
        </p:nvSpPr>
        <p:spPr>
          <a:xfrm>
            <a:off x="7771517" y="4382160"/>
            <a:ext cx="3599046" cy="16459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850" b="0" i="0" dirty="0">
                <a:solidFill>
                  <a:srgbClr val="44546A"/>
                </a:solidFill>
                <a:latin typeface="Open Sans" panose="020B0606030504020204" pitchFamily="34" charset="0"/>
              </a:rPr>
              <a:t>S$422,000 ex GST</a:t>
            </a:r>
          </a:p>
        </p:txBody>
      </p:sp>
      <p:sp>
        <p:nvSpPr>
          <p:cNvPr id="49" name="DECISION_PANEL"/>
          <p:cNvSpPr/>
          <p:nvPr/>
        </p:nvSpPr>
        <p:spPr>
          <a:xfrm>
            <a:off x="629336" y="5013096"/>
            <a:ext cx="10914963" cy="530352"/>
          </a:xfrm>
          <a:prstGeom prst="roundRect">
            <a:avLst>
              <a:gd name="adj" fmla="val 8000"/>
            </a:avLst>
          </a:prstGeom>
          <a:solidFill>
            <a:srgbClr val="003087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50" name="DECISION"/>
          <p:cNvSpPr txBox="1"/>
          <p:nvPr/>
        </p:nvSpPr>
        <p:spPr>
          <a:xfrm>
            <a:off x="830504" y="5113680"/>
            <a:ext cx="10549203" cy="32918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en-US" sz="1400" b="1" i="0" dirty="0">
                <a:solidFill>
                  <a:srgbClr val="FFFFFF"/>
                </a:solidFill>
                <a:latin typeface="Open Sans" panose="020B0606030504020204" pitchFamily="34" charset="0"/>
              </a:rPr>
              <a:t>Score only the three compliant bids before recommending an award</a:t>
            </a:r>
          </a:p>
        </p:txBody>
      </p:sp>
      <p:sp>
        <p:nvSpPr>
          <p:cNvPr id="51" name="SOURCE_NOTES"/>
          <p:cNvSpPr txBox="1"/>
          <p:nvPr/>
        </p:nvSpPr>
        <p:spPr>
          <a:xfrm>
            <a:off x="629336" y="5689752"/>
            <a:ext cx="10914963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850" b="0" i="0" dirty="0">
                <a:solidFill>
                  <a:srgbClr val="44546A"/>
                </a:solidFill>
                <a:latin typeface="Open Sans" panose="020B0606030504020204" pitchFamily="34" charset="0"/>
              </a:rPr>
              <a:t>Sources: RFQ-02 M1-M7; NST-05 service term; EMAIL-02 service clarification thread; EVAL-01 summary scores; EVAL-02 proposal comparison. Fictional training case.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decision_summar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629336" y="336000"/>
            <a:ext cx="10914963" cy="48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2400" b="1" i="0" dirty="0">
                <a:solidFill>
                  <a:srgbClr val="003087"/>
                </a:solidFill>
                <a:latin typeface="Open Sans" panose="020B0606030504020204" pitchFamily="34" charset="0"/>
              </a:rPr>
              <a:t>Select Northstar for the ARER-300 platform</a:t>
            </a:r>
          </a:p>
        </p:txBody>
      </p:sp>
      <p:sp>
        <p:nvSpPr>
          <p:cNvPr id="3" name="AUDIENCE"/>
          <p:cNvSpPr txBox="1"/>
          <p:nvPr/>
        </p:nvSpPr>
        <p:spPr>
          <a:xfrm>
            <a:off x="629336" y="852576"/>
            <a:ext cx="10914963" cy="2011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000" b="1" i="0" dirty="0">
                <a:solidFill>
                  <a:srgbClr val="44546A"/>
                </a:solidFill>
                <a:latin typeface="Open Sans" panose="020B0606030504020204" pitchFamily="34" charset="0"/>
              </a:rPr>
              <a:t>Executive Approval Committee</a:t>
            </a:r>
          </a:p>
        </p:txBody>
      </p:sp>
      <p:sp>
        <p:nvSpPr>
          <p:cNvPr id="4" name="RECOMMENDATION_PANEL"/>
          <p:cNvSpPr/>
          <p:nvPr/>
        </p:nvSpPr>
        <p:spPr>
          <a:xfrm>
            <a:off x="629336" y="1090320"/>
            <a:ext cx="10914963" cy="566928"/>
          </a:xfrm>
          <a:prstGeom prst="roundRect">
            <a:avLst>
              <a:gd name="adj" fmla="val 8000"/>
            </a:avLst>
          </a:prstGeom>
          <a:solidFill>
            <a:srgbClr val="E7E6E6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5" name="RECOMMENDATION_ACCENT"/>
          <p:cNvSpPr/>
          <p:nvPr/>
        </p:nvSpPr>
        <p:spPr>
          <a:xfrm>
            <a:off x="629336" y="1090320"/>
            <a:ext cx="82296" cy="566928"/>
          </a:xfrm>
          <a:prstGeom prst="rect">
            <a:avLst/>
          </a:prstGeom>
          <a:solidFill>
            <a:srgbClr val="003087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" name="RECOMMENDATION"/>
          <p:cNvSpPr txBox="1"/>
          <p:nvPr/>
        </p:nvSpPr>
        <p:spPr>
          <a:xfrm>
            <a:off x="830504" y="1163472"/>
            <a:ext cx="10549203" cy="42062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en-US" sz="1500" b="1" i="0" dirty="0">
                <a:solidFill>
                  <a:srgbClr val="1A1A2E"/>
                </a:solidFill>
                <a:latin typeface="Open Sans" panose="020B0606030504020204" pitchFamily="34" charset="0"/>
              </a:rPr>
              <a:t>Northstar leads the evaluation and meets all gates</a:t>
            </a:r>
          </a:p>
        </p:txBody>
      </p:sp>
      <p:sp>
        <p:nvSpPr>
          <p:cNvPr id="7" name="GATE_TABLE"/>
          <p:cNvSpPr txBox="1"/>
          <p:nvPr/>
        </p:nvSpPr>
        <p:spPr>
          <a:xfrm>
            <a:off x="629336" y="1858416"/>
            <a:ext cx="5457482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250" b="1" i="0" dirty="0">
                <a:solidFill>
                  <a:srgbClr val="003087"/>
                </a:solidFill>
                <a:latin typeface="Open Sans" panose="020B0606030504020204" pitchFamily="34" charset="0"/>
              </a:rPr>
              <a:t>MANDATORY COMPLIANCE</a:t>
            </a:r>
          </a:p>
        </p:txBody>
      </p:sp>
      <p:sp>
        <p:nvSpPr>
          <p:cNvPr id="8" name="COMPARISON_CHART"/>
          <p:cNvSpPr txBox="1"/>
          <p:nvPr/>
        </p:nvSpPr>
        <p:spPr>
          <a:xfrm>
            <a:off x="6315418" y="1858416"/>
            <a:ext cx="5228881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250" b="1" i="0" dirty="0">
                <a:solidFill>
                  <a:srgbClr val="003087"/>
                </a:solidFill>
                <a:latin typeface="Open Sans" panose="020B0606030504020204" pitchFamily="34" charset="0"/>
              </a:rPr>
              <a:t>SCORES AFTER GATE</a:t>
            </a:r>
          </a:p>
        </p:txBody>
      </p:sp>
      <p:sp>
        <p:nvSpPr>
          <p:cNvPr id="9" name="GATE_HEADER_BG"/>
          <p:cNvSpPr/>
          <p:nvPr/>
        </p:nvSpPr>
        <p:spPr>
          <a:xfrm>
            <a:off x="629336" y="2187600"/>
            <a:ext cx="5457482" cy="237744"/>
          </a:xfrm>
          <a:prstGeom prst="rect">
            <a:avLst/>
          </a:prstGeom>
          <a:solidFill>
            <a:srgbClr val="E7E6E6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0" name="GATE_VENDOR_HEADER"/>
          <p:cNvSpPr txBox="1"/>
          <p:nvPr/>
        </p:nvSpPr>
        <p:spPr>
          <a:xfrm>
            <a:off x="739064" y="2215032"/>
            <a:ext cx="1528095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850" b="1" i="0" dirty="0">
                <a:solidFill>
                  <a:srgbClr val="44546A"/>
                </a:solidFill>
                <a:latin typeface="Open Sans" panose="020B0606030504020204" pitchFamily="34" charset="0"/>
              </a:rPr>
              <a:t>VENDOR</a:t>
            </a:r>
          </a:p>
        </p:txBody>
      </p:sp>
      <p:sp>
        <p:nvSpPr>
          <p:cNvPr id="11" name="GATE_STATUS_HEADER"/>
          <p:cNvSpPr txBox="1"/>
          <p:nvPr/>
        </p:nvSpPr>
        <p:spPr>
          <a:xfrm>
            <a:off x="2266581" y="2215032"/>
            <a:ext cx="545748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850" b="1" i="0" dirty="0">
                <a:solidFill>
                  <a:srgbClr val="44546A"/>
                </a:solidFill>
                <a:latin typeface="Open Sans" panose="020B0606030504020204" pitchFamily="34" charset="0"/>
              </a:rPr>
              <a:t>GATE</a:t>
            </a:r>
          </a:p>
        </p:txBody>
      </p:sp>
      <p:sp>
        <p:nvSpPr>
          <p:cNvPr id="12" name="GATE_REASON_HEADER"/>
          <p:cNvSpPr txBox="1"/>
          <p:nvPr/>
        </p:nvSpPr>
        <p:spPr>
          <a:xfrm>
            <a:off x="2921478" y="2215032"/>
            <a:ext cx="3165340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850" b="1" i="0" dirty="0">
                <a:solidFill>
                  <a:srgbClr val="44546A"/>
                </a:solidFill>
                <a:latin typeface="Open Sans" panose="020B0606030504020204" pitchFamily="34" charset="0"/>
              </a:rPr>
              <a:t>DECISIVE BASIS</a:t>
            </a:r>
          </a:p>
        </p:txBody>
      </p:sp>
      <p:sp>
        <p:nvSpPr>
          <p:cNvPr id="13" name="GATE_ROW_1_BG"/>
          <p:cNvSpPr/>
          <p:nvPr/>
        </p:nvSpPr>
        <p:spPr>
          <a:xfrm>
            <a:off x="629336" y="2471064"/>
            <a:ext cx="5457482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4" name="GATE_VENDOR_1"/>
          <p:cNvSpPr txBox="1"/>
          <p:nvPr/>
        </p:nvSpPr>
        <p:spPr>
          <a:xfrm>
            <a:off x="739064" y="2516784"/>
            <a:ext cx="1418367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050" b="1" i="0" dirty="0">
                <a:solidFill>
                  <a:srgbClr val="1A1A2E"/>
                </a:solidFill>
                <a:latin typeface="Open Sans" panose="020B0606030504020204" pitchFamily="34" charset="0"/>
              </a:rPr>
              <a:t>Northstar</a:t>
            </a:r>
          </a:p>
        </p:txBody>
      </p:sp>
      <p:sp>
        <p:nvSpPr>
          <p:cNvPr id="15" name="GATE_STATUS_1"/>
          <p:cNvSpPr txBox="1"/>
          <p:nvPr/>
        </p:nvSpPr>
        <p:spPr>
          <a:xfrm>
            <a:off x="2266581" y="2516784"/>
            <a:ext cx="545748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850" b="1" i="0" dirty="0">
                <a:solidFill>
                  <a:srgbClr val="44546A"/>
                </a:solidFill>
                <a:latin typeface="Open Sans" panose="020B0606030504020204" pitchFamily="34" charset="0"/>
              </a:rPr>
              <a:t>PASS</a:t>
            </a:r>
          </a:p>
        </p:txBody>
      </p:sp>
      <p:sp>
        <p:nvSpPr>
          <p:cNvPr id="16" name="GATE_REASON_1"/>
          <p:cNvSpPr txBox="1"/>
          <p:nvPr/>
        </p:nvSpPr>
        <p:spPr>
          <a:xfrm>
            <a:off x="2921478" y="2516784"/>
            <a:ext cx="316534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900" b="0" i="0" dirty="0">
                <a:solidFill>
                  <a:srgbClr val="44546A"/>
                </a:solidFill>
                <a:latin typeface="Open Sans" panose="020B0606030504020204" pitchFamily="34" charset="0"/>
              </a:rPr>
              <a:t>M1-M7 satisfied</a:t>
            </a:r>
          </a:p>
        </p:txBody>
      </p:sp>
      <p:sp>
        <p:nvSpPr>
          <p:cNvPr id="17" name="GATE_ROW_2_BG"/>
          <p:cNvSpPr/>
          <p:nvPr/>
        </p:nvSpPr>
        <p:spPr>
          <a:xfrm>
            <a:off x="629336" y="2946552"/>
            <a:ext cx="5457482" cy="4572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8" name="GATE_VENDOR_2"/>
          <p:cNvSpPr txBox="1"/>
          <p:nvPr/>
        </p:nvSpPr>
        <p:spPr>
          <a:xfrm>
            <a:off x="739064" y="2992272"/>
            <a:ext cx="1418367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050" b="1" i="0" dirty="0">
                <a:solidFill>
                  <a:srgbClr val="1A1A2E"/>
                </a:solidFill>
                <a:latin typeface="Open Sans" panose="020B0606030504020204" pitchFamily="34" charset="0"/>
              </a:rPr>
              <a:t>Meridian</a:t>
            </a:r>
          </a:p>
        </p:txBody>
      </p:sp>
      <p:sp>
        <p:nvSpPr>
          <p:cNvPr id="19" name="GATE_STATUS_2"/>
          <p:cNvSpPr txBox="1"/>
          <p:nvPr/>
        </p:nvSpPr>
        <p:spPr>
          <a:xfrm>
            <a:off x="2266581" y="2992272"/>
            <a:ext cx="545748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850" b="1" i="0" dirty="0">
                <a:solidFill>
                  <a:srgbClr val="44546A"/>
                </a:solidFill>
                <a:latin typeface="Open Sans" panose="020B0606030504020204" pitchFamily="34" charset="0"/>
              </a:rPr>
              <a:t>PASS</a:t>
            </a:r>
          </a:p>
        </p:txBody>
      </p:sp>
      <p:sp>
        <p:nvSpPr>
          <p:cNvPr id="20" name="GATE_REASON_2"/>
          <p:cNvSpPr txBox="1"/>
          <p:nvPr/>
        </p:nvSpPr>
        <p:spPr>
          <a:xfrm>
            <a:off x="2921478" y="2992272"/>
            <a:ext cx="316534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900" b="0" i="0" dirty="0">
                <a:solidFill>
                  <a:srgbClr val="44546A"/>
                </a:solidFill>
                <a:latin typeface="Open Sans" panose="020B0606030504020204" pitchFamily="34" charset="0"/>
              </a:rPr>
              <a:t>M1-M7 satisfied</a:t>
            </a:r>
          </a:p>
        </p:txBody>
      </p:sp>
      <p:sp>
        <p:nvSpPr>
          <p:cNvPr id="21" name="GATE_ROW_3_BG"/>
          <p:cNvSpPr/>
          <p:nvPr/>
        </p:nvSpPr>
        <p:spPr>
          <a:xfrm>
            <a:off x="629336" y="3422040"/>
            <a:ext cx="5457482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2" name="GATE_VENDOR_3"/>
          <p:cNvSpPr txBox="1"/>
          <p:nvPr/>
        </p:nvSpPr>
        <p:spPr>
          <a:xfrm>
            <a:off x="739064" y="3467760"/>
            <a:ext cx="1418367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050" b="1" i="0" dirty="0">
                <a:solidFill>
                  <a:srgbClr val="1A1A2E"/>
                </a:solidFill>
                <a:latin typeface="Open Sans" panose="020B0606030504020204" pitchFamily="34" charset="0"/>
              </a:rPr>
              <a:t>Helix</a:t>
            </a:r>
          </a:p>
        </p:txBody>
      </p:sp>
      <p:sp>
        <p:nvSpPr>
          <p:cNvPr id="23" name="GATE_STATUS_3"/>
          <p:cNvSpPr txBox="1"/>
          <p:nvPr/>
        </p:nvSpPr>
        <p:spPr>
          <a:xfrm>
            <a:off x="2266581" y="3467760"/>
            <a:ext cx="545748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850" b="1" i="0" dirty="0">
                <a:solidFill>
                  <a:srgbClr val="44546A"/>
                </a:solidFill>
                <a:latin typeface="Open Sans" panose="020B0606030504020204" pitchFamily="34" charset="0"/>
              </a:rPr>
              <a:t>PASS</a:t>
            </a:r>
          </a:p>
        </p:txBody>
      </p:sp>
      <p:sp>
        <p:nvSpPr>
          <p:cNvPr id="24" name="GATE_REASON_3"/>
          <p:cNvSpPr txBox="1"/>
          <p:nvPr/>
        </p:nvSpPr>
        <p:spPr>
          <a:xfrm>
            <a:off x="2921478" y="3467760"/>
            <a:ext cx="316534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900" b="0" i="0" dirty="0">
                <a:solidFill>
                  <a:srgbClr val="44546A"/>
                </a:solidFill>
                <a:latin typeface="Open Sans" panose="020B0606030504020204" pitchFamily="34" charset="0"/>
              </a:rPr>
              <a:t>M1-M7 satisfied</a:t>
            </a:r>
          </a:p>
        </p:txBody>
      </p:sp>
      <p:sp>
        <p:nvSpPr>
          <p:cNvPr id="25" name="GATE_ROW_4_BG"/>
          <p:cNvSpPr/>
          <p:nvPr/>
        </p:nvSpPr>
        <p:spPr>
          <a:xfrm>
            <a:off x="629336" y="3897528"/>
            <a:ext cx="5457482" cy="4572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6" name="GATE_VENDOR_4"/>
          <p:cNvSpPr txBox="1"/>
          <p:nvPr/>
        </p:nvSpPr>
        <p:spPr>
          <a:xfrm>
            <a:off x="739064" y="3943248"/>
            <a:ext cx="1418367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050" b="1" i="0" dirty="0">
                <a:solidFill>
                  <a:srgbClr val="1A1A2E"/>
                </a:solidFill>
                <a:latin typeface="Open Sans" panose="020B0606030504020204" pitchFamily="34" charset="0"/>
              </a:rPr>
              <a:t/>
            </a:r>
          </a:p>
        </p:txBody>
      </p:sp>
      <p:sp>
        <p:nvSpPr>
          <p:cNvPr id="27" name="GATE_STATUS_4"/>
          <p:cNvSpPr txBox="1"/>
          <p:nvPr/>
        </p:nvSpPr>
        <p:spPr>
          <a:xfrm>
            <a:off x="2266581" y="3943248"/>
            <a:ext cx="545748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850" b="1" i="0" dirty="0">
                <a:solidFill>
                  <a:srgbClr val="44546A"/>
                </a:solidFill>
                <a:latin typeface="Open Sans" panose="020B0606030504020204" pitchFamily="34" charset="0"/>
              </a:rPr>
              <a:t/>
            </a:r>
          </a:p>
        </p:txBody>
      </p:sp>
      <p:sp>
        <p:nvSpPr>
          <p:cNvPr id="28" name="GATE_REASON_4"/>
          <p:cNvSpPr txBox="1"/>
          <p:nvPr/>
        </p:nvSpPr>
        <p:spPr>
          <a:xfrm>
            <a:off x="2921478" y="3943248"/>
            <a:ext cx="316534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900" b="0" i="0" dirty="0">
                <a:solidFill>
                  <a:srgbClr val="44546A"/>
                </a:solidFill>
                <a:latin typeface="Open Sans" panose="020B0606030504020204" pitchFamily="34" charset="0"/>
              </a:rPr>
              <a:t/>
            </a:r>
          </a:p>
        </p:txBody>
      </p:sp>
      <p:sp>
        <p:nvSpPr>
          <p:cNvPr id="29" name="GATE_ROW_5_BG"/>
          <p:cNvSpPr/>
          <p:nvPr/>
        </p:nvSpPr>
        <p:spPr>
          <a:xfrm>
            <a:off x="629336" y="4373016"/>
            <a:ext cx="5457482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0" name="GATE_VENDOR_5"/>
          <p:cNvSpPr txBox="1"/>
          <p:nvPr/>
        </p:nvSpPr>
        <p:spPr>
          <a:xfrm>
            <a:off x="739064" y="4418736"/>
            <a:ext cx="1418367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050" b="1" i="0" dirty="0">
                <a:solidFill>
                  <a:srgbClr val="1A1A2E"/>
                </a:solidFill>
                <a:latin typeface="Open Sans" panose="020B0606030504020204" pitchFamily="34" charset="0"/>
              </a:rPr>
              <a:t/>
            </a:r>
          </a:p>
        </p:txBody>
      </p:sp>
      <p:sp>
        <p:nvSpPr>
          <p:cNvPr id="31" name="GATE_STATUS_5"/>
          <p:cNvSpPr txBox="1"/>
          <p:nvPr/>
        </p:nvSpPr>
        <p:spPr>
          <a:xfrm>
            <a:off x="2266581" y="4418736"/>
            <a:ext cx="545748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850" b="1" i="0" dirty="0">
                <a:solidFill>
                  <a:srgbClr val="44546A"/>
                </a:solidFill>
                <a:latin typeface="Open Sans" panose="020B0606030504020204" pitchFamily="34" charset="0"/>
              </a:rPr>
              <a:t/>
            </a:r>
          </a:p>
        </p:txBody>
      </p:sp>
      <p:sp>
        <p:nvSpPr>
          <p:cNvPr id="32" name="GATE_REASON_5"/>
          <p:cNvSpPr txBox="1"/>
          <p:nvPr/>
        </p:nvSpPr>
        <p:spPr>
          <a:xfrm>
            <a:off x="2921478" y="4418736"/>
            <a:ext cx="316534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900" b="0" i="0" dirty="0">
                <a:solidFill>
                  <a:srgbClr val="44546A"/>
                </a:solidFill>
                <a:latin typeface="Open Sans" panose="020B0606030504020204" pitchFamily="34" charset="0"/>
              </a:rPr>
              <a:t/>
            </a:r>
          </a:p>
        </p:txBody>
      </p:sp>
      <p:sp>
        <p:nvSpPr>
          <p:cNvPr id="33" name="COMPARISON_BG"/>
          <p:cNvSpPr/>
          <p:nvPr/>
        </p:nvSpPr>
        <p:spPr>
          <a:xfrm>
            <a:off x="6315418" y="2187600"/>
            <a:ext cx="5228881" cy="2660904"/>
          </a:xfrm>
          <a:prstGeom prst="roundRect">
            <a:avLst>
              <a:gd name="adj" fmla="val 8000"/>
            </a:avLst>
          </a:prstGeom>
          <a:solidFill>
            <a:srgbClr val="F8FAFB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4" name="SCORE_VENDOR_1"/>
          <p:cNvSpPr txBox="1"/>
          <p:nvPr/>
        </p:nvSpPr>
        <p:spPr>
          <a:xfrm>
            <a:off x="6461722" y="2297328"/>
            <a:ext cx="2377440" cy="2011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050" b="1" i="0" dirty="0">
                <a:solidFill>
                  <a:srgbClr val="1A1A2E"/>
                </a:solidFill>
                <a:latin typeface="Open Sans" panose="020B0606030504020204" pitchFamily="34" charset="0"/>
              </a:rPr>
              <a:t>Northstar</a:t>
            </a:r>
          </a:p>
        </p:txBody>
      </p:sp>
      <p:sp>
        <p:nvSpPr>
          <p:cNvPr id="35" name="SCORE_TRACK_1"/>
          <p:cNvSpPr/>
          <p:nvPr/>
        </p:nvSpPr>
        <p:spPr>
          <a:xfrm>
            <a:off x="6461722" y="2544216"/>
            <a:ext cx="3811561" cy="118872"/>
          </a:xfrm>
          <a:prstGeom prst="roundRect">
            <a:avLst>
              <a:gd name="adj" fmla="val 8000"/>
            </a:avLst>
          </a:prstGeom>
          <a:solidFill>
            <a:srgbClr val="C7CFD9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6" name="SCORE_BAR_1"/>
          <p:cNvSpPr/>
          <p:nvPr/>
        </p:nvSpPr>
        <p:spPr>
          <a:xfrm>
            <a:off x="6461722" y="2544216"/>
            <a:ext cx="3499013" cy="118872"/>
          </a:xfrm>
          <a:prstGeom prst="roundRect">
            <a:avLst>
              <a:gd name="adj" fmla="val 8000"/>
            </a:avLst>
          </a:prstGeom>
          <a:solidFill>
            <a:srgbClr val="003087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7" name="SCORE_VALUE_1"/>
          <p:cNvSpPr txBox="1"/>
          <p:nvPr/>
        </p:nvSpPr>
        <p:spPr>
          <a:xfrm>
            <a:off x="10319003" y="2498496"/>
            <a:ext cx="566928" cy="2011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/>
            <a:r>
              <a:rPr lang="en-US" sz="1050" b="1" i="0" dirty="0">
                <a:solidFill>
                  <a:srgbClr val="1A1A2E"/>
                </a:solidFill>
                <a:latin typeface="Open Sans" panose="020B0606030504020204" pitchFamily="34" charset="0"/>
              </a:rPr>
              <a:t>91.8</a:t>
            </a:r>
          </a:p>
        </p:txBody>
      </p:sp>
      <p:sp>
        <p:nvSpPr>
          <p:cNvPr id="38" name="SCORE_LABEL_1"/>
          <p:cNvSpPr txBox="1"/>
          <p:nvPr/>
        </p:nvSpPr>
        <p:spPr>
          <a:xfrm>
            <a:off x="6461722" y="2699664"/>
            <a:ext cx="4908841" cy="16459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850" b="0" i="0" dirty="0">
                <a:solidFill>
                  <a:srgbClr val="44546A"/>
                </a:solidFill>
                <a:latin typeface="Open Sans" panose="020B0606030504020204" pitchFamily="34" charset="0"/>
              </a:rPr>
              <a:t>S$348,000 ex GST</a:t>
            </a:r>
          </a:p>
        </p:txBody>
      </p:sp>
      <p:sp>
        <p:nvSpPr>
          <p:cNvPr id="39" name="SCORE_VENDOR_2"/>
          <p:cNvSpPr txBox="1"/>
          <p:nvPr/>
        </p:nvSpPr>
        <p:spPr>
          <a:xfrm>
            <a:off x="6461722" y="3138576"/>
            <a:ext cx="2377440" cy="2011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050" b="1" i="0" dirty="0">
                <a:solidFill>
                  <a:srgbClr val="1A1A2E"/>
                </a:solidFill>
                <a:latin typeface="Open Sans" panose="020B0606030504020204" pitchFamily="34" charset="0"/>
              </a:rPr>
              <a:t>Meridian</a:t>
            </a:r>
          </a:p>
        </p:txBody>
      </p:sp>
      <p:sp>
        <p:nvSpPr>
          <p:cNvPr id="40" name="SCORE_TRACK_2"/>
          <p:cNvSpPr/>
          <p:nvPr/>
        </p:nvSpPr>
        <p:spPr>
          <a:xfrm>
            <a:off x="6461722" y="3385464"/>
            <a:ext cx="3811561" cy="118872"/>
          </a:xfrm>
          <a:prstGeom prst="roundRect">
            <a:avLst>
              <a:gd name="adj" fmla="val 8000"/>
            </a:avLst>
          </a:prstGeom>
          <a:solidFill>
            <a:srgbClr val="C7CFD9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41" name="SCORE_BAR_2"/>
          <p:cNvSpPr/>
          <p:nvPr/>
        </p:nvSpPr>
        <p:spPr>
          <a:xfrm>
            <a:off x="6461722" y="3385464"/>
            <a:ext cx="3285566" cy="118872"/>
          </a:xfrm>
          <a:prstGeom prst="roundRect">
            <a:avLst>
              <a:gd name="adj" fmla="val 8000"/>
            </a:avLst>
          </a:prstGeom>
          <a:solidFill>
            <a:srgbClr val="003087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42" name="SCORE_VALUE_2"/>
          <p:cNvSpPr txBox="1"/>
          <p:nvPr/>
        </p:nvSpPr>
        <p:spPr>
          <a:xfrm>
            <a:off x="10319003" y="3339744"/>
            <a:ext cx="566928" cy="2011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/>
            <a:r>
              <a:rPr lang="en-US" sz="1050" b="1" i="0" dirty="0">
                <a:solidFill>
                  <a:srgbClr val="1A1A2E"/>
                </a:solidFill>
                <a:latin typeface="Open Sans" panose="020B0606030504020204" pitchFamily="34" charset="0"/>
              </a:rPr>
              <a:t>86.2</a:t>
            </a:r>
          </a:p>
        </p:txBody>
      </p:sp>
      <p:sp>
        <p:nvSpPr>
          <p:cNvPr id="43" name="SCORE_LABEL_2"/>
          <p:cNvSpPr txBox="1"/>
          <p:nvPr/>
        </p:nvSpPr>
        <p:spPr>
          <a:xfrm>
            <a:off x="6461722" y="3540912"/>
            <a:ext cx="4908841" cy="16459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850" b="0" i="0" dirty="0">
                <a:solidFill>
                  <a:srgbClr val="44546A"/>
                </a:solidFill>
                <a:latin typeface="Open Sans" panose="020B0606030504020204" pitchFamily="34" charset="0"/>
              </a:rPr>
              <a:t>S$391,500 ex GST</a:t>
            </a:r>
          </a:p>
        </p:txBody>
      </p:sp>
      <p:sp>
        <p:nvSpPr>
          <p:cNvPr id="44" name="SCORE_VENDOR_3"/>
          <p:cNvSpPr txBox="1"/>
          <p:nvPr/>
        </p:nvSpPr>
        <p:spPr>
          <a:xfrm>
            <a:off x="6461722" y="3979824"/>
            <a:ext cx="2377440" cy="2011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050" b="1" i="0" dirty="0">
                <a:solidFill>
                  <a:srgbClr val="1A1A2E"/>
                </a:solidFill>
                <a:latin typeface="Open Sans" panose="020B0606030504020204" pitchFamily="34" charset="0"/>
              </a:rPr>
              <a:t>Helix</a:t>
            </a:r>
          </a:p>
        </p:txBody>
      </p:sp>
      <p:sp>
        <p:nvSpPr>
          <p:cNvPr id="45" name="SCORE_TRACK_3"/>
          <p:cNvSpPr/>
          <p:nvPr/>
        </p:nvSpPr>
        <p:spPr>
          <a:xfrm>
            <a:off x="6461722" y="4226712"/>
            <a:ext cx="3811561" cy="118872"/>
          </a:xfrm>
          <a:prstGeom prst="roundRect">
            <a:avLst>
              <a:gd name="adj" fmla="val 8000"/>
            </a:avLst>
          </a:prstGeom>
          <a:solidFill>
            <a:srgbClr val="C7CFD9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46" name="SCORE_BAR_3"/>
          <p:cNvSpPr/>
          <p:nvPr/>
        </p:nvSpPr>
        <p:spPr>
          <a:xfrm>
            <a:off x="6461722" y="4226712"/>
            <a:ext cx="3102611" cy="118872"/>
          </a:xfrm>
          <a:prstGeom prst="roundRect">
            <a:avLst>
              <a:gd name="adj" fmla="val 8000"/>
            </a:avLst>
          </a:prstGeom>
          <a:solidFill>
            <a:srgbClr val="003087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47" name="SCORE_VALUE_3"/>
          <p:cNvSpPr txBox="1"/>
          <p:nvPr/>
        </p:nvSpPr>
        <p:spPr>
          <a:xfrm>
            <a:off x="10319003" y="4180992"/>
            <a:ext cx="566928" cy="2011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/>
            <a:r>
              <a:rPr lang="en-US" sz="1050" b="1" i="0" dirty="0">
                <a:solidFill>
                  <a:srgbClr val="1A1A2E"/>
                </a:solidFill>
                <a:latin typeface="Open Sans" panose="020B0606030504020204" pitchFamily="34" charset="0"/>
              </a:rPr>
              <a:t>81.4</a:t>
            </a:r>
          </a:p>
        </p:txBody>
      </p:sp>
      <p:sp>
        <p:nvSpPr>
          <p:cNvPr id="48" name="SCORE_LABEL_3"/>
          <p:cNvSpPr txBox="1"/>
          <p:nvPr/>
        </p:nvSpPr>
        <p:spPr>
          <a:xfrm>
            <a:off x="6461722" y="4382160"/>
            <a:ext cx="4908841" cy="16459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850" b="0" i="0" dirty="0">
                <a:solidFill>
                  <a:srgbClr val="44546A"/>
                </a:solidFill>
                <a:latin typeface="Open Sans" panose="020B0606030504020204" pitchFamily="34" charset="0"/>
              </a:rPr>
              <a:t>S$422,000 ex GST</a:t>
            </a:r>
          </a:p>
        </p:txBody>
      </p:sp>
      <p:sp>
        <p:nvSpPr>
          <p:cNvPr id="49" name="DECISION_PANEL"/>
          <p:cNvSpPr/>
          <p:nvPr/>
        </p:nvSpPr>
        <p:spPr>
          <a:xfrm>
            <a:off x="629336" y="5013096"/>
            <a:ext cx="10914963" cy="530352"/>
          </a:xfrm>
          <a:prstGeom prst="roundRect">
            <a:avLst>
              <a:gd name="adj" fmla="val 8000"/>
            </a:avLst>
          </a:prstGeom>
          <a:solidFill>
            <a:srgbClr val="003087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50" name="DECISION"/>
          <p:cNvSpPr txBox="1"/>
          <p:nvPr/>
        </p:nvSpPr>
        <p:spPr>
          <a:xfrm>
            <a:off x="830504" y="5113680"/>
            <a:ext cx="10549203" cy="32918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en-US" sz="1400" b="1" i="0" dirty="0">
                <a:solidFill>
                  <a:srgbClr val="FFFFFF"/>
                </a:solidFill>
                <a:latin typeface="Open Sans" panose="020B0606030504020204" pitchFamily="34" charset="0"/>
              </a:rPr>
              <a:t>Approve Northstar at S$348,000 ex GST</a:t>
            </a:r>
          </a:p>
        </p:txBody>
      </p:sp>
      <p:sp>
        <p:nvSpPr>
          <p:cNvPr id="51" name="SOURCE_NOTES"/>
          <p:cNvSpPr txBox="1"/>
          <p:nvPr/>
        </p:nvSpPr>
        <p:spPr>
          <a:xfrm>
            <a:off x="629336" y="5689752"/>
            <a:ext cx="10914963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850" b="0" i="0" dirty="0">
                <a:solidFill>
                  <a:srgbClr val="44546A"/>
                </a:solidFill>
                <a:latin typeface="Open Sans" panose="020B0606030504020204" pitchFamily="34" charset="0"/>
              </a:rPr>
              <a:t>Sources: RFQ-02 M1-M7; NST-05 service term; EMAIL-02 service clarification thread; EVAL-01 summary scores; EVAL-02 proposal comparison. Fictional training case.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1_Office Theme">
  <a:themeElements>
    <a:clrScheme name="Corporat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003087"/>
      </a:accent1>
      <a:accent2>
        <a:srgbClr val="DA291C"/>
      </a:accent2>
      <a:accent3>
        <a:srgbClr val="FF6720"/>
      </a:accent3>
      <a:accent4>
        <a:srgbClr val="5C068C"/>
      </a:accent4>
      <a:accent5>
        <a:srgbClr val="003087"/>
      </a:accent5>
      <a:accent6>
        <a:srgbClr val="003087"/>
      </a:accent6>
      <a:hlink>
        <a:srgbClr val="003087"/>
      </a:hlink>
      <a:folHlink>
        <a:srgbClr val="003087"/>
      </a:folHlink>
    </a:clrScheme>
    <a:fontScheme name="Custom 1">
      <a:majorFont>
        <a:latin typeface="Open Sans"/>
        <a:ea typeface=""/>
        <a:cs typeface=""/>
      </a:majorFont>
      <a:minorFont>
        <a:latin typeface="Open Sans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ASTAR Masterbrand Powerpoint Templates 29Nov (Final) (002).potx  -  Read-Only" id="{6BB1E9B8-0CCE-4BA2-95C2-7F4268638456}" vid="{881FA3DF-12EC-4A18-A267-751C4D7C117B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Application>Fictional procurement workshop</Application>
  <PresentationFormat>Widescreen</PresentationFormat>
  <Slides>4</Slides>
  <Company>Fictional procurement workshop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Encabulation procurement — decision slide template</dc:title>
  <dc:creator>Fictional procurement workshop</dc:creator>
  <cp:lastModifiedBy>Fictional procurement workshop</cp:lastModifiedBy>
  <cp:revision>1</cp:revision>
</cp:coreProperties>
</file>