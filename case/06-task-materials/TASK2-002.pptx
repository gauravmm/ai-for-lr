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emf" ContentType="image/x-emf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/>
  </p:normalViewPr>
  <p:slideViewPr>
    <p:cSldViewPr snapToGrid="0">
      <p:cViewPr varScale="1">
        <p:scale>
          <a:sx n="57" d="100"/>
          <a:sy n="57" d="100"/>
        </p:scale>
        <p:origin x="9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/Relationships>
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51D2-2511-4289-9D0A-4DD21654B9DD}"/>
              </a:ext>
            </a:extLst>
          </p:cNvPr>
          <p:cNvSpPr/>
          <p:nvPr userDrawn="1"/>
        </p:nvSpPr>
        <p:spPr>
          <a:xfrm>
            <a:off x="-21571" y="-35558"/>
            <a:ext cx="4772216" cy="6929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25171BD9-438B-C340-4B6F-52ACC82991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50646" y="0"/>
            <a:ext cx="7441353" cy="6929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0" tIns="0" rIns="0" bIns="9000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333" b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 Click icon to insert image</a:t>
            </a: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1E1A3F8-330C-CA87-F88F-8DEE4648AB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21" y="190220"/>
            <a:ext cx="2541467" cy="1175211"/>
          </a:xfrm>
          <a:prstGeom prst="rect">
            <a:avLst/>
          </a:prstGeom>
        </p:spPr>
      </p:pic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5D1976F4-F620-4E3B-7930-BD424D122A6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4569" y="5682895"/>
            <a:ext cx="3434439" cy="984885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GB" dirty="0"/>
              <a:t>Name of presenter </a:t>
            </a:r>
            <a:r>
              <a:rPr lang="en-US" sz="1600" b="0" dirty="0">
                <a:solidFill>
                  <a:schemeClr val="bg1"/>
                </a:solidFill>
                <a:latin typeface="Open Sans 2"/>
                <a:ea typeface="Open Sans 2"/>
                <a:cs typeface="Open Sans 2"/>
                <a:sym typeface="Open Sans 2"/>
              </a:rPr>
              <a:t>Designation(s)/Department(s)      Date                     (Security/Sensitivity) Classification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8AF469-9503-0765-4F71-CA4E54734D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4569" y="1793942"/>
            <a:ext cx="4059936" cy="229780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733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Title: First Line,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Second Line,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Open Sans Bold,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36pt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8D21143B-9DB6-0751-9642-862106981A5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35416" y="4237561"/>
            <a:ext cx="4059767" cy="738664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GB" dirty="0"/>
              <a:t>Sub-title: Open Sans, regular, 24pt, left align</a:t>
            </a:r>
          </a:p>
        </p:txBody>
      </p:sp>
    </p:spTree>
    <p:extLst>
      <p:ext uri="{BB962C8B-B14F-4D97-AF65-F5344CB8AC3E}">
        <p14:creationId xmlns:p14="http://schemas.microsoft.com/office/powerpoint/2010/main" val="26863632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aragrap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8F208A4-2027-EB03-FE12-CA123B46CAA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8335" y="1203452"/>
            <a:ext cx="10079999" cy="480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200"/>
              </a:spcBef>
              <a:buNone/>
              <a:defRPr lang="en-SG" sz="2000" b="0" i="0" smtClean="0">
                <a:effectLst/>
              </a:defRPr>
            </a:lvl1pPr>
          </a:lstStyle>
          <a:p>
            <a:r>
              <a:rPr lang="en-SG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Paragraph: Open Sans, regular 20pt, left align, maximum 170 words</a:t>
            </a:r>
            <a:endParaRPr lang="en-SG" b="0" i="0" dirty="0">
              <a:solidFill>
                <a:srgbClr val="424D61"/>
              </a:solidFill>
              <a:effectLst/>
              <a:latin typeface="Helvetica" pitchFamily="2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0D2D4E9-4EF5-3F09-B66A-05A31EC77F2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28332" y="339452"/>
            <a:ext cx="10080000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 dirty="0"/>
              <a:t>Content 1 – Paragraph: Open Sans, bold 28pt, left align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46CD71-09A2-2F9E-31DB-C6E2844B4E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8461" y="6231295"/>
            <a:ext cx="523540" cy="375793"/>
          </a:xfrm>
          <a:prstGeom prst="rect">
            <a:avLst/>
          </a:prstGeom>
        </p:spPr>
      </p:pic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D1E752A-6C6B-E967-3218-57F6D37E49FB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73E8E0B4-23A5-14AA-B5CE-A8D2917A6C6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F8BDEB36-659E-42FC-4B39-5388CA288EC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</p:spTree>
    <p:extLst>
      <p:ext uri="{BB962C8B-B14F-4D97-AF65-F5344CB8AC3E}">
        <p14:creationId xmlns:p14="http://schemas.microsoft.com/office/powerpoint/2010/main" val="3996674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: Emp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E22C5E3-7B3C-57D5-17CC-6B9183211A8A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29336" y="336000"/>
            <a:ext cx="10914963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 dirty="0"/>
              <a:t>Content 6 – Empty: Open Sans, bold 28pt, left align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162CABB7-54C7-824C-E165-1D2486DBBC5C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49534EE1-3333-96D7-8107-389641F38A5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89855949-E09D-EFBD-550A-46D66B0B87A1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D69B32-55CC-7E31-2C75-3650BC1CD6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8461" y="6231295"/>
            <a:ext cx="523540" cy="37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799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199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667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cision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9336" y="336000"/>
            <a:ext cx="10914963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One clear decision headline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9336" y="852576"/>
            <a:ext cx="10914963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Audience / decision owner</a:t>
            </a:r>
          </a:p>
        </p:txBody>
      </p:sp>
      <p:sp>
        <p:nvSpPr>
          <p:cNvPr id="4" name="RECOMMENDATION_PANEL"/>
          <p:cNvSpPr/>
          <p:nvPr/>
        </p:nvSpPr>
        <p:spPr>
          <a:xfrm>
            <a:off x="629336" y="1090320"/>
            <a:ext cx="10914963" cy="566928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OMMENDATION_ACCENT"/>
          <p:cNvSpPr/>
          <p:nvPr/>
        </p:nvSpPr>
        <p:spPr>
          <a:xfrm>
            <a:off x="629336" y="1090320"/>
            <a:ext cx="82296" cy="56692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OMMENDATION"/>
          <p:cNvSpPr txBox="1"/>
          <p:nvPr/>
        </p:nvSpPr>
        <p:spPr>
          <a:xfrm>
            <a:off x="830504" y="1163472"/>
            <a:ext cx="10549203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Recommendation statement, based on verified evidence</a:t>
            </a:r>
          </a:p>
        </p:txBody>
      </p:sp>
      <p:sp>
        <p:nvSpPr>
          <p:cNvPr id="7" name="GATE_TABLE"/>
          <p:cNvSpPr txBox="1"/>
          <p:nvPr/>
        </p:nvSpPr>
        <p:spPr>
          <a:xfrm>
            <a:off x="629336" y="1858416"/>
            <a:ext cx="545748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5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COMPLIANCE</a:t>
            </a:r>
          </a:p>
        </p:txBody>
      </p:sp>
      <p:sp>
        <p:nvSpPr>
          <p:cNvPr id="8" name="COMPARISON_CHART"/>
          <p:cNvSpPr txBox="1"/>
          <p:nvPr/>
        </p:nvSpPr>
        <p:spPr>
          <a:xfrm>
            <a:off x="6315418" y="1858416"/>
            <a:ext cx="522888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5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SCORES AFTER GATE</a:t>
            </a:r>
          </a:p>
        </p:txBody>
      </p:sp>
      <p:sp>
        <p:nvSpPr>
          <p:cNvPr id="9" name="GATE_HEADER_BG"/>
          <p:cNvSpPr/>
          <p:nvPr/>
        </p:nvSpPr>
        <p:spPr>
          <a:xfrm>
            <a:off x="629336" y="2187600"/>
            <a:ext cx="5457482" cy="237744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GATE_VENDOR_HEADER"/>
          <p:cNvSpPr txBox="1"/>
          <p:nvPr/>
        </p:nvSpPr>
        <p:spPr>
          <a:xfrm>
            <a:off x="739064" y="2215032"/>
            <a:ext cx="1528095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1" name="GATE_STATUS_HEADER"/>
          <p:cNvSpPr txBox="1"/>
          <p:nvPr/>
        </p:nvSpPr>
        <p:spPr>
          <a:xfrm>
            <a:off x="2266581" y="2215032"/>
            <a:ext cx="54574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GATE</a:t>
            </a:r>
          </a:p>
        </p:txBody>
      </p:sp>
      <p:sp>
        <p:nvSpPr>
          <p:cNvPr id="12" name="GATE_REASON_HEADER"/>
          <p:cNvSpPr txBox="1"/>
          <p:nvPr/>
        </p:nvSpPr>
        <p:spPr>
          <a:xfrm>
            <a:off x="2921478" y="2215032"/>
            <a:ext cx="31653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DECISIVE BASIS</a:t>
            </a:r>
          </a:p>
        </p:txBody>
      </p:sp>
      <p:sp>
        <p:nvSpPr>
          <p:cNvPr id="13" name="GATE_ROW_1_BG"/>
          <p:cNvSpPr/>
          <p:nvPr/>
        </p:nvSpPr>
        <p:spPr>
          <a:xfrm>
            <a:off x="629336" y="2471064"/>
            <a:ext cx="545748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GATE_VENDOR_1"/>
          <p:cNvSpPr txBox="1"/>
          <p:nvPr/>
        </p:nvSpPr>
        <p:spPr>
          <a:xfrm>
            <a:off x="739064" y="2516784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5" name="GATE_STATUS_1"/>
          <p:cNvSpPr txBox="1"/>
          <p:nvPr/>
        </p:nvSpPr>
        <p:spPr>
          <a:xfrm>
            <a:off x="2266581" y="2516784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16" name="GATE_REASON_1"/>
          <p:cNvSpPr txBox="1"/>
          <p:nvPr/>
        </p:nvSpPr>
        <p:spPr>
          <a:xfrm>
            <a:off x="2921478" y="2516784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17" name="GATE_ROW_2_BG"/>
          <p:cNvSpPr/>
          <p:nvPr/>
        </p:nvSpPr>
        <p:spPr>
          <a:xfrm>
            <a:off x="629336" y="2946552"/>
            <a:ext cx="5457482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GATE_VENDOR_2"/>
          <p:cNvSpPr txBox="1"/>
          <p:nvPr/>
        </p:nvSpPr>
        <p:spPr>
          <a:xfrm>
            <a:off x="739064" y="2992272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9" name="GATE_STATUS_2"/>
          <p:cNvSpPr txBox="1"/>
          <p:nvPr/>
        </p:nvSpPr>
        <p:spPr>
          <a:xfrm>
            <a:off x="2266581" y="2992272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0" name="GATE_REASON_2"/>
          <p:cNvSpPr txBox="1"/>
          <p:nvPr/>
        </p:nvSpPr>
        <p:spPr>
          <a:xfrm>
            <a:off x="2921478" y="2992272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1" name="GATE_ROW_3_BG"/>
          <p:cNvSpPr/>
          <p:nvPr/>
        </p:nvSpPr>
        <p:spPr>
          <a:xfrm>
            <a:off x="629336" y="3422040"/>
            <a:ext cx="545748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GATE_VENDOR_3"/>
          <p:cNvSpPr txBox="1"/>
          <p:nvPr/>
        </p:nvSpPr>
        <p:spPr>
          <a:xfrm>
            <a:off x="739064" y="3467760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23" name="GATE_STATUS_3"/>
          <p:cNvSpPr txBox="1"/>
          <p:nvPr/>
        </p:nvSpPr>
        <p:spPr>
          <a:xfrm>
            <a:off x="2266581" y="3467760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4" name="GATE_REASON_3"/>
          <p:cNvSpPr txBox="1"/>
          <p:nvPr/>
        </p:nvSpPr>
        <p:spPr>
          <a:xfrm>
            <a:off x="2921478" y="3467760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5" name="GATE_ROW_4_BG"/>
          <p:cNvSpPr/>
          <p:nvPr/>
        </p:nvSpPr>
        <p:spPr>
          <a:xfrm>
            <a:off x="629336" y="3897528"/>
            <a:ext cx="5457482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GATE_VENDOR_4"/>
          <p:cNvSpPr txBox="1"/>
          <p:nvPr/>
        </p:nvSpPr>
        <p:spPr>
          <a:xfrm>
            <a:off x="739064" y="3943248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27" name="GATE_STATUS_4"/>
          <p:cNvSpPr txBox="1"/>
          <p:nvPr/>
        </p:nvSpPr>
        <p:spPr>
          <a:xfrm>
            <a:off x="2266581" y="3943248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8" name="GATE_REASON_4"/>
          <p:cNvSpPr txBox="1"/>
          <p:nvPr/>
        </p:nvSpPr>
        <p:spPr>
          <a:xfrm>
            <a:off x="2921478" y="3943248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9" name="GATE_ROW_5_BG"/>
          <p:cNvSpPr/>
          <p:nvPr/>
        </p:nvSpPr>
        <p:spPr>
          <a:xfrm>
            <a:off x="629336" y="4373016"/>
            <a:ext cx="545748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GATE_VENDOR_5"/>
          <p:cNvSpPr txBox="1"/>
          <p:nvPr/>
        </p:nvSpPr>
        <p:spPr>
          <a:xfrm>
            <a:off x="739064" y="4418736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31" name="GATE_STATUS_5"/>
          <p:cNvSpPr txBox="1"/>
          <p:nvPr/>
        </p:nvSpPr>
        <p:spPr>
          <a:xfrm>
            <a:off x="2266581" y="4418736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32" name="GATE_REASON_5"/>
          <p:cNvSpPr txBox="1"/>
          <p:nvPr/>
        </p:nvSpPr>
        <p:spPr>
          <a:xfrm>
            <a:off x="2921478" y="4418736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33" name="COMPARISON_BG"/>
          <p:cNvSpPr/>
          <p:nvPr/>
        </p:nvSpPr>
        <p:spPr>
          <a:xfrm>
            <a:off x="6315418" y="2187600"/>
            <a:ext cx="5228881" cy="2660904"/>
          </a:xfrm>
          <a:prstGeom prst="roundRect">
            <a:avLst>
              <a:gd name="adj" fmla="val 8000"/>
            </a:avLst>
          </a:prstGeom>
          <a:solidFill>
            <a:srgbClr val="F8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SCORE_VENDOR_1"/>
          <p:cNvSpPr txBox="1"/>
          <p:nvPr/>
        </p:nvSpPr>
        <p:spPr>
          <a:xfrm>
            <a:off x="6461722" y="229732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35" name="SCORE_TRACK_1"/>
          <p:cNvSpPr/>
          <p:nvPr/>
        </p:nvSpPr>
        <p:spPr>
          <a:xfrm>
            <a:off x="6461722" y="2544216"/>
            <a:ext cx="3811561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SCORE_BAR_1"/>
          <p:cNvSpPr/>
          <p:nvPr/>
        </p:nvSpPr>
        <p:spPr>
          <a:xfrm>
            <a:off x="6461722" y="2544216"/>
            <a:ext cx="2286937" cy="11887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SCORE_VALUE_1"/>
          <p:cNvSpPr txBox="1"/>
          <p:nvPr/>
        </p:nvSpPr>
        <p:spPr>
          <a:xfrm>
            <a:off x="10319003" y="2498496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38" name="SCORE_LABEL_1"/>
          <p:cNvSpPr txBox="1"/>
          <p:nvPr/>
        </p:nvSpPr>
        <p:spPr>
          <a:xfrm>
            <a:off x="6461722" y="2699664"/>
            <a:ext cx="490884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39" name="SCORE_VENDOR_2"/>
          <p:cNvSpPr txBox="1"/>
          <p:nvPr/>
        </p:nvSpPr>
        <p:spPr>
          <a:xfrm>
            <a:off x="6461722" y="3138576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40" name="SCORE_TRACK_2"/>
          <p:cNvSpPr/>
          <p:nvPr/>
        </p:nvSpPr>
        <p:spPr>
          <a:xfrm>
            <a:off x="6461722" y="3385464"/>
            <a:ext cx="3811561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SCORE_BAR_2"/>
          <p:cNvSpPr/>
          <p:nvPr/>
        </p:nvSpPr>
        <p:spPr>
          <a:xfrm>
            <a:off x="6461722" y="3385464"/>
            <a:ext cx="1829549" cy="11887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SCORE_VALUE_2"/>
          <p:cNvSpPr txBox="1"/>
          <p:nvPr/>
        </p:nvSpPr>
        <p:spPr>
          <a:xfrm>
            <a:off x="10319003" y="3339744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43" name="SCORE_LABEL_2"/>
          <p:cNvSpPr txBox="1"/>
          <p:nvPr/>
        </p:nvSpPr>
        <p:spPr>
          <a:xfrm>
            <a:off x="6461722" y="3540912"/>
            <a:ext cx="490884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44" name="SCORE_VENDOR_3"/>
          <p:cNvSpPr txBox="1"/>
          <p:nvPr/>
        </p:nvSpPr>
        <p:spPr>
          <a:xfrm>
            <a:off x="6461722" y="397982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45" name="SCORE_TRACK_3"/>
          <p:cNvSpPr/>
          <p:nvPr/>
        </p:nvSpPr>
        <p:spPr>
          <a:xfrm>
            <a:off x="6461722" y="4226712"/>
            <a:ext cx="3811561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SCORE_BAR_3"/>
          <p:cNvSpPr/>
          <p:nvPr/>
        </p:nvSpPr>
        <p:spPr>
          <a:xfrm>
            <a:off x="6461722" y="4226712"/>
            <a:ext cx="1372162" cy="11887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SCORE_VALUE_3"/>
          <p:cNvSpPr txBox="1"/>
          <p:nvPr/>
        </p:nvSpPr>
        <p:spPr>
          <a:xfrm>
            <a:off x="10319003" y="418099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48" name="SCORE_LABEL_3"/>
          <p:cNvSpPr txBox="1"/>
          <p:nvPr/>
        </p:nvSpPr>
        <p:spPr>
          <a:xfrm>
            <a:off x="6461722" y="4382160"/>
            <a:ext cx="490884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49" name="DECISION_PANEL"/>
          <p:cNvSpPr/>
          <p:nvPr/>
        </p:nvSpPr>
        <p:spPr>
          <a:xfrm>
            <a:off x="629336" y="5013096"/>
            <a:ext cx="10914963" cy="53035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DECISION"/>
          <p:cNvSpPr txBox="1"/>
          <p:nvPr/>
        </p:nvSpPr>
        <p:spPr>
          <a:xfrm>
            <a:off x="830504" y="5113680"/>
            <a:ext cx="10549203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i="0" dirty="0">
                <a:solidFill>
                  <a:srgbClr val="FFFFFF"/>
                </a:solidFill>
                <a:latin typeface="Open Sans" panose="020B0606030504020204" pitchFamily="34" charset="0"/>
              </a:rPr>
              <a:t>Approval or next action requested</a:t>
            </a:r>
          </a:p>
        </p:txBody>
      </p:sp>
      <p:sp>
        <p:nvSpPr>
          <p:cNvPr id="51" name="SOURCE_NOTES"/>
          <p:cNvSpPr txBox="1"/>
          <p:nvPr/>
        </p:nvSpPr>
        <p:spPr>
          <a:xfrm>
            <a:off x="629336" y="5689752"/>
            <a:ext cx="1091496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document ID and exact locator. Fictional training case; not A*STAR policy or Singapore procurement law.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ate_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9336" y="336000"/>
            <a:ext cx="10914963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One clear decision headline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9336" y="852576"/>
            <a:ext cx="10914963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Audience / decision owner</a:t>
            </a:r>
          </a:p>
        </p:txBody>
      </p:sp>
      <p:sp>
        <p:nvSpPr>
          <p:cNvPr id="4" name="RECOMMENDATION_PANEL"/>
          <p:cNvSpPr/>
          <p:nvPr/>
        </p:nvSpPr>
        <p:spPr>
          <a:xfrm>
            <a:off x="629336" y="1090320"/>
            <a:ext cx="10914963" cy="566928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OMMENDATION_ACCENT"/>
          <p:cNvSpPr/>
          <p:nvPr/>
        </p:nvSpPr>
        <p:spPr>
          <a:xfrm>
            <a:off x="629336" y="1090320"/>
            <a:ext cx="82296" cy="566928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OMMENDATION"/>
          <p:cNvSpPr txBox="1"/>
          <p:nvPr/>
        </p:nvSpPr>
        <p:spPr>
          <a:xfrm>
            <a:off x="830504" y="1163472"/>
            <a:ext cx="10549203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Recommendation statement, based on verified evidence</a:t>
            </a:r>
          </a:p>
        </p:txBody>
      </p:sp>
      <p:sp>
        <p:nvSpPr>
          <p:cNvPr id="7" name="GATE_TABLE"/>
          <p:cNvSpPr txBox="1"/>
          <p:nvPr/>
        </p:nvSpPr>
        <p:spPr>
          <a:xfrm>
            <a:off x="629336" y="1858416"/>
            <a:ext cx="676727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5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COMPLIANCE</a:t>
            </a:r>
          </a:p>
        </p:txBody>
      </p:sp>
      <p:sp>
        <p:nvSpPr>
          <p:cNvPr id="8" name="COMPARISON_CHART"/>
          <p:cNvSpPr txBox="1"/>
          <p:nvPr/>
        </p:nvSpPr>
        <p:spPr>
          <a:xfrm>
            <a:off x="7625213" y="1858416"/>
            <a:ext cx="391908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5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SCORES AFTER GATE</a:t>
            </a:r>
          </a:p>
        </p:txBody>
      </p:sp>
      <p:sp>
        <p:nvSpPr>
          <p:cNvPr id="9" name="GATE_HEADER_BG"/>
          <p:cNvSpPr/>
          <p:nvPr/>
        </p:nvSpPr>
        <p:spPr>
          <a:xfrm>
            <a:off x="629336" y="2187600"/>
            <a:ext cx="6767277" cy="237744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GATE_VENDOR_HEADER"/>
          <p:cNvSpPr txBox="1"/>
          <p:nvPr/>
        </p:nvSpPr>
        <p:spPr>
          <a:xfrm>
            <a:off x="739064" y="2215032"/>
            <a:ext cx="189483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1" name="GATE_STATUS_HEADER"/>
          <p:cNvSpPr txBox="1"/>
          <p:nvPr/>
        </p:nvSpPr>
        <p:spPr>
          <a:xfrm>
            <a:off x="2659519" y="2215032"/>
            <a:ext cx="67672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GATE</a:t>
            </a:r>
          </a:p>
        </p:txBody>
      </p:sp>
      <p:sp>
        <p:nvSpPr>
          <p:cNvPr id="12" name="GATE_REASON_HEADER"/>
          <p:cNvSpPr txBox="1"/>
          <p:nvPr/>
        </p:nvSpPr>
        <p:spPr>
          <a:xfrm>
            <a:off x="3471592" y="2215032"/>
            <a:ext cx="3925021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DECISIVE BASIS</a:t>
            </a:r>
          </a:p>
        </p:txBody>
      </p:sp>
      <p:sp>
        <p:nvSpPr>
          <p:cNvPr id="13" name="GATE_ROW_1_BG"/>
          <p:cNvSpPr/>
          <p:nvPr/>
        </p:nvSpPr>
        <p:spPr>
          <a:xfrm>
            <a:off x="629336" y="2471064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GATE_VENDOR_1"/>
          <p:cNvSpPr txBox="1"/>
          <p:nvPr/>
        </p:nvSpPr>
        <p:spPr>
          <a:xfrm>
            <a:off x="739064" y="2516784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5" name="GATE_STATUS_1"/>
          <p:cNvSpPr txBox="1"/>
          <p:nvPr/>
        </p:nvSpPr>
        <p:spPr>
          <a:xfrm>
            <a:off x="2659519" y="2516784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16" name="GATE_REASON_1"/>
          <p:cNvSpPr txBox="1"/>
          <p:nvPr/>
        </p:nvSpPr>
        <p:spPr>
          <a:xfrm>
            <a:off x="3471592" y="2516784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17" name="GATE_ROW_2_BG"/>
          <p:cNvSpPr/>
          <p:nvPr/>
        </p:nvSpPr>
        <p:spPr>
          <a:xfrm>
            <a:off x="629336" y="2946552"/>
            <a:ext cx="6767277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GATE_VENDOR_2"/>
          <p:cNvSpPr txBox="1"/>
          <p:nvPr/>
        </p:nvSpPr>
        <p:spPr>
          <a:xfrm>
            <a:off x="739064" y="2992272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9" name="GATE_STATUS_2"/>
          <p:cNvSpPr txBox="1"/>
          <p:nvPr/>
        </p:nvSpPr>
        <p:spPr>
          <a:xfrm>
            <a:off x="2659519" y="2992272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0" name="GATE_REASON_2"/>
          <p:cNvSpPr txBox="1"/>
          <p:nvPr/>
        </p:nvSpPr>
        <p:spPr>
          <a:xfrm>
            <a:off x="3471592" y="2992272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1" name="GATE_ROW_3_BG"/>
          <p:cNvSpPr/>
          <p:nvPr/>
        </p:nvSpPr>
        <p:spPr>
          <a:xfrm>
            <a:off x="629336" y="3422040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GATE_VENDOR_3"/>
          <p:cNvSpPr txBox="1"/>
          <p:nvPr/>
        </p:nvSpPr>
        <p:spPr>
          <a:xfrm>
            <a:off x="739064" y="3467760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23" name="GATE_STATUS_3"/>
          <p:cNvSpPr txBox="1"/>
          <p:nvPr/>
        </p:nvSpPr>
        <p:spPr>
          <a:xfrm>
            <a:off x="2659519" y="3467760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4" name="GATE_REASON_3"/>
          <p:cNvSpPr txBox="1"/>
          <p:nvPr/>
        </p:nvSpPr>
        <p:spPr>
          <a:xfrm>
            <a:off x="3471592" y="3467760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5" name="GATE_ROW_4_BG"/>
          <p:cNvSpPr/>
          <p:nvPr/>
        </p:nvSpPr>
        <p:spPr>
          <a:xfrm>
            <a:off x="629336" y="3897528"/>
            <a:ext cx="6767277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GATE_VENDOR_4"/>
          <p:cNvSpPr txBox="1"/>
          <p:nvPr/>
        </p:nvSpPr>
        <p:spPr>
          <a:xfrm>
            <a:off x="739064" y="3943248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27" name="GATE_STATUS_4"/>
          <p:cNvSpPr txBox="1"/>
          <p:nvPr/>
        </p:nvSpPr>
        <p:spPr>
          <a:xfrm>
            <a:off x="2659519" y="3943248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8" name="GATE_REASON_4"/>
          <p:cNvSpPr txBox="1"/>
          <p:nvPr/>
        </p:nvSpPr>
        <p:spPr>
          <a:xfrm>
            <a:off x="3471592" y="3943248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9" name="GATE_ROW_5_BG"/>
          <p:cNvSpPr/>
          <p:nvPr/>
        </p:nvSpPr>
        <p:spPr>
          <a:xfrm>
            <a:off x="629336" y="4373016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GATE_VENDOR_5"/>
          <p:cNvSpPr txBox="1"/>
          <p:nvPr/>
        </p:nvSpPr>
        <p:spPr>
          <a:xfrm>
            <a:off x="739064" y="4418736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31" name="GATE_STATUS_5"/>
          <p:cNvSpPr txBox="1"/>
          <p:nvPr/>
        </p:nvSpPr>
        <p:spPr>
          <a:xfrm>
            <a:off x="2659519" y="4418736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32" name="GATE_REASON_5"/>
          <p:cNvSpPr txBox="1"/>
          <p:nvPr/>
        </p:nvSpPr>
        <p:spPr>
          <a:xfrm>
            <a:off x="3471592" y="4418736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33" name="COMPARISON_BG"/>
          <p:cNvSpPr/>
          <p:nvPr/>
        </p:nvSpPr>
        <p:spPr>
          <a:xfrm>
            <a:off x="7625213" y="2187600"/>
            <a:ext cx="3919086" cy="2660904"/>
          </a:xfrm>
          <a:prstGeom prst="roundRect">
            <a:avLst>
              <a:gd name="adj" fmla="val 8000"/>
            </a:avLst>
          </a:prstGeom>
          <a:solidFill>
            <a:srgbClr val="F8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SCORE_VENDOR_1"/>
          <p:cNvSpPr txBox="1"/>
          <p:nvPr/>
        </p:nvSpPr>
        <p:spPr>
          <a:xfrm>
            <a:off x="7771517" y="229732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35" name="SCORE_TRACK_1"/>
          <p:cNvSpPr/>
          <p:nvPr/>
        </p:nvSpPr>
        <p:spPr>
          <a:xfrm>
            <a:off x="7771517" y="2544216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SCORE_BAR_1"/>
          <p:cNvSpPr/>
          <p:nvPr/>
        </p:nvSpPr>
        <p:spPr>
          <a:xfrm>
            <a:off x="7771517" y="2544216"/>
            <a:ext cx="1501060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SCORE_VALUE_1"/>
          <p:cNvSpPr txBox="1"/>
          <p:nvPr/>
        </p:nvSpPr>
        <p:spPr>
          <a:xfrm>
            <a:off x="10319003" y="2498496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38" name="SCORE_LABEL_1"/>
          <p:cNvSpPr txBox="1"/>
          <p:nvPr/>
        </p:nvSpPr>
        <p:spPr>
          <a:xfrm>
            <a:off x="7771517" y="2699664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39" name="SCORE_VENDOR_2"/>
          <p:cNvSpPr txBox="1"/>
          <p:nvPr/>
        </p:nvSpPr>
        <p:spPr>
          <a:xfrm>
            <a:off x="7771517" y="3138576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40" name="SCORE_TRACK_2"/>
          <p:cNvSpPr/>
          <p:nvPr/>
        </p:nvSpPr>
        <p:spPr>
          <a:xfrm>
            <a:off x="7771517" y="3385464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SCORE_BAR_2"/>
          <p:cNvSpPr/>
          <p:nvPr/>
        </p:nvSpPr>
        <p:spPr>
          <a:xfrm>
            <a:off x="7771517" y="3385464"/>
            <a:ext cx="1200848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SCORE_VALUE_2"/>
          <p:cNvSpPr txBox="1"/>
          <p:nvPr/>
        </p:nvSpPr>
        <p:spPr>
          <a:xfrm>
            <a:off x="10319003" y="3339744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43" name="SCORE_LABEL_2"/>
          <p:cNvSpPr txBox="1"/>
          <p:nvPr/>
        </p:nvSpPr>
        <p:spPr>
          <a:xfrm>
            <a:off x="7771517" y="3540912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44" name="SCORE_VENDOR_3"/>
          <p:cNvSpPr txBox="1"/>
          <p:nvPr/>
        </p:nvSpPr>
        <p:spPr>
          <a:xfrm>
            <a:off x="7771517" y="397982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45" name="SCORE_TRACK_3"/>
          <p:cNvSpPr/>
          <p:nvPr/>
        </p:nvSpPr>
        <p:spPr>
          <a:xfrm>
            <a:off x="7771517" y="4226712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SCORE_BAR_3"/>
          <p:cNvSpPr/>
          <p:nvPr/>
        </p:nvSpPr>
        <p:spPr>
          <a:xfrm>
            <a:off x="7771517" y="4226712"/>
            <a:ext cx="900636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SCORE_VALUE_3"/>
          <p:cNvSpPr txBox="1"/>
          <p:nvPr/>
        </p:nvSpPr>
        <p:spPr>
          <a:xfrm>
            <a:off x="10319003" y="418099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48" name="SCORE_LABEL_3"/>
          <p:cNvSpPr txBox="1"/>
          <p:nvPr/>
        </p:nvSpPr>
        <p:spPr>
          <a:xfrm>
            <a:off x="7771517" y="4382160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49" name="DECISION_PANEL"/>
          <p:cNvSpPr/>
          <p:nvPr/>
        </p:nvSpPr>
        <p:spPr>
          <a:xfrm>
            <a:off x="629336" y="5013096"/>
            <a:ext cx="10914963" cy="53035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DECISION"/>
          <p:cNvSpPr txBox="1"/>
          <p:nvPr/>
        </p:nvSpPr>
        <p:spPr>
          <a:xfrm>
            <a:off x="830504" y="5113680"/>
            <a:ext cx="10549203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i="0" dirty="0">
                <a:solidFill>
                  <a:srgbClr val="FFFFFF"/>
                </a:solidFill>
                <a:latin typeface="Open Sans" panose="020B0606030504020204" pitchFamily="34" charset="0"/>
              </a:rPr>
              <a:t>Approval or next action requested</a:t>
            </a:r>
          </a:p>
        </p:txBody>
      </p:sp>
      <p:sp>
        <p:nvSpPr>
          <p:cNvPr id="51" name="SOURCE_NOTES"/>
          <p:cNvSpPr txBox="1"/>
          <p:nvPr/>
        </p:nvSpPr>
        <p:spPr>
          <a:xfrm>
            <a:off x="629336" y="5689752"/>
            <a:ext cx="1091496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document ID and exact locator. Fictional training case; not A*STAR policy or Singapore procurement law.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8332" y="339452"/>
            <a:ext cx="10080000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One clear decision headline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8332" y="856028"/>
            <a:ext cx="10080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Audience / decision owner</a:t>
            </a:r>
          </a:p>
        </p:txBody>
      </p:sp>
      <p:sp>
        <p:nvSpPr>
          <p:cNvPr id="4" name="PROBLEM"/>
          <p:cNvSpPr txBox="1"/>
          <p:nvPr/>
        </p:nvSpPr>
        <p:spPr>
          <a:xfrm>
            <a:off x="628335" y="1075484"/>
            <a:ext cx="10079999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The procurement problem this evaluation must resolve, in one paragraph.</a:t>
            </a:r>
          </a:p>
        </p:txBody>
      </p:sp>
      <p:sp>
        <p:nvSpPr>
          <p:cNvPr id="5" name="GATES_HEADER"/>
          <p:cNvSpPr txBox="1"/>
          <p:nvPr/>
        </p:nvSpPr>
        <p:spPr>
          <a:xfrm>
            <a:off x="628335" y="2145332"/>
            <a:ext cx="605117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5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GATES (M1–M7)</a:t>
            </a:r>
          </a:p>
        </p:txBody>
      </p:sp>
      <p:sp>
        <p:nvSpPr>
          <p:cNvPr id="6" name="CRITERIA_HEADER"/>
          <p:cNvSpPr txBox="1"/>
          <p:nvPr/>
        </p:nvSpPr>
        <p:spPr>
          <a:xfrm>
            <a:off x="6999550" y="2145332"/>
            <a:ext cx="370878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5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WEIGHTED SCORING CRITERIA</a:t>
            </a:r>
          </a:p>
        </p:txBody>
      </p:sp>
      <p:sp>
        <p:nvSpPr>
          <p:cNvPr id="7" name="GATE_LINE_1"/>
          <p:cNvSpPr txBox="1"/>
          <p:nvPr/>
        </p:nvSpPr>
        <p:spPr>
          <a:xfrm>
            <a:off x="628335" y="2419652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5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M1: mandatory requirement text</a:t>
            </a:r>
          </a:p>
        </p:txBody>
      </p:sp>
      <p:sp>
        <p:nvSpPr>
          <p:cNvPr id="8" name="GATE_LINE_2"/>
          <p:cNvSpPr txBox="1"/>
          <p:nvPr/>
        </p:nvSpPr>
        <p:spPr>
          <a:xfrm>
            <a:off x="628335" y="2803700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5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M2: mandatory requirement text</a:t>
            </a:r>
          </a:p>
        </p:txBody>
      </p:sp>
      <p:sp>
        <p:nvSpPr>
          <p:cNvPr id="9" name="GATE_LINE_3"/>
          <p:cNvSpPr txBox="1"/>
          <p:nvPr/>
        </p:nvSpPr>
        <p:spPr>
          <a:xfrm>
            <a:off x="628335" y="3187748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5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M3: mandatory requirement text</a:t>
            </a:r>
          </a:p>
        </p:txBody>
      </p:sp>
      <p:sp>
        <p:nvSpPr>
          <p:cNvPr id="10" name="GATE_LINE_4"/>
          <p:cNvSpPr txBox="1"/>
          <p:nvPr/>
        </p:nvSpPr>
        <p:spPr>
          <a:xfrm>
            <a:off x="628335" y="3571796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5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M4: mandatory requirement text</a:t>
            </a:r>
          </a:p>
        </p:txBody>
      </p:sp>
      <p:sp>
        <p:nvSpPr>
          <p:cNvPr id="11" name="GATE_LINE_5"/>
          <p:cNvSpPr txBox="1"/>
          <p:nvPr/>
        </p:nvSpPr>
        <p:spPr>
          <a:xfrm>
            <a:off x="628335" y="3955844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5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M5: mandatory requirement text</a:t>
            </a:r>
          </a:p>
        </p:txBody>
      </p:sp>
      <p:sp>
        <p:nvSpPr>
          <p:cNvPr id="12" name="GATE_LINE_6"/>
          <p:cNvSpPr txBox="1"/>
          <p:nvPr/>
        </p:nvSpPr>
        <p:spPr>
          <a:xfrm>
            <a:off x="628335" y="4339892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5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M6: mandatory requirement text</a:t>
            </a:r>
          </a:p>
        </p:txBody>
      </p:sp>
      <p:sp>
        <p:nvSpPr>
          <p:cNvPr id="13" name="GATE_LINE_7"/>
          <p:cNvSpPr txBox="1"/>
          <p:nvPr/>
        </p:nvSpPr>
        <p:spPr>
          <a:xfrm>
            <a:off x="628335" y="4723940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5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M7: mandatory requirement text</a:t>
            </a:r>
          </a:p>
        </p:txBody>
      </p:sp>
      <p:sp>
        <p:nvSpPr>
          <p:cNvPr id="14" name="CRITERION_ROW_1_BG"/>
          <p:cNvSpPr/>
          <p:nvPr/>
        </p:nvSpPr>
        <p:spPr>
          <a:xfrm>
            <a:off x="6999550" y="2419652"/>
            <a:ext cx="3708784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CRITERION_NAME_1"/>
          <p:cNvSpPr txBox="1"/>
          <p:nvPr/>
        </p:nvSpPr>
        <p:spPr>
          <a:xfrm>
            <a:off x="7090990" y="2474516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Criterion name</a:t>
            </a:r>
          </a:p>
        </p:txBody>
      </p:sp>
      <p:sp>
        <p:nvSpPr>
          <p:cNvPr id="16" name="CRITERION_WEIGHT_1"/>
          <p:cNvSpPr txBox="1"/>
          <p:nvPr/>
        </p:nvSpPr>
        <p:spPr>
          <a:xfrm>
            <a:off x="9595699" y="2474516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17" name="CRITERION_ROW_2_BG"/>
          <p:cNvSpPr/>
          <p:nvPr/>
        </p:nvSpPr>
        <p:spPr>
          <a:xfrm>
            <a:off x="6999550" y="2986580"/>
            <a:ext cx="3708784" cy="5212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RITERION_NAME_2"/>
          <p:cNvSpPr txBox="1"/>
          <p:nvPr/>
        </p:nvSpPr>
        <p:spPr>
          <a:xfrm>
            <a:off x="7090990" y="3041444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Criterion name</a:t>
            </a:r>
          </a:p>
        </p:txBody>
      </p:sp>
      <p:sp>
        <p:nvSpPr>
          <p:cNvPr id="19" name="CRITERION_WEIGHT_2"/>
          <p:cNvSpPr txBox="1"/>
          <p:nvPr/>
        </p:nvSpPr>
        <p:spPr>
          <a:xfrm>
            <a:off x="9595699" y="3041444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0" name="CRITERION_ROW_3_BG"/>
          <p:cNvSpPr/>
          <p:nvPr/>
        </p:nvSpPr>
        <p:spPr>
          <a:xfrm>
            <a:off x="6999550" y="3553508"/>
            <a:ext cx="3708784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CRITERION_NAME_3"/>
          <p:cNvSpPr txBox="1"/>
          <p:nvPr/>
        </p:nvSpPr>
        <p:spPr>
          <a:xfrm>
            <a:off x="7090990" y="3608372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Criterion name</a:t>
            </a:r>
          </a:p>
        </p:txBody>
      </p:sp>
      <p:sp>
        <p:nvSpPr>
          <p:cNvPr id="22" name="CRITERION_WEIGHT_3"/>
          <p:cNvSpPr txBox="1"/>
          <p:nvPr/>
        </p:nvSpPr>
        <p:spPr>
          <a:xfrm>
            <a:off x="9595699" y="3608372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3" name="CRITERION_ROW_4_BG"/>
          <p:cNvSpPr/>
          <p:nvPr/>
        </p:nvSpPr>
        <p:spPr>
          <a:xfrm>
            <a:off x="6999550" y="4120436"/>
            <a:ext cx="3708784" cy="5212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CRITERION_NAME_4"/>
          <p:cNvSpPr txBox="1"/>
          <p:nvPr/>
        </p:nvSpPr>
        <p:spPr>
          <a:xfrm>
            <a:off x="7090990" y="4175300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5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Criterion name</a:t>
            </a:r>
          </a:p>
        </p:txBody>
      </p:sp>
      <p:sp>
        <p:nvSpPr>
          <p:cNvPr id="25" name="CRITERION_WEIGHT_4"/>
          <p:cNvSpPr txBox="1"/>
          <p:nvPr/>
        </p:nvSpPr>
        <p:spPr>
          <a:xfrm>
            <a:off x="9595699" y="4175300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05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6" name="SOURCE_NOTES"/>
          <p:cNvSpPr txBox="1"/>
          <p:nvPr/>
        </p:nvSpPr>
        <p:spPr>
          <a:xfrm>
            <a:off x="628335" y="5290868"/>
            <a:ext cx="1007999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document ID and exact locator. Fictional training case; not A*STAR policy or Singapore procurement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34569" y="1793942"/>
            <a:ext cx="4278917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600" b="1" i="0" dirty="0">
                <a:solidFill>
                  <a:srgbClr val="FFFFFF"/>
                </a:solidFill>
                <a:latin typeface="Open Sans" panose="020B0606030504020204" pitchFamily="34" charset="0"/>
              </a:rPr>
              <a:t>ARER-300 procurement decision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34569" y="2708342"/>
            <a:ext cx="427891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0" i="0" dirty="0">
                <a:solidFill>
                  <a:srgbClr val="FFFFFF"/>
                </a:solidFill>
                <a:latin typeface="Open Sans" panose="020B0606030504020204" pitchFamily="34" charset="0"/>
              </a:rPr>
              <a:t>Evaluation Support Agent — working material for verification</a:t>
            </a:r>
          </a:p>
        </p:txBody>
      </p:sp>
      <p:sp>
        <p:nvSpPr>
          <p:cNvPr id="4" name="AUDIENCE"/>
          <p:cNvSpPr txBox="1"/>
          <p:nvPr/>
        </p:nvSpPr>
        <p:spPr>
          <a:xfrm>
            <a:off x="334569" y="1481328"/>
            <a:ext cx="4278917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i="0" dirty="0">
                <a:solidFill>
                  <a:srgbClr val="B9C7E6"/>
                </a:solidFill>
                <a:latin typeface="Open Sans" panose="020B0606030504020204" pitchFamily="34" charset="0"/>
              </a:rPr>
              <a:t>Audience / decision owner</a:t>
            </a:r>
          </a:p>
        </p:txBody>
      </p:sp>
      <p:sp>
        <p:nvSpPr>
          <p:cNvPr id="5" name="SOURCE_NOTES"/>
          <p:cNvSpPr txBox="1"/>
          <p:nvPr/>
        </p:nvSpPr>
        <p:spPr>
          <a:xfrm>
            <a:off x="334569" y="6309360"/>
            <a:ext cx="4278917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85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document ID and exact locator. Fictional training case; not A*STAR policy or Singapore procurement law.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A*STA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3087"/>
      </a:accent1>
      <a:accent2>
        <a:srgbClr val="DA291C"/>
      </a:accent2>
      <a:accent3>
        <a:srgbClr val="FF6720"/>
      </a:accent3>
      <a:accent4>
        <a:srgbClr val="5C068C"/>
      </a:accent4>
      <a:accent5>
        <a:srgbClr val="003087"/>
      </a:accent5>
      <a:accent6>
        <a:srgbClr val="003087"/>
      </a:accent6>
      <a:hlink>
        <a:srgbClr val="003087"/>
      </a:hlink>
      <a:folHlink>
        <a:srgbClr val="003087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TAR Masterbrand Powerpoint Templates 29Nov (Final) (002).potx  -  Read-Only" id="{6BB1E9B8-0CCE-4BA2-95C2-7F4268638456}" vid="{881FA3DF-12EC-4A18-A267-751C4D7C11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Fictional procurement workshop</Application>
  <PresentationFormat>Widescreen</PresentationFormat>
  <Slides>4</Slides>
  <Company>Fictional procurement workshop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Encabulation procurement — decision slide template</dc:title>
  <dc:creator>Fictional procurement workshop</dc:creator>
  <cp:lastModifiedBy>Fictional procurement workshop</cp:lastModifiedBy>
  <cp:revision>1</cp:revision>
</cp:coreProperties>
</file>