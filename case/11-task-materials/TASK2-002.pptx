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AND_BAND"/>
          <p:cNvSpPr/>
          <p:nvPr/>
        </p:nvSpPr>
        <p:spPr>
          <a:xfrm>
            <a:off x="0" y="0"/>
            <a:ext cx="12191695" cy="612648"/>
          </a:xfrm>
          <a:prstGeom prst="rect">
            <a:avLst>
              <a:gd name="adj" fmla="val 11940"/>
            </a:avLst>
          </a:prstGeom>
          <a:solidFill>
            <a:srgbClr val="14273C"/>
          </a:solidFill>
          <a:ln w="12700">
            <a:solidFill>
              <a:srgbClr val="14273C"/>
            </a:solidFill>
            <a:prstDash val="solid"/>
          </a:ln>
        </p:spPr>
      </p:sp>
      <p:sp>
        <p:nvSpPr>
          <p:cNvPr id="3" name="BRAND_LABEL"/>
          <p:cNvSpPr/>
          <p:nvPr/>
        </p:nvSpPr>
        <p:spPr>
          <a:xfrm>
            <a:off x="475488" y="164592"/>
            <a:ext cx="6583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ENCABULATION | DECISION BRIEF</a:t>
            </a:r>
            <a:endParaRPr lang="en-US" sz="1100" dirty="0"/>
          </a:p>
        </p:txBody>
      </p:sp>
      <p:sp>
        <p:nvSpPr>
          <p:cNvPr id="4" name="ARCHETYPE_LABEL"/>
          <p:cNvSpPr/>
          <p:nvPr/>
        </p:nvSpPr>
        <p:spPr>
          <a:xfrm>
            <a:off x="9308592" y="164592"/>
            <a:ext cx="23957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DCE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DECISION SUMMARY</a:t>
            </a:r>
            <a:endParaRPr lang="en-US" sz="900" dirty="0"/>
          </a:p>
        </p:txBody>
      </p:sp>
      <p:sp>
        <p:nvSpPr>
          <p:cNvPr id="5" name="AUDIENCE"/>
          <p:cNvSpPr/>
          <p:nvPr/>
        </p:nvSpPr>
        <p:spPr>
          <a:xfrm>
            <a:off x="475488" y="749808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6D7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Audience / decision owner</a:t>
            </a:r>
            <a:endParaRPr lang="en-US" sz="1000" dirty="0"/>
          </a:p>
        </p:txBody>
      </p:sp>
      <p:sp>
        <p:nvSpPr>
          <p:cNvPr id="6" name="TITLE"/>
          <p:cNvSpPr/>
          <p:nvPr/>
        </p:nvSpPr>
        <p:spPr>
          <a:xfrm>
            <a:off x="475488" y="1014984"/>
            <a:ext cx="111556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73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One clear decision headline</a:t>
            </a:r>
            <a:endParaRPr lang="en-US" sz="2700" dirty="0"/>
          </a:p>
        </p:txBody>
      </p:sp>
      <p:sp>
        <p:nvSpPr>
          <p:cNvPr id="7" name="RECOMMENDATION_PANEL"/>
          <p:cNvSpPr/>
          <p:nvPr/>
        </p:nvSpPr>
        <p:spPr>
          <a:xfrm>
            <a:off x="475488" y="1618488"/>
            <a:ext cx="11228832" cy="621792"/>
          </a:xfrm>
          <a:prstGeom prst="roundRect">
            <a:avLst>
              <a:gd name="adj" fmla="val 11765"/>
            </a:avLst>
          </a:prstGeom>
          <a:solidFill>
            <a:srgbClr val="EEF4F6"/>
          </a:solidFill>
          <a:ln w="12700">
            <a:solidFill>
              <a:srgbClr val="EEF4F6"/>
            </a:solidFill>
            <a:prstDash val="solid"/>
          </a:ln>
        </p:spPr>
      </p:sp>
      <p:sp>
        <p:nvSpPr>
          <p:cNvPr id="8" name="RECOMMENDATION_ACCENT"/>
          <p:cNvSpPr/>
          <p:nvPr/>
        </p:nvSpPr>
        <p:spPr>
          <a:xfrm>
            <a:off x="475488" y="1618488"/>
            <a:ext cx="91440" cy="621792"/>
          </a:xfrm>
          <a:prstGeom prst="rect">
            <a:avLst>
              <a:gd name="adj" fmla="val 80000"/>
            </a:avLst>
          </a:prstGeom>
          <a:solidFill>
            <a:srgbClr val="1A9CAC"/>
          </a:solidFill>
          <a:ln w="12700">
            <a:solidFill>
              <a:srgbClr val="1A9CAC"/>
            </a:solidFill>
            <a:prstDash val="solid"/>
          </a:ln>
        </p:spPr>
      </p:sp>
      <p:sp>
        <p:nvSpPr>
          <p:cNvPr id="9" name="RECOMMENDATION"/>
          <p:cNvSpPr/>
          <p:nvPr/>
        </p:nvSpPr>
        <p:spPr>
          <a:xfrm>
            <a:off x="694944" y="1728216"/>
            <a:ext cx="10744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334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Recommendation statement, based on verified evidence</a:t>
            </a:r>
            <a:endParaRPr lang="en-US" sz="1700" dirty="0"/>
          </a:p>
        </p:txBody>
      </p:sp>
      <p:sp>
        <p:nvSpPr>
          <p:cNvPr id="10" name="GATE_TABLE"/>
          <p:cNvSpPr/>
          <p:nvPr/>
        </p:nvSpPr>
        <p:spPr>
          <a:xfrm>
            <a:off x="475488" y="2532888"/>
            <a:ext cx="5623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73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MANDATORY COMPLIANCE</a:t>
            </a:r>
            <a:endParaRPr lang="en-US" sz="1300" dirty="0"/>
          </a:p>
        </p:txBody>
      </p:sp>
      <p:sp>
        <p:nvSpPr>
          <p:cNvPr id="11" name="GATE_HEADER_BG"/>
          <p:cNvSpPr/>
          <p:nvPr/>
        </p:nvSpPr>
        <p:spPr>
          <a:xfrm>
            <a:off x="475488" y="2898648"/>
            <a:ext cx="5623560" cy="310896"/>
          </a:xfrm>
          <a:prstGeom prst="rect">
            <a:avLst>
              <a:gd name="adj" fmla="val 23529"/>
            </a:avLst>
          </a:prstGeom>
          <a:solidFill>
            <a:srgbClr val="EEF4F6"/>
          </a:solidFill>
          <a:ln w="12700">
            <a:solidFill>
              <a:srgbClr val="EEF4F6"/>
            </a:solidFill>
            <a:prstDash val="solid"/>
          </a:ln>
        </p:spPr>
      </p:sp>
      <p:sp>
        <p:nvSpPr>
          <p:cNvPr id="12" name="GATE_VENDOR_HEADER"/>
          <p:cNvSpPr/>
          <p:nvPr/>
        </p:nvSpPr>
        <p:spPr>
          <a:xfrm>
            <a:off x="612648" y="2944368"/>
            <a:ext cx="1435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B6D7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VENDOR</a:t>
            </a:r>
            <a:endParaRPr lang="en-US" sz="900" dirty="0"/>
          </a:p>
        </p:txBody>
      </p:sp>
      <p:sp>
        <p:nvSpPr>
          <p:cNvPr id="13" name="GATE_STATUS_HEADER"/>
          <p:cNvSpPr/>
          <p:nvPr/>
        </p:nvSpPr>
        <p:spPr>
          <a:xfrm>
            <a:off x="2066544" y="2944368"/>
            <a:ext cx="5852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B6D7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GATE</a:t>
            </a:r>
            <a:endParaRPr lang="en-US" sz="900" dirty="0"/>
          </a:p>
        </p:txBody>
      </p:sp>
      <p:sp>
        <p:nvSpPr>
          <p:cNvPr id="14" name="GATE_REASON_HEADER"/>
          <p:cNvSpPr/>
          <p:nvPr/>
        </p:nvSpPr>
        <p:spPr>
          <a:xfrm>
            <a:off x="2734056" y="2944368"/>
            <a:ext cx="32644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B6D7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DECISIVE BASIS</a:t>
            </a:r>
            <a:endParaRPr lang="en-US" sz="900" dirty="0"/>
          </a:p>
        </p:txBody>
      </p:sp>
      <p:sp>
        <p:nvSpPr>
          <p:cNvPr id="15" name="GATE_ROW_1_BG"/>
          <p:cNvSpPr/>
          <p:nvPr/>
        </p:nvSpPr>
        <p:spPr>
          <a:xfrm>
            <a:off x="475488" y="3236976"/>
            <a:ext cx="5623560" cy="374904"/>
          </a:xfrm>
          <a:prstGeom prst="rect">
            <a:avLst>
              <a:gd name="adj" fmla="val 19512"/>
            </a:avLst>
          </a:prstGeom>
          <a:solidFill>
            <a:srgbClr val="F8FAFB"/>
          </a:solidFill>
          <a:ln w="12700">
            <a:solidFill>
              <a:srgbClr val="F8FAFB"/>
            </a:solidFill>
            <a:prstDash val="solid"/>
          </a:ln>
        </p:spPr>
      </p:sp>
      <p:sp>
        <p:nvSpPr>
          <p:cNvPr id="16" name="GATE_VENDOR_1"/>
          <p:cNvSpPr/>
          <p:nvPr/>
        </p:nvSpPr>
        <p:spPr>
          <a:xfrm>
            <a:off x="612648" y="327355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334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Vendor</a:t>
            </a:r>
            <a:endParaRPr lang="en-US" sz="1100" dirty="0"/>
          </a:p>
        </p:txBody>
      </p:sp>
      <p:sp>
        <p:nvSpPr>
          <p:cNvPr id="17" name="GATE_STATUS_1"/>
          <p:cNvSpPr/>
          <p:nvPr/>
        </p:nvSpPr>
        <p:spPr>
          <a:xfrm>
            <a:off x="2057400" y="3273552"/>
            <a:ext cx="621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D7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—</a:t>
            </a:r>
            <a:endParaRPr lang="en-US" sz="850" dirty="0"/>
          </a:p>
        </p:txBody>
      </p:sp>
      <p:sp>
        <p:nvSpPr>
          <p:cNvPr id="18" name="GATE_REASON_1"/>
          <p:cNvSpPr/>
          <p:nvPr/>
        </p:nvSpPr>
        <p:spPr>
          <a:xfrm>
            <a:off x="2734056" y="3273552"/>
            <a:ext cx="3227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D7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Requirement / source status</a:t>
            </a:r>
            <a:endParaRPr lang="en-US" sz="1000" dirty="0"/>
          </a:p>
        </p:txBody>
      </p:sp>
      <p:sp>
        <p:nvSpPr>
          <p:cNvPr id="19" name="GATE_ROW_2_BG"/>
          <p:cNvSpPr/>
          <p:nvPr/>
        </p:nvSpPr>
        <p:spPr>
          <a:xfrm>
            <a:off x="475488" y="3648456"/>
            <a:ext cx="5623560" cy="374904"/>
          </a:xfrm>
          <a:prstGeom prst="rect">
            <a:avLst>
              <a:gd name="adj" fmla="val 1951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GATE_VENDOR_2"/>
          <p:cNvSpPr/>
          <p:nvPr/>
        </p:nvSpPr>
        <p:spPr>
          <a:xfrm>
            <a:off x="612648" y="368503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334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Vendor</a:t>
            </a:r>
            <a:endParaRPr lang="en-US" sz="1100" dirty="0"/>
          </a:p>
        </p:txBody>
      </p:sp>
      <p:sp>
        <p:nvSpPr>
          <p:cNvPr id="21" name="GATE_STATUS_2"/>
          <p:cNvSpPr/>
          <p:nvPr/>
        </p:nvSpPr>
        <p:spPr>
          <a:xfrm>
            <a:off x="2057400" y="3685032"/>
            <a:ext cx="621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D7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—</a:t>
            </a:r>
            <a:endParaRPr lang="en-US" sz="850" dirty="0"/>
          </a:p>
        </p:txBody>
      </p:sp>
      <p:sp>
        <p:nvSpPr>
          <p:cNvPr id="22" name="GATE_REASON_2"/>
          <p:cNvSpPr/>
          <p:nvPr/>
        </p:nvSpPr>
        <p:spPr>
          <a:xfrm>
            <a:off x="2734056" y="3685032"/>
            <a:ext cx="3227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D7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Requirement / source status</a:t>
            </a:r>
            <a:endParaRPr lang="en-US" sz="1000" dirty="0"/>
          </a:p>
        </p:txBody>
      </p:sp>
      <p:sp>
        <p:nvSpPr>
          <p:cNvPr id="23" name="GATE_ROW_3_BG"/>
          <p:cNvSpPr/>
          <p:nvPr/>
        </p:nvSpPr>
        <p:spPr>
          <a:xfrm>
            <a:off x="475488" y="4059936"/>
            <a:ext cx="5623560" cy="374904"/>
          </a:xfrm>
          <a:prstGeom prst="rect">
            <a:avLst>
              <a:gd name="adj" fmla="val 19512"/>
            </a:avLst>
          </a:prstGeom>
          <a:solidFill>
            <a:srgbClr val="F8FAFB"/>
          </a:solidFill>
          <a:ln w="12700">
            <a:solidFill>
              <a:srgbClr val="F8FAFB"/>
            </a:solidFill>
            <a:prstDash val="solid"/>
          </a:ln>
        </p:spPr>
      </p:sp>
      <p:sp>
        <p:nvSpPr>
          <p:cNvPr id="24" name="GATE_VENDOR_3"/>
          <p:cNvSpPr/>
          <p:nvPr/>
        </p:nvSpPr>
        <p:spPr>
          <a:xfrm>
            <a:off x="612648" y="409651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334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Vendor</a:t>
            </a:r>
            <a:endParaRPr lang="en-US" sz="1100" dirty="0"/>
          </a:p>
        </p:txBody>
      </p:sp>
      <p:sp>
        <p:nvSpPr>
          <p:cNvPr id="25" name="GATE_STATUS_3"/>
          <p:cNvSpPr/>
          <p:nvPr/>
        </p:nvSpPr>
        <p:spPr>
          <a:xfrm>
            <a:off x="2057400" y="4096512"/>
            <a:ext cx="621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D7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—</a:t>
            </a:r>
            <a:endParaRPr lang="en-US" sz="850" dirty="0"/>
          </a:p>
        </p:txBody>
      </p:sp>
      <p:sp>
        <p:nvSpPr>
          <p:cNvPr id="26" name="GATE_REASON_3"/>
          <p:cNvSpPr/>
          <p:nvPr/>
        </p:nvSpPr>
        <p:spPr>
          <a:xfrm>
            <a:off x="2734056" y="4096512"/>
            <a:ext cx="3227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D7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Requirement / source status</a:t>
            </a:r>
            <a:endParaRPr lang="en-US" sz="1000" dirty="0"/>
          </a:p>
        </p:txBody>
      </p:sp>
      <p:sp>
        <p:nvSpPr>
          <p:cNvPr id="27" name="GATE_ROW_4_BG"/>
          <p:cNvSpPr/>
          <p:nvPr/>
        </p:nvSpPr>
        <p:spPr>
          <a:xfrm>
            <a:off x="475488" y="4471416"/>
            <a:ext cx="5623560" cy="374904"/>
          </a:xfrm>
          <a:prstGeom prst="rect">
            <a:avLst>
              <a:gd name="adj" fmla="val 1951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GATE_VENDOR_4"/>
          <p:cNvSpPr/>
          <p:nvPr/>
        </p:nvSpPr>
        <p:spPr>
          <a:xfrm>
            <a:off x="612648" y="450799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334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Vendor</a:t>
            </a:r>
            <a:endParaRPr lang="en-US" sz="1100" dirty="0"/>
          </a:p>
        </p:txBody>
      </p:sp>
      <p:sp>
        <p:nvSpPr>
          <p:cNvPr id="29" name="GATE_STATUS_4"/>
          <p:cNvSpPr/>
          <p:nvPr/>
        </p:nvSpPr>
        <p:spPr>
          <a:xfrm>
            <a:off x="2057400" y="4507992"/>
            <a:ext cx="621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D7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—</a:t>
            </a:r>
            <a:endParaRPr lang="en-US" sz="850" dirty="0"/>
          </a:p>
        </p:txBody>
      </p:sp>
      <p:sp>
        <p:nvSpPr>
          <p:cNvPr id="30" name="GATE_REASON_4"/>
          <p:cNvSpPr/>
          <p:nvPr/>
        </p:nvSpPr>
        <p:spPr>
          <a:xfrm>
            <a:off x="2734056" y="4507992"/>
            <a:ext cx="3227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D7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Requirement / source status</a:t>
            </a:r>
            <a:endParaRPr lang="en-US" sz="1000" dirty="0"/>
          </a:p>
        </p:txBody>
      </p:sp>
      <p:sp>
        <p:nvSpPr>
          <p:cNvPr id="31" name="GATE_ROW_5_BG"/>
          <p:cNvSpPr/>
          <p:nvPr/>
        </p:nvSpPr>
        <p:spPr>
          <a:xfrm>
            <a:off x="475488" y="4882896"/>
            <a:ext cx="5623560" cy="374904"/>
          </a:xfrm>
          <a:prstGeom prst="rect">
            <a:avLst>
              <a:gd name="adj" fmla="val 19512"/>
            </a:avLst>
          </a:prstGeom>
          <a:solidFill>
            <a:srgbClr val="F8FAFB"/>
          </a:solidFill>
          <a:ln w="12700">
            <a:solidFill>
              <a:srgbClr val="F8FAFB"/>
            </a:solidFill>
            <a:prstDash val="solid"/>
          </a:ln>
        </p:spPr>
      </p:sp>
      <p:sp>
        <p:nvSpPr>
          <p:cNvPr id="32" name="GATE_VENDOR_5"/>
          <p:cNvSpPr/>
          <p:nvPr/>
        </p:nvSpPr>
        <p:spPr>
          <a:xfrm>
            <a:off x="612648" y="491947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334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Vendor</a:t>
            </a:r>
            <a:endParaRPr lang="en-US" sz="1100" dirty="0"/>
          </a:p>
        </p:txBody>
      </p:sp>
      <p:sp>
        <p:nvSpPr>
          <p:cNvPr id="33" name="GATE_STATUS_5"/>
          <p:cNvSpPr/>
          <p:nvPr/>
        </p:nvSpPr>
        <p:spPr>
          <a:xfrm>
            <a:off x="2057400" y="4919472"/>
            <a:ext cx="621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D7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—</a:t>
            </a:r>
            <a:endParaRPr lang="en-US" sz="850" dirty="0"/>
          </a:p>
        </p:txBody>
      </p:sp>
      <p:sp>
        <p:nvSpPr>
          <p:cNvPr id="34" name="GATE_REASON_5"/>
          <p:cNvSpPr/>
          <p:nvPr/>
        </p:nvSpPr>
        <p:spPr>
          <a:xfrm>
            <a:off x="2734056" y="4919472"/>
            <a:ext cx="3227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D7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Requirement / source status</a:t>
            </a:r>
            <a:endParaRPr lang="en-US" sz="1000" dirty="0"/>
          </a:p>
        </p:txBody>
      </p:sp>
      <p:sp>
        <p:nvSpPr>
          <p:cNvPr id="35" name="COMPARISON_CHART"/>
          <p:cNvSpPr/>
          <p:nvPr/>
        </p:nvSpPr>
        <p:spPr>
          <a:xfrm>
            <a:off x="6355080" y="2532888"/>
            <a:ext cx="5349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73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SCORES AFTER GATE</a:t>
            </a:r>
            <a:endParaRPr lang="en-US" sz="1300" dirty="0"/>
          </a:p>
        </p:txBody>
      </p:sp>
      <p:sp>
        <p:nvSpPr>
          <p:cNvPr id="36" name="COMPARISON_BG"/>
          <p:cNvSpPr/>
          <p:nvPr/>
        </p:nvSpPr>
        <p:spPr>
          <a:xfrm>
            <a:off x="6355080" y="2898648"/>
            <a:ext cx="5349240" cy="2423160"/>
          </a:xfrm>
          <a:prstGeom prst="roundRect">
            <a:avLst>
              <a:gd name="adj" fmla="val 3019"/>
            </a:avLst>
          </a:prstGeom>
          <a:solidFill>
            <a:srgbClr val="F8FAFB"/>
          </a:solidFill>
          <a:ln w="12700">
            <a:solidFill>
              <a:srgbClr val="F8FAFB"/>
            </a:solidFill>
            <a:prstDash val="solid"/>
          </a:ln>
        </p:spPr>
      </p:sp>
      <p:sp>
        <p:nvSpPr>
          <p:cNvPr id="37" name="SCORE_VENDOR_1"/>
          <p:cNvSpPr/>
          <p:nvPr/>
        </p:nvSpPr>
        <p:spPr>
          <a:xfrm>
            <a:off x="6492240" y="3026664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334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Compliant bid</a:t>
            </a:r>
            <a:endParaRPr lang="en-US" sz="1100" dirty="0"/>
          </a:p>
        </p:txBody>
      </p:sp>
      <p:sp>
        <p:nvSpPr>
          <p:cNvPr id="38" name="SCORE_TRACK_1"/>
          <p:cNvSpPr/>
          <p:nvPr/>
        </p:nvSpPr>
        <p:spPr>
          <a:xfrm>
            <a:off x="6492240" y="3300984"/>
            <a:ext cx="3840480" cy="128016"/>
          </a:xfrm>
          <a:prstGeom prst="roundRect">
            <a:avLst>
              <a:gd name="adj" fmla="val 57143"/>
            </a:avLst>
          </a:prstGeom>
          <a:solidFill>
            <a:srgbClr val="D8E2E8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39" name="SCORE_BAR_1"/>
          <p:cNvSpPr/>
          <p:nvPr/>
        </p:nvSpPr>
        <p:spPr>
          <a:xfrm>
            <a:off x="6492240" y="3300984"/>
            <a:ext cx="2304288" cy="128016"/>
          </a:xfrm>
          <a:prstGeom prst="roundRect">
            <a:avLst>
              <a:gd name="adj" fmla="val 57143"/>
            </a:avLst>
          </a:prstGeom>
          <a:solidFill>
            <a:srgbClr val="1A9CAC"/>
          </a:solidFill>
          <a:ln w="12700">
            <a:solidFill>
              <a:srgbClr val="1A9CAC"/>
            </a:solidFill>
            <a:prstDash val="solid"/>
          </a:ln>
        </p:spPr>
      </p:sp>
      <p:sp>
        <p:nvSpPr>
          <p:cNvPr id="40" name="SCORE_VALUE_1"/>
          <p:cNvSpPr/>
          <p:nvPr/>
        </p:nvSpPr>
        <p:spPr>
          <a:xfrm>
            <a:off x="10378440" y="3255264"/>
            <a:ext cx="621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D334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—</a:t>
            </a:r>
            <a:endParaRPr lang="en-US" sz="1100" dirty="0"/>
          </a:p>
        </p:txBody>
      </p:sp>
      <p:sp>
        <p:nvSpPr>
          <p:cNvPr id="41" name="SCORE_LABEL_1"/>
          <p:cNvSpPr/>
          <p:nvPr/>
        </p:nvSpPr>
        <p:spPr>
          <a:xfrm>
            <a:off x="6492240" y="3456432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D7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Evaluated price / context</a:t>
            </a:r>
            <a:endParaRPr lang="en-US" sz="900" dirty="0"/>
          </a:p>
        </p:txBody>
      </p:sp>
      <p:sp>
        <p:nvSpPr>
          <p:cNvPr id="42" name="SCORE_VENDOR_2"/>
          <p:cNvSpPr/>
          <p:nvPr/>
        </p:nvSpPr>
        <p:spPr>
          <a:xfrm>
            <a:off x="6492240" y="3739896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334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Compliant bid</a:t>
            </a:r>
            <a:endParaRPr lang="en-US" sz="1100" dirty="0"/>
          </a:p>
        </p:txBody>
      </p:sp>
      <p:sp>
        <p:nvSpPr>
          <p:cNvPr id="43" name="SCORE_TRACK_2"/>
          <p:cNvSpPr/>
          <p:nvPr/>
        </p:nvSpPr>
        <p:spPr>
          <a:xfrm>
            <a:off x="6492240" y="4014216"/>
            <a:ext cx="3840480" cy="128016"/>
          </a:xfrm>
          <a:prstGeom prst="roundRect">
            <a:avLst>
              <a:gd name="adj" fmla="val 57143"/>
            </a:avLst>
          </a:prstGeom>
          <a:solidFill>
            <a:srgbClr val="D8E2E8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44" name="SCORE_BAR_2"/>
          <p:cNvSpPr/>
          <p:nvPr/>
        </p:nvSpPr>
        <p:spPr>
          <a:xfrm>
            <a:off x="6492240" y="4014216"/>
            <a:ext cx="1843430" cy="128016"/>
          </a:xfrm>
          <a:prstGeom prst="roundRect">
            <a:avLst>
              <a:gd name="adj" fmla="val 57143"/>
            </a:avLst>
          </a:prstGeom>
          <a:solidFill>
            <a:srgbClr val="1A9CAC"/>
          </a:solidFill>
          <a:ln w="12700">
            <a:solidFill>
              <a:srgbClr val="1A9CAC"/>
            </a:solidFill>
            <a:prstDash val="solid"/>
          </a:ln>
        </p:spPr>
      </p:sp>
      <p:sp>
        <p:nvSpPr>
          <p:cNvPr id="45" name="SCORE_VALUE_2"/>
          <p:cNvSpPr/>
          <p:nvPr/>
        </p:nvSpPr>
        <p:spPr>
          <a:xfrm>
            <a:off x="10378440" y="3968496"/>
            <a:ext cx="621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D334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—</a:t>
            </a:r>
            <a:endParaRPr lang="en-US" sz="1100" dirty="0"/>
          </a:p>
        </p:txBody>
      </p:sp>
      <p:sp>
        <p:nvSpPr>
          <p:cNvPr id="46" name="SCORE_LABEL_2"/>
          <p:cNvSpPr/>
          <p:nvPr/>
        </p:nvSpPr>
        <p:spPr>
          <a:xfrm>
            <a:off x="6492240" y="4169664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D7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Evaluated price / context</a:t>
            </a:r>
            <a:endParaRPr lang="en-US" sz="900" dirty="0"/>
          </a:p>
        </p:txBody>
      </p:sp>
      <p:sp>
        <p:nvSpPr>
          <p:cNvPr id="47" name="SCORE_VENDOR_3"/>
          <p:cNvSpPr/>
          <p:nvPr/>
        </p:nvSpPr>
        <p:spPr>
          <a:xfrm>
            <a:off x="6492240" y="4453128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334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Compliant bid</a:t>
            </a:r>
            <a:endParaRPr lang="en-US" sz="1100" dirty="0"/>
          </a:p>
        </p:txBody>
      </p:sp>
      <p:sp>
        <p:nvSpPr>
          <p:cNvPr id="48" name="SCORE_TRACK_3"/>
          <p:cNvSpPr/>
          <p:nvPr/>
        </p:nvSpPr>
        <p:spPr>
          <a:xfrm>
            <a:off x="6492240" y="4727448"/>
            <a:ext cx="3840480" cy="128016"/>
          </a:xfrm>
          <a:prstGeom prst="roundRect">
            <a:avLst>
              <a:gd name="adj" fmla="val 57143"/>
            </a:avLst>
          </a:prstGeom>
          <a:solidFill>
            <a:srgbClr val="D8E2E8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49" name="SCORE_BAR_3"/>
          <p:cNvSpPr/>
          <p:nvPr/>
        </p:nvSpPr>
        <p:spPr>
          <a:xfrm>
            <a:off x="6492240" y="4727448"/>
            <a:ext cx="1382573" cy="128016"/>
          </a:xfrm>
          <a:prstGeom prst="roundRect">
            <a:avLst>
              <a:gd name="adj" fmla="val 57143"/>
            </a:avLst>
          </a:prstGeom>
          <a:solidFill>
            <a:srgbClr val="1A9CAC"/>
          </a:solidFill>
          <a:ln w="12700">
            <a:solidFill>
              <a:srgbClr val="1A9CAC"/>
            </a:solidFill>
            <a:prstDash val="solid"/>
          </a:ln>
        </p:spPr>
      </p:sp>
      <p:sp>
        <p:nvSpPr>
          <p:cNvPr id="50" name="SCORE_VALUE_3"/>
          <p:cNvSpPr/>
          <p:nvPr/>
        </p:nvSpPr>
        <p:spPr>
          <a:xfrm>
            <a:off x="10378440" y="4681728"/>
            <a:ext cx="621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D334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—</a:t>
            </a:r>
            <a:endParaRPr lang="en-US" sz="1100" dirty="0"/>
          </a:p>
        </p:txBody>
      </p:sp>
      <p:sp>
        <p:nvSpPr>
          <p:cNvPr id="51" name="SCORE_LABEL_3"/>
          <p:cNvSpPr/>
          <p:nvPr/>
        </p:nvSpPr>
        <p:spPr>
          <a:xfrm>
            <a:off x="6492240" y="4882896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D7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Evaluated price / context</a:t>
            </a:r>
            <a:endParaRPr lang="en-US" sz="900" dirty="0"/>
          </a:p>
        </p:txBody>
      </p:sp>
      <p:sp>
        <p:nvSpPr>
          <p:cNvPr id="52" name="DECISION_PANEL"/>
          <p:cNvSpPr/>
          <p:nvPr/>
        </p:nvSpPr>
        <p:spPr>
          <a:xfrm>
            <a:off x="475488" y="5504688"/>
            <a:ext cx="11228832" cy="530352"/>
          </a:xfrm>
          <a:prstGeom prst="roundRect">
            <a:avLst>
              <a:gd name="adj" fmla="val 13793"/>
            </a:avLst>
          </a:prstGeom>
          <a:solidFill>
            <a:srgbClr val="14273C"/>
          </a:solidFill>
          <a:ln w="12700">
            <a:solidFill>
              <a:srgbClr val="14273C"/>
            </a:solidFill>
            <a:prstDash val="solid"/>
          </a:ln>
        </p:spPr>
      </p:sp>
      <p:sp>
        <p:nvSpPr>
          <p:cNvPr id="53" name="DECISION"/>
          <p:cNvSpPr/>
          <p:nvPr/>
        </p:nvSpPr>
        <p:spPr>
          <a:xfrm>
            <a:off x="704088" y="5586984"/>
            <a:ext cx="107442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Approval or next action requested</a:t>
            </a:r>
            <a:endParaRPr lang="en-US" sz="1500" dirty="0"/>
          </a:p>
        </p:txBody>
      </p:sp>
      <p:sp>
        <p:nvSpPr>
          <p:cNvPr id="54" name="SOURCE_NOTES"/>
          <p:cNvSpPr/>
          <p:nvPr/>
        </p:nvSpPr>
        <p:spPr>
          <a:xfrm>
            <a:off x="475488" y="6236208"/>
            <a:ext cx="11228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D7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Sources: document ID and exact locator • Fictional training case; not A*STAR policy or Singapore procurement law.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AND_BAND"/>
          <p:cNvSpPr/>
          <p:nvPr/>
        </p:nvSpPr>
        <p:spPr>
          <a:xfrm>
            <a:off x="0" y="0"/>
            <a:ext cx="12191695" cy="612648"/>
          </a:xfrm>
          <a:prstGeom prst="rect">
            <a:avLst>
              <a:gd name="adj" fmla="val 11940"/>
            </a:avLst>
          </a:prstGeom>
          <a:solidFill>
            <a:srgbClr val="14273C"/>
          </a:solidFill>
          <a:ln w="12700">
            <a:solidFill>
              <a:srgbClr val="14273C"/>
            </a:solidFill>
            <a:prstDash val="solid"/>
          </a:ln>
        </p:spPr>
      </p:sp>
      <p:sp>
        <p:nvSpPr>
          <p:cNvPr id="3" name="BRAND_LABEL"/>
          <p:cNvSpPr/>
          <p:nvPr/>
        </p:nvSpPr>
        <p:spPr>
          <a:xfrm>
            <a:off x="475488" y="164592"/>
            <a:ext cx="6583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ENCABULATION | DECISION BRIEF</a:t>
            </a:r>
            <a:endParaRPr lang="en-US" sz="1100" dirty="0"/>
          </a:p>
        </p:txBody>
      </p:sp>
      <p:sp>
        <p:nvSpPr>
          <p:cNvPr id="4" name="ARCHETYPE_LABEL"/>
          <p:cNvSpPr/>
          <p:nvPr/>
        </p:nvSpPr>
        <p:spPr>
          <a:xfrm>
            <a:off x="9308592" y="164592"/>
            <a:ext cx="23957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DCE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GATE FOCUS</a:t>
            </a:r>
            <a:endParaRPr lang="en-US" sz="900" dirty="0"/>
          </a:p>
        </p:txBody>
      </p:sp>
      <p:sp>
        <p:nvSpPr>
          <p:cNvPr id="5" name="AUDIENCE"/>
          <p:cNvSpPr/>
          <p:nvPr/>
        </p:nvSpPr>
        <p:spPr>
          <a:xfrm>
            <a:off x="475488" y="749808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6D7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Audience / decision owner</a:t>
            </a:r>
            <a:endParaRPr lang="en-US" sz="1000" dirty="0"/>
          </a:p>
        </p:txBody>
      </p:sp>
      <p:sp>
        <p:nvSpPr>
          <p:cNvPr id="6" name="TITLE"/>
          <p:cNvSpPr/>
          <p:nvPr/>
        </p:nvSpPr>
        <p:spPr>
          <a:xfrm>
            <a:off x="475488" y="1014984"/>
            <a:ext cx="111556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73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One clear decision headline</a:t>
            </a:r>
            <a:endParaRPr lang="en-US" sz="2700" dirty="0"/>
          </a:p>
        </p:txBody>
      </p:sp>
      <p:sp>
        <p:nvSpPr>
          <p:cNvPr id="7" name="RECOMMENDATION_PANEL"/>
          <p:cNvSpPr/>
          <p:nvPr/>
        </p:nvSpPr>
        <p:spPr>
          <a:xfrm>
            <a:off x="475488" y="1618488"/>
            <a:ext cx="11228832" cy="621792"/>
          </a:xfrm>
          <a:prstGeom prst="roundRect">
            <a:avLst>
              <a:gd name="adj" fmla="val 11765"/>
            </a:avLst>
          </a:prstGeom>
          <a:solidFill>
            <a:srgbClr val="EEF4F6"/>
          </a:solidFill>
          <a:ln w="12700">
            <a:solidFill>
              <a:srgbClr val="EEF4F6"/>
            </a:solidFill>
            <a:prstDash val="solid"/>
          </a:ln>
        </p:spPr>
      </p:sp>
      <p:sp>
        <p:nvSpPr>
          <p:cNvPr id="8" name="RECOMMENDATION_ACCENT"/>
          <p:cNvSpPr/>
          <p:nvPr/>
        </p:nvSpPr>
        <p:spPr>
          <a:xfrm>
            <a:off x="475488" y="1618488"/>
            <a:ext cx="91440" cy="621792"/>
          </a:xfrm>
          <a:prstGeom prst="rect">
            <a:avLst>
              <a:gd name="adj" fmla="val 80000"/>
            </a:avLst>
          </a:prstGeom>
          <a:solidFill>
            <a:srgbClr val="278267"/>
          </a:solidFill>
          <a:ln w="12700">
            <a:solidFill>
              <a:srgbClr val="278267"/>
            </a:solidFill>
            <a:prstDash val="solid"/>
          </a:ln>
        </p:spPr>
      </p:sp>
      <p:sp>
        <p:nvSpPr>
          <p:cNvPr id="9" name="RECOMMENDATION"/>
          <p:cNvSpPr/>
          <p:nvPr/>
        </p:nvSpPr>
        <p:spPr>
          <a:xfrm>
            <a:off x="694944" y="1728216"/>
            <a:ext cx="10744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334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Recommendation statement, based on verified evidence</a:t>
            </a:r>
            <a:endParaRPr lang="en-US" sz="1700" dirty="0"/>
          </a:p>
        </p:txBody>
      </p:sp>
      <p:sp>
        <p:nvSpPr>
          <p:cNvPr id="10" name="GATE_TABLE"/>
          <p:cNvSpPr/>
          <p:nvPr/>
        </p:nvSpPr>
        <p:spPr>
          <a:xfrm>
            <a:off x="475488" y="2532888"/>
            <a:ext cx="6446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73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MANDATORY COMPLIANCE</a:t>
            </a:r>
            <a:endParaRPr lang="en-US" sz="1300" dirty="0"/>
          </a:p>
        </p:txBody>
      </p:sp>
      <p:sp>
        <p:nvSpPr>
          <p:cNvPr id="11" name="GATE_HEADER_BG"/>
          <p:cNvSpPr/>
          <p:nvPr/>
        </p:nvSpPr>
        <p:spPr>
          <a:xfrm>
            <a:off x="475488" y="2898648"/>
            <a:ext cx="6446520" cy="310896"/>
          </a:xfrm>
          <a:prstGeom prst="rect">
            <a:avLst>
              <a:gd name="adj" fmla="val 23529"/>
            </a:avLst>
          </a:prstGeom>
          <a:solidFill>
            <a:srgbClr val="EEF4F6"/>
          </a:solidFill>
          <a:ln w="12700">
            <a:solidFill>
              <a:srgbClr val="EEF4F6"/>
            </a:solidFill>
            <a:prstDash val="solid"/>
          </a:ln>
        </p:spPr>
      </p:sp>
      <p:sp>
        <p:nvSpPr>
          <p:cNvPr id="12" name="GATE_VENDOR_HEADER"/>
          <p:cNvSpPr/>
          <p:nvPr/>
        </p:nvSpPr>
        <p:spPr>
          <a:xfrm>
            <a:off x="612648" y="2944368"/>
            <a:ext cx="1435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B6D7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VENDOR</a:t>
            </a:r>
            <a:endParaRPr lang="en-US" sz="900" dirty="0"/>
          </a:p>
        </p:txBody>
      </p:sp>
      <p:sp>
        <p:nvSpPr>
          <p:cNvPr id="13" name="GATE_STATUS_HEADER"/>
          <p:cNvSpPr/>
          <p:nvPr/>
        </p:nvSpPr>
        <p:spPr>
          <a:xfrm>
            <a:off x="2066544" y="2944368"/>
            <a:ext cx="5852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B6D7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GATE</a:t>
            </a:r>
            <a:endParaRPr lang="en-US" sz="900" dirty="0"/>
          </a:p>
        </p:txBody>
      </p:sp>
      <p:sp>
        <p:nvSpPr>
          <p:cNvPr id="14" name="GATE_REASON_HEADER"/>
          <p:cNvSpPr/>
          <p:nvPr/>
        </p:nvSpPr>
        <p:spPr>
          <a:xfrm>
            <a:off x="2734056" y="2944368"/>
            <a:ext cx="4087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B6D7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DECISIVE BASIS</a:t>
            </a:r>
            <a:endParaRPr lang="en-US" sz="900" dirty="0"/>
          </a:p>
        </p:txBody>
      </p:sp>
      <p:sp>
        <p:nvSpPr>
          <p:cNvPr id="15" name="GATE_ROW_1_BG"/>
          <p:cNvSpPr/>
          <p:nvPr/>
        </p:nvSpPr>
        <p:spPr>
          <a:xfrm>
            <a:off x="475488" y="3236976"/>
            <a:ext cx="6446520" cy="374904"/>
          </a:xfrm>
          <a:prstGeom prst="rect">
            <a:avLst>
              <a:gd name="adj" fmla="val 19512"/>
            </a:avLst>
          </a:prstGeom>
          <a:solidFill>
            <a:srgbClr val="F8FAFB"/>
          </a:solidFill>
          <a:ln w="12700">
            <a:solidFill>
              <a:srgbClr val="F8FAFB"/>
            </a:solidFill>
            <a:prstDash val="solid"/>
          </a:ln>
        </p:spPr>
      </p:sp>
      <p:sp>
        <p:nvSpPr>
          <p:cNvPr id="16" name="GATE_VENDOR_1"/>
          <p:cNvSpPr/>
          <p:nvPr/>
        </p:nvSpPr>
        <p:spPr>
          <a:xfrm>
            <a:off x="612648" y="327355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334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Vendor</a:t>
            </a:r>
            <a:endParaRPr lang="en-US" sz="1100" dirty="0"/>
          </a:p>
        </p:txBody>
      </p:sp>
      <p:sp>
        <p:nvSpPr>
          <p:cNvPr id="17" name="GATE_STATUS_1"/>
          <p:cNvSpPr/>
          <p:nvPr/>
        </p:nvSpPr>
        <p:spPr>
          <a:xfrm>
            <a:off x="2057400" y="3273552"/>
            <a:ext cx="621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D7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—</a:t>
            </a:r>
            <a:endParaRPr lang="en-US" sz="850" dirty="0"/>
          </a:p>
        </p:txBody>
      </p:sp>
      <p:sp>
        <p:nvSpPr>
          <p:cNvPr id="18" name="GATE_REASON_1"/>
          <p:cNvSpPr/>
          <p:nvPr/>
        </p:nvSpPr>
        <p:spPr>
          <a:xfrm>
            <a:off x="2734056" y="3273552"/>
            <a:ext cx="4050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D7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Requirement / source status</a:t>
            </a:r>
            <a:endParaRPr lang="en-US" sz="1000" dirty="0"/>
          </a:p>
        </p:txBody>
      </p:sp>
      <p:sp>
        <p:nvSpPr>
          <p:cNvPr id="19" name="GATE_ROW_2_BG"/>
          <p:cNvSpPr/>
          <p:nvPr/>
        </p:nvSpPr>
        <p:spPr>
          <a:xfrm>
            <a:off x="475488" y="3648456"/>
            <a:ext cx="6446520" cy="374904"/>
          </a:xfrm>
          <a:prstGeom prst="rect">
            <a:avLst>
              <a:gd name="adj" fmla="val 1951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GATE_VENDOR_2"/>
          <p:cNvSpPr/>
          <p:nvPr/>
        </p:nvSpPr>
        <p:spPr>
          <a:xfrm>
            <a:off x="612648" y="368503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334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Vendor</a:t>
            </a:r>
            <a:endParaRPr lang="en-US" sz="1100" dirty="0"/>
          </a:p>
        </p:txBody>
      </p:sp>
      <p:sp>
        <p:nvSpPr>
          <p:cNvPr id="21" name="GATE_STATUS_2"/>
          <p:cNvSpPr/>
          <p:nvPr/>
        </p:nvSpPr>
        <p:spPr>
          <a:xfrm>
            <a:off x="2057400" y="3685032"/>
            <a:ext cx="621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D7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—</a:t>
            </a:r>
            <a:endParaRPr lang="en-US" sz="850" dirty="0"/>
          </a:p>
        </p:txBody>
      </p:sp>
      <p:sp>
        <p:nvSpPr>
          <p:cNvPr id="22" name="GATE_REASON_2"/>
          <p:cNvSpPr/>
          <p:nvPr/>
        </p:nvSpPr>
        <p:spPr>
          <a:xfrm>
            <a:off x="2734056" y="3685032"/>
            <a:ext cx="4050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D7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Requirement / source status</a:t>
            </a:r>
            <a:endParaRPr lang="en-US" sz="1000" dirty="0"/>
          </a:p>
        </p:txBody>
      </p:sp>
      <p:sp>
        <p:nvSpPr>
          <p:cNvPr id="23" name="GATE_ROW_3_BG"/>
          <p:cNvSpPr/>
          <p:nvPr/>
        </p:nvSpPr>
        <p:spPr>
          <a:xfrm>
            <a:off x="475488" y="4059936"/>
            <a:ext cx="6446520" cy="374904"/>
          </a:xfrm>
          <a:prstGeom prst="rect">
            <a:avLst>
              <a:gd name="adj" fmla="val 19512"/>
            </a:avLst>
          </a:prstGeom>
          <a:solidFill>
            <a:srgbClr val="F8FAFB"/>
          </a:solidFill>
          <a:ln w="12700">
            <a:solidFill>
              <a:srgbClr val="F8FAFB"/>
            </a:solidFill>
            <a:prstDash val="solid"/>
          </a:ln>
        </p:spPr>
      </p:sp>
      <p:sp>
        <p:nvSpPr>
          <p:cNvPr id="24" name="GATE_VENDOR_3"/>
          <p:cNvSpPr/>
          <p:nvPr/>
        </p:nvSpPr>
        <p:spPr>
          <a:xfrm>
            <a:off x="612648" y="409651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334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Vendor</a:t>
            </a:r>
            <a:endParaRPr lang="en-US" sz="1100" dirty="0"/>
          </a:p>
        </p:txBody>
      </p:sp>
      <p:sp>
        <p:nvSpPr>
          <p:cNvPr id="25" name="GATE_STATUS_3"/>
          <p:cNvSpPr/>
          <p:nvPr/>
        </p:nvSpPr>
        <p:spPr>
          <a:xfrm>
            <a:off x="2057400" y="4096512"/>
            <a:ext cx="621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D7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—</a:t>
            </a:r>
            <a:endParaRPr lang="en-US" sz="850" dirty="0"/>
          </a:p>
        </p:txBody>
      </p:sp>
      <p:sp>
        <p:nvSpPr>
          <p:cNvPr id="26" name="GATE_REASON_3"/>
          <p:cNvSpPr/>
          <p:nvPr/>
        </p:nvSpPr>
        <p:spPr>
          <a:xfrm>
            <a:off x="2734056" y="4096512"/>
            <a:ext cx="4050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D7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Requirement / source status</a:t>
            </a:r>
            <a:endParaRPr lang="en-US" sz="1000" dirty="0"/>
          </a:p>
        </p:txBody>
      </p:sp>
      <p:sp>
        <p:nvSpPr>
          <p:cNvPr id="27" name="GATE_ROW_4_BG"/>
          <p:cNvSpPr/>
          <p:nvPr/>
        </p:nvSpPr>
        <p:spPr>
          <a:xfrm>
            <a:off x="475488" y="4471416"/>
            <a:ext cx="6446520" cy="374904"/>
          </a:xfrm>
          <a:prstGeom prst="rect">
            <a:avLst>
              <a:gd name="adj" fmla="val 1951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GATE_VENDOR_4"/>
          <p:cNvSpPr/>
          <p:nvPr/>
        </p:nvSpPr>
        <p:spPr>
          <a:xfrm>
            <a:off x="612648" y="450799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334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Vendor</a:t>
            </a:r>
            <a:endParaRPr lang="en-US" sz="1100" dirty="0"/>
          </a:p>
        </p:txBody>
      </p:sp>
      <p:sp>
        <p:nvSpPr>
          <p:cNvPr id="29" name="GATE_STATUS_4"/>
          <p:cNvSpPr/>
          <p:nvPr/>
        </p:nvSpPr>
        <p:spPr>
          <a:xfrm>
            <a:off x="2057400" y="4507992"/>
            <a:ext cx="621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D7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—</a:t>
            </a:r>
            <a:endParaRPr lang="en-US" sz="850" dirty="0"/>
          </a:p>
        </p:txBody>
      </p:sp>
      <p:sp>
        <p:nvSpPr>
          <p:cNvPr id="30" name="GATE_REASON_4"/>
          <p:cNvSpPr/>
          <p:nvPr/>
        </p:nvSpPr>
        <p:spPr>
          <a:xfrm>
            <a:off x="2734056" y="4507992"/>
            <a:ext cx="4050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D7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Requirement / source status</a:t>
            </a:r>
            <a:endParaRPr lang="en-US" sz="1000" dirty="0"/>
          </a:p>
        </p:txBody>
      </p:sp>
      <p:sp>
        <p:nvSpPr>
          <p:cNvPr id="31" name="GATE_ROW_5_BG"/>
          <p:cNvSpPr/>
          <p:nvPr/>
        </p:nvSpPr>
        <p:spPr>
          <a:xfrm>
            <a:off x="475488" y="4882896"/>
            <a:ext cx="6446520" cy="374904"/>
          </a:xfrm>
          <a:prstGeom prst="rect">
            <a:avLst>
              <a:gd name="adj" fmla="val 19512"/>
            </a:avLst>
          </a:prstGeom>
          <a:solidFill>
            <a:srgbClr val="F8FAFB"/>
          </a:solidFill>
          <a:ln w="12700">
            <a:solidFill>
              <a:srgbClr val="F8FAFB"/>
            </a:solidFill>
            <a:prstDash val="solid"/>
          </a:ln>
        </p:spPr>
      </p:sp>
      <p:sp>
        <p:nvSpPr>
          <p:cNvPr id="32" name="GATE_VENDOR_5"/>
          <p:cNvSpPr/>
          <p:nvPr/>
        </p:nvSpPr>
        <p:spPr>
          <a:xfrm>
            <a:off x="612648" y="491947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334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Vendor</a:t>
            </a:r>
            <a:endParaRPr lang="en-US" sz="1100" dirty="0"/>
          </a:p>
        </p:txBody>
      </p:sp>
      <p:sp>
        <p:nvSpPr>
          <p:cNvPr id="33" name="GATE_STATUS_5"/>
          <p:cNvSpPr/>
          <p:nvPr/>
        </p:nvSpPr>
        <p:spPr>
          <a:xfrm>
            <a:off x="2057400" y="4919472"/>
            <a:ext cx="621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D7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—</a:t>
            </a:r>
            <a:endParaRPr lang="en-US" sz="850" dirty="0"/>
          </a:p>
        </p:txBody>
      </p:sp>
      <p:sp>
        <p:nvSpPr>
          <p:cNvPr id="34" name="GATE_REASON_5"/>
          <p:cNvSpPr/>
          <p:nvPr/>
        </p:nvSpPr>
        <p:spPr>
          <a:xfrm>
            <a:off x="2734056" y="4919472"/>
            <a:ext cx="4050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D7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Requirement / source status</a:t>
            </a:r>
            <a:endParaRPr lang="en-US" sz="1000" dirty="0"/>
          </a:p>
        </p:txBody>
      </p:sp>
      <p:sp>
        <p:nvSpPr>
          <p:cNvPr id="35" name="COMPARISON_CHART"/>
          <p:cNvSpPr/>
          <p:nvPr/>
        </p:nvSpPr>
        <p:spPr>
          <a:xfrm>
            <a:off x="7178040" y="2532888"/>
            <a:ext cx="4526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73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SCORES AFTER GATE</a:t>
            </a:r>
            <a:endParaRPr lang="en-US" sz="1300" dirty="0"/>
          </a:p>
        </p:txBody>
      </p:sp>
      <p:sp>
        <p:nvSpPr>
          <p:cNvPr id="36" name="COMPARISON_BG"/>
          <p:cNvSpPr/>
          <p:nvPr/>
        </p:nvSpPr>
        <p:spPr>
          <a:xfrm>
            <a:off x="7178040" y="2898648"/>
            <a:ext cx="4526280" cy="2423160"/>
          </a:xfrm>
          <a:prstGeom prst="roundRect">
            <a:avLst>
              <a:gd name="adj" fmla="val 3019"/>
            </a:avLst>
          </a:prstGeom>
          <a:solidFill>
            <a:srgbClr val="F8FAFB"/>
          </a:solidFill>
          <a:ln w="12700">
            <a:solidFill>
              <a:srgbClr val="F8FAFB"/>
            </a:solidFill>
            <a:prstDash val="solid"/>
          </a:ln>
        </p:spPr>
      </p:sp>
      <p:sp>
        <p:nvSpPr>
          <p:cNvPr id="37" name="SCORE_VENDOR_1"/>
          <p:cNvSpPr/>
          <p:nvPr/>
        </p:nvSpPr>
        <p:spPr>
          <a:xfrm>
            <a:off x="7315200" y="3026664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334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Compliant bid</a:t>
            </a:r>
            <a:endParaRPr lang="en-US" sz="1100" dirty="0"/>
          </a:p>
        </p:txBody>
      </p:sp>
      <p:sp>
        <p:nvSpPr>
          <p:cNvPr id="38" name="SCORE_TRACK_1"/>
          <p:cNvSpPr/>
          <p:nvPr/>
        </p:nvSpPr>
        <p:spPr>
          <a:xfrm>
            <a:off x="7315200" y="3300984"/>
            <a:ext cx="3017520" cy="128016"/>
          </a:xfrm>
          <a:prstGeom prst="roundRect">
            <a:avLst>
              <a:gd name="adj" fmla="val 57143"/>
            </a:avLst>
          </a:prstGeom>
          <a:solidFill>
            <a:srgbClr val="D8E2E8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39" name="SCORE_BAR_1"/>
          <p:cNvSpPr/>
          <p:nvPr/>
        </p:nvSpPr>
        <p:spPr>
          <a:xfrm>
            <a:off x="7315200" y="3300984"/>
            <a:ext cx="1810512" cy="128016"/>
          </a:xfrm>
          <a:prstGeom prst="roundRect">
            <a:avLst>
              <a:gd name="adj" fmla="val 57143"/>
            </a:avLst>
          </a:prstGeom>
          <a:solidFill>
            <a:srgbClr val="278267"/>
          </a:solidFill>
          <a:ln w="12700">
            <a:solidFill>
              <a:srgbClr val="278267"/>
            </a:solidFill>
            <a:prstDash val="solid"/>
          </a:ln>
        </p:spPr>
      </p:sp>
      <p:sp>
        <p:nvSpPr>
          <p:cNvPr id="40" name="SCORE_VALUE_1"/>
          <p:cNvSpPr/>
          <p:nvPr/>
        </p:nvSpPr>
        <p:spPr>
          <a:xfrm>
            <a:off x="10378440" y="3255264"/>
            <a:ext cx="621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D334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—</a:t>
            </a:r>
            <a:endParaRPr lang="en-US" sz="1100" dirty="0"/>
          </a:p>
        </p:txBody>
      </p:sp>
      <p:sp>
        <p:nvSpPr>
          <p:cNvPr id="41" name="SCORE_LABEL_1"/>
          <p:cNvSpPr/>
          <p:nvPr/>
        </p:nvSpPr>
        <p:spPr>
          <a:xfrm>
            <a:off x="7315200" y="3456432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D7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Evaluated price / context</a:t>
            </a:r>
            <a:endParaRPr lang="en-US" sz="900" dirty="0"/>
          </a:p>
        </p:txBody>
      </p:sp>
      <p:sp>
        <p:nvSpPr>
          <p:cNvPr id="42" name="SCORE_VENDOR_2"/>
          <p:cNvSpPr/>
          <p:nvPr/>
        </p:nvSpPr>
        <p:spPr>
          <a:xfrm>
            <a:off x="7315200" y="3739896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334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Compliant bid</a:t>
            </a:r>
            <a:endParaRPr lang="en-US" sz="1100" dirty="0"/>
          </a:p>
        </p:txBody>
      </p:sp>
      <p:sp>
        <p:nvSpPr>
          <p:cNvPr id="43" name="SCORE_TRACK_2"/>
          <p:cNvSpPr/>
          <p:nvPr/>
        </p:nvSpPr>
        <p:spPr>
          <a:xfrm>
            <a:off x="7315200" y="4014216"/>
            <a:ext cx="3017520" cy="128016"/>
          </a:xfrm>
          <a:prstGeom prst="roundRect">
            <a:avLst>
              <a:gd name="adj" fmla="val 57143"/>
            </a:avLst>
          </a:prstGeom>
          <a:solidFill>
            <a:srgbClr val="D8E2E8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44" name="SCORE_BAR_2"/>
          <p:cNvSpPr/>
          <p:nvPr/>
        </p:nvSpPr>
        <p:spPr>
          <a:xfrm>
            <a:off x="7315200" y="4014216"/>
            <a:ext cx="1448410" cy="128016"/>
          </a:xfrm>
          <a:prstGeom prst="roundRect">
            <a:avLst>
              <a:gd name="adj" fmla="val 57143"/>
            </a:avLst>
          </a:prstGeom>
          <a:solidFill>
            <a:srgbClr val="278267"/>
          </a:solidFill>
          <a:ln w="12700">
            <a:solidFill>
              <a:srgbClr val="278267"/>
            </a:solidFill>
            <a:prstDash val="solid"/>
          </a:ln>
        </p:spPr>
      </p:sp>
      <p:sp>
        <p:nvSpPr>
          <p:cNvPr id="45" name="SCORE_VALUE_2"/>
          <p:cNvSpPr/>
          <p:nvPr/>
        </p:nvSpPr>
        <p:spPr>
          <a:xfrm>
            <a:off x="10378440" y="3968496"/>
            <a:ext cx="621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D334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—</a:t>
            </a:r>
            <a:endParaRPr lang="en-US" sz="1100" dirty="0"/>
          </a:p>
        </p:txBody>
      </p:sp>
      <p:sp>
        <p:nvSpPr>
          <p:cNvPr id="46" name="SCORE_LABEL_2"/>
          <p:cNvSpPr/>
          <p:nvPr/>
        </p:nvSpPr>
        <p:spPr>
          <a:xfrm>
            <a:off x="7315200" y="4169664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D7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Evaluated price / context</a:t>
            </a:r>
            <a:endParaRPr lang="en-US" sz="900" dirty="0"/>
          </a:p>
        </p:txBody>
      </p:sp>
      <p:sp>
        <p:nvSpPr>
          <p:cNvPr id="47" name="SCORE_VENDOR_3"/>
          <p:cNvSpPr/>
          <p:nvPr/>
        </p:nvSpPr>
        <p:spPr>
          <a:xfrm>
            <a:off x="7315200" y="4453128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334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Compliant bid</a:t>
            </a:r>
            <a:endParaRPr lang="en-US" sz="1100" dirty="0"/>
          </a:p>
        </p:txBody>
      </p:sp>
      <p:sp>
        <p:nvSpPr>
          <p:cNvPr id="48" name="SCORE_TRACK_3"/>
          <p:cNvSpPr/>
          <p:nvPr/>
        </p:nvSpPr>
        <p:spPr>
          <a:xfrm>
            <a:off x="7315200" y="4727448"/>
            <a:ext cx="3017520" cy="128016"/>
          </a:xfrm>
          <a:prstGeom prst="roundRect">
            <a:avLst>
              <a:gd name="adj" fmla="val 57143"/>
            </a:avLst>
          </a:prstGeom>
          <a:solidFill>
            <a:srgbClr val="D8E2E8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49" name="SCORE_BAR_3"/>
          <p:cNvSpPr/>
          <p:nvPr/>
        </p:nvSpPr>
        <p:spPr>
          <a:xfrm>
            <a:off x="7315200" y="4727448"/>
            <a:ext cx="1086307" cy="128016"/>
          </a:xfrm>
          <a:prstGeom prst="roundRect">
            <a:avLst>
              <a:gd name="adj" fmla="val 57143"/>
            </a:avLst>
          </a:prstGeom>
          <a:solidFill>
            <a:srgbClr val="278267"/>
          </a:solidFill>
          <a:ln w="12700">
            <a:solidFill>
              <a:srgbClr val="278267"/>
            </a:solidFill>
            <a:prstDash val="solid"/>
          </a:ln>
        </p:spPr>
      </p:sp>
      <p:sp>
        <p:nvSpPr>
          <p:cNvPr id="50" name="SCORE_VALUE_3"/>
          <p:cNvSpPr/>
          <p:nvPr/>
        </p:nvSpPr>
        <p:spPr>
          <a:xfrm>
            <a:off x="10378440" y="4681728"/>
            <a:ext cx="621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D334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—</a:t>
            </a:r>
            <a:endParaRPr lang="en-US" sz="1100" dirty="0"/>
          </a:p>
        </p:txBody>
      </p:sp>
      <p:sp>
        <p:nvSpPr>
          <p:cNvPr id="51" name="SCORE_LABEL_3"/>
          <p:cNvSpPr/>
          <p:nvPr/>
        </p:nvSpPr>
        <p:spPr>
          <a:xfrm>
            <a:off x="7315200" y="4882896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D7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Evaluated price / context</a:t>
            </a:r>
            <a:endParaRPr lang="en-US" sz="900" dirty="0"/>
          </a:p>
        </p:txBody>
      </p:sp>
      <p:sp>
        <p:nvSpPr>
          <p:cNvPr id="52" name="DECISION_PANEL"/>
          <p:cNvSpPr/>
          <p:nvPr/>
        </p:nvSpPr>
        <p:spPr>
          <a:xfrm>
            <a:off x="475488" y="5504688"/>
            <a:ext cx="11228832" cy="530352"/>
          </a:xfrm>
          <a:prstGeom prst="roundRect">
            <a:avLst>
              <a:gd name="adj" fmla="val 13793"/>
            </a:avLst>
          </a:prstGeom>
          <a:solidFill>
            <a:srgbClr val="14273C"/>
          </a:solidFill>
          <a:ln w="12700">
            <a:solidFill>
              <a:srgbClr val="14273C"/>
            </a:solidFill>
            <a:prstDash val="solid"/>
          </a:ln>
        </p:spPr>
      </p:sp>
      <p:sp>
        <p:nvSpPr>
          <p:cNvPr id="53" name="DECISION"/>
          <p:cNvSpPr/>
          <p:nvPr/>
        </p:nvSpPr>
        <p:spPr>
          <a:xfrm>
            <a:off x="704088" y="5586984"/>
            <a:ext cx="107442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Approval or next action requested</a:t>
            </a:r>
            <a:endParaRPr lang="en-US" sz="1500" dirty="0"/>
          </a:p>
        </p:txBody>
      </p:sp>
      <p:sp>
        <p:nvSpPr>
          <p:cNvPr id="54" name="SOURCE_NOTES"/>
          <p:cNvSpPr/>
          <p:nvPr/>
        </p:nvSpPr>
        <p:spPr>
          <a:xfrm>
            <a:off x="475488" y="6236208"/>
            <a:ext cx="11228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D7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Sources: document ID and exact locator • Fictional training case; not A*STAR policy or Singapore procurement law.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AND_BAND"/>
          <p:cNvSpPr/>
          <p:nvPr/>
        </p:nvSpPr>
        <p:spPr>
          <a:xfrm>
            <a:off x="0" y="0"/>
            <a:ext cx="12191695" cy="612648"/>
          </a:xfrm>
          <a:prstGeom prst="rect">
            <a:avLst>
              <a:gd name="adj" fmla="val 11940"/>
            </a:avLst>
          </a:prstGeom>
          <a:solidFill>
            <a:srgbClr val="14273C"/>
          </a:solidFill>
          <a:ln w="12700">
            <a:solidFill>
              <a:srgbClr val="14273C"/>
            </a:solidFill>
            <a:prstDash val="solid"/>
          </a:ln>
        </p:spPr>
      </p:sp>
      <p:sp>
        <p:nvSpPr>
          <p:cNvPr id="3" name="BRAND_LABEL"/>
          <p:cNvSpPr/>
          <p:nvPr/>
        </p:nvSpPr>
        <p:spPr>
          <a:xfrm>
            <a:off x="475488" y="164592"/>
            <a:ext cx="6583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ENCABULATION | DECISION BRIEF</a:t>
            </a:r>
            <a:endParaRPr lang="en-US" sz="1100" dirty="0"/>
          </a:p>
        </p:txBody>
      </p:sp>
      <p:sp>
        <p:nvSpPr>
          <p:cNvPr id="4" name="ARCHETYPE_LABEL"/>
          <p:cNvSpPr/>
          <p:nvPr/>
        </p:nvSpPr>
        <p:spPr>
          <a:xfrm>
            <a:off x="9308592" y="164592"/>
            <a:ext cx="23957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DCE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COMPARISON FOCUS</a:t>
            </a:r>
            <a:endParaRPr lang="en-US" sz="900" dirty="0"/>
          </a:p>
        </p:txBody>
      </p:sp>
      <p:sp>
        <p:nvSpPr>
          <p:cNvPr id="5" name="AUDIENCE"/>
          <p:cNvSpPr/>
          <p:nvPr/>
        </p:nvSpPr>
        <p:spPr>
          <a:xfrm>
            <a:off x="475488" y="749808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6D7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Audience / decision owner</a:t>
            </a:r>
            <a:endParaRPr lang="en-US" sz="1000" dirty="0"/>
          </a:p>
        </p:txBody>
      </p:sp>
      <p:sp>
        <p:nvSpPr>
          <p:cNvPr id="6" name="TITLE"/>
          <p:cNvSpPr/>
          <p:nvPr/>
        </p:nvSpPr>
        <p:spPr>
          <a:xfrm>
            <a:off x="475488" y="1014984"/>
            <a:ext cx="111556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73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One clear decision headline</a:t>
            </a:r>
            <a:endParaRPr lang="en-US" sz="2700" dirty="0"/>
          </a:p>
        </p:txBody>
      </p:sp>
      <p:sp>
        <p:nvSpPr>
          <p:cNvPr id="7" name="RECOMMENDATION_PANEL"/>
          <p:cNvSpPr/>
          <p:nvPr/>
        </p:nvSpPr>
        <p:spPr>
          <a:xfrm>
            <a:off x="475488" y="1618488"/>
            <a:ext cx="11228832" cy="621792"/>
          </a:xfrm>
          <a:prstGeom prst="roundRect">
            <a:avLst>
              <a:gd name="adj" fmla="val 11765"/>
            </a:avLst>
          </a:prstGeom>
          <a:solidFill>
            <a:srgbClr val="EEF4F6"/>
          </a:solidFill>
          <a:ln w="12700">
            <a:solidFill>
              <a:srgbClr val="EEF4F6"/>
            </a:solidFill>
            <a:prstDash val="solid"/>
          </a:ln>
        </p:spPr>
      </p:sp>
      <p:sp>
        <p:nvSpPr>
          <p:cNvPr id="8" name="RECOMMENDATION_ACCENT"/>
          <p:cNvSpPr/>
          <p:nvPr/>
        </p:nvSpPr>
        <p:spPr>
          <a:xfrm>
            <a:off x="475488" y="1618488"/>
            <a:ext cx="91440" cy="621792"/>
          </a:xfrm>
          <a:prstGeom prst="rect">
            <a:avLst>
              <a:gd name="adj" fmla="val 80000"/>
            </a:avLst>
          </a:prstGeom>
          <a:solidFill>
            <a:srgbClr val="B77922"/>
          </a:solidFill>
          <a:ln w="12700">
            <a:solidFill>
              <a:srgbClr val="B77922"/>
            </a:solidFill>
            <a:prstDash val="solid"/>
          </a:ln>
        </p:spPr>
      </p:sp>
      <p:sp>
        <p:nvSpPr>
          <p:cNvPr id="9" name="RECOMMENDATION"/>
          <p:cNvSpPr/>
          <p:nvPr/>
        </p:nvSpPr>
        <p:spPr>
          <a:xfrm>
            <a:off x="694944" y="1728216"/>
            <a:ext cx="10744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334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Recommendation statement, based on verified evidence</a:t>
            </a:r>
            <a:endParaRPr lang="en-US" sz="1700" dirty="0"/>
          </a:p>
        </p:txBody>
      </p:sp>
      <p:sp>
        <p:nvSpPr>
          <p:cNvPr id="10" name="GATE_TABLE"/>
          <p:cNvSpPr/>
          <p:nvPr/>
        </p:nvSpPr>
        <p:spPr>
          <a:xfrm>
            <a:off x="475488" y="2532888"/>
            <a:ext cx="5120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73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MANDATORY COMPLIANCE</a:t>
            </a:r>
            <a:endParaRPr lang="en-US" sz="1300" dirty="0"/>
          </a:p>
        </p:txBody>
      </p:sp>
      <p:sp>
        <p:nvSpPr>
          <p:cNvPr id="11" name="GATE_HEADER_BG"/>
          <p:cNvSpPr/>
          <p:nvPr/>
        </p:nvSpPr>
        <p:spPr>
          <a:xfrm>
            <a:off x="475488" y="2898648"/>
            <a:ext cx="5120640" cy="310896"/>
          </a:xfrm>
          <a:prstGeom prst="rect">
            <a:avLst>
              <a:gd name="adj" fmla="val 23529"/>
            </a:avLst>
          </a:prstGeom>
          <a:solidFill>
            <a:srgbClr val="EEF4F6"/>
          </a:solidFill>
          <a:ln w="12700">
            <a:solidFill>
              <a:srgbClr val="EEF4F6"/>
            </a:solidFill>
            <a:prstDash val="solid"/>
          </a:ln>
        </p:spPr>
      </p:sp>
      <p:sp>
        <p:nvSpPr>
          <p:cNvPr id="12" name="GATE_VENDOR_HEADER"/>
          <p:cNvSpPr/>
          <p:nvPr/>
        </p:nvSpPr>
        <p:spPr>
          <a:xfrm>
            <a:off x="612648" y="2944368"/>
            <a:ext cx="1435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B6D7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VENDOR</a:t>
            </a:r>
            <a:endParaRPr lang="en-US" sz="900" dirty="0"/>
          </a:p>
        </p:txBody>
      </p:sp>
      <p:sp>
        <p:nvSpPr>
          <p:cNvPr id="13" name="GATE_STATUS_HEADER"/>
          <p:cNvSpPr/>
          <p:nvPr/>
        </p:nvSpPr>
        <p:spPr>
          <a:xfrm>
            <a:off x="2066544" y="2944368"/>
            <a:ext cx="5852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B6D7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GATE</a:t>
            </a:r>
            <a:endParaRPr lang="en-US" sz="900" dirty="0"/>
          </a:p>
        </p:txBody>
      </p:sp>
      <p:sp>
        <p:nvSpPr>
          <p:cNvPr id="14" name="GATE_REASON_HEADER"/>
          <p:cNvSpPr/>
          <p:nvPr/>
        </p:nvSpPr>
        <p:spPr>
          <a:xfrm>
            <a:off x="2734056" y="2944368"/>
            <a:ext cx="2761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B6D7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DECISIVE BASIS</a:t>
            </a:r>
            <a:endParaRPr lang="en-US" sz="900" dirty="0"/>
          </a:p>
        </p:txBody>
      </p:sp>
      <p:sp>
        <p:nvSpPr>
          <p:cNvPr id="15" name="GATE_ROW_1_BG"/>
          <p:cNvSpPr/>
          <p:nvPr/>
        </p:nvSpPr>
        <p:spPr>
          <a:xfrm>
            <a:off x="475488" y="3236976"/>
            <a:ext cx="5120640" cy="374904"/>
          </a:xfrm>
          <a:prstGeom prst="rect">
            <a:avLst>
              <a:gd name="adj" fmla="val 19512"/>
            </a:avLst>
          </a:prstGeom>
          <a:solidFill>
            <a:srgbClr val="F8FAFB"/>
          </a:solidFill>
          <a:ln w="12700">
            <a:solidFill>
              <a:srgbClr val="F8FAFB"/>
            </a:solidFill>
            <a:prstDash val="solid"/>
          </a:ln>
        </p:spPr>
      </p:sp>
      <p:sp>
        <p:nvSpPr>
          <p:cNvPr id="16" name="GATE_VENDOR_1"/>
          <p:cNvSpPr/>
          <p:nvPr/>
        </p:nvSpPr>
        <p:spPr>
          <a:xfrm>
            <a:off x="612648" y="327355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334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Vendor</a:t>
            </a:r>
            <a:endParaRPr lang="en-US" sz="1100" dirty="0"/>
          </a:p>
        </p:txBody>
      </p:sp>
      <p:sp>
        <p:nvSpPr>
          <p:cNvPr id="17" name="GATE_STATUS_1"/>
          <p:cNvSpPr/>
          <p:nvPr/>
        </p:nvSpPr>
        <p:spPr>
          <a:xfrm>
            <a:off x="2057400" y="3273552"/>
            <a:ext cx="621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D7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—</a:t>
            </a:r>
            <a:endParaRPr lang="en-US" sz="850" dirty="0"/>
          </a:p>
        </p:txBody>
      </p:sp>
      <p:sp>
        <p:nvSpPr>
          <p:cNvPr id="18" name="GATE_REASON_1"/>
          <p:cNvSpPr/>
          <p:nvPr/>
        </p:nvSpPr>
        <p:spPr>
          <a:xfrm>
            <a:off x="2734056" y="3273552"/>
            <a:ext cx="2724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D7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Requirement / source status</a:t>
            </a:r>
            <a:endParaRPr lang="en-US" sz="1000" dirty="0"/>
          </a:p>
        </p:txBody>
      </p:sp>
      <p:sp>
        <p:nvSpPr>
          <p:cNvPr id="19" name="GATE_ROW_2_BG"/>
          <p:cNvSpPr/>
          <p:nvPr/>
        </p:nvSpPr>
        <p:spPr>
          <a:xfrm>
            <a:off x="475488" y="3648456"/>
            <a:ext cx="5120640" cy="374904"/>
          </a:xfrm>
          <a:prstGeom prst="rect">
            <a:avLst>
              <a:gd name="adj" fmla="val 1951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GATE_VENDOR_2"/>
          <p:cNvSpPr/>
          <p:nvPr/>
        </p:nvSpPr>
        <p:spPr>
          <a:xfrm>
            <a:off x="612648" y="368503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334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Vendor</a:t>
            </a:r>
            <a:endParaRPr lang="en-US" sz="1100" dirty="0"/>
          </a:p>
        </p:txBody>
      </p:sp>
      <p:sp>
        <p:nvSpPr>
          <p:cNvPr id="21" name="GATE_STATUS_2"/>
          <p:cNvSpPr/>
          <p:nvPr/>
        </p:nvSpPr>
        <p:spPr>
          <a:xfrm>
            <a:off x="2057400" y="3685032"/>
            <a:ext cx="621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D7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—</a:t>
            </a:r>
            <a:endParaRPr lang="en-US" sz="850" dirty="0"/>
          </a:p>
        </p:txBody>
      </p:sp>
      <p:sp>
        <p:nvSpPr>
          <p:cNvPr id="22" name="GATE_REASON_2"/>
          <p:cNvSpPr/>
          <p:nvPr/>
        </p:nvSpPr>
        <p:spPr>
          <a:xfrm>
            <a:off x="2734056" y="3685032"/>
            <a:ext cx="2724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D7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Requirement / source status</a:t>
            </a:r>
            <a:endParaRPr lang="en-US" sz="1000" dirty="0"/>
          </a:p>
        </p:txBody>
      </p:sp>
      <p:sp>
        <p:nvSpPr>
          <p:cNvPr id="23" name="GATE_ROW_3_BG"/>
          <p:cNvSpPr/>
          <p:nvPr/>
        </p:nvSpPr>
        <p:spPr>
          <a:xfrm>
            <a:off x="475488" y="4059936"/>
            <a:ext cx="5120640" cy="374904"/>
          </a:xfrm>
          <a:prstGeom prst="rect">
            <a:avLst>
              <a:gd name="adj" fmla="val 19512"/>
            </a:avLst>
          </a:prstGeom>
          <a:solidFill>
            <a:srgbClr val="F8FAFB"/>
          </a:solidFill>
          <a:ln w="12700">
            <a:solidFill>
              <a:srgbClr val="F8FAFB"/>
            </a:solidFill>
            <a:prstDash val="solid"/>
          </a:ln>
        </p:spPr>
      </p:sp>
      <p:sp>
        <p:nvSpPr>
          <p:cNvPr id="24" name="GATE_VENDOR_3"/>
          <p:cNvSpPr/>
          <p:nvPr/>
        </p:nvSpPr>
        <p:spPr>
          <a:xfrm>
            <a:off x="612648" y="409651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334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Vendor</a:t>
            </a:r>
            <a:endParaRPr lang="en-US" sz="1100" dirty="0"/>
          </a:p>
        </p:txBody>
      </p:sp>
      <p:sp>
        <p:nvSpPr>
          <p:cNvPr id="25" name="GATE_STATUS_3"/>
          <p:cNvSpPr/>
          <p:nvPr/>
        </p:nvSpPr>
        <p:spPr>
          <a:xfrm>
            <a:off x="2057400" y="4096512"/>
            <a:ext cx="621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D7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—</a:t>
            </a:r>
            <a:endParaRPr lang="en-US" sz="850" dirty="0"/>
          </a:p>
        </p:txBody>
      </p:sp>
      <p:sp>
        <p:nvSpPr>
          <p:cNvPr id="26" name="GATE_REASON_3"/>
          <p:cNvSpPr/>
          <p:nvPr/>
        </p:nvSpPr>
        <p:spPr>
          <a:xfrm>
            <a:off x="2734056" y="4096512"/>
            <a:ext cx="2724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D7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Requirement / source status</a:t>
            </a:r>
            <a:endParaRPr lang="en-US" sz="1000" dirty="0"/>
          </a:p>
        </p:txBody>
      </p:sp>
      <p:sp>
        <p:nvSpPr>
          <p:cNvPr id="27" name="GATE_ROW_4_BG"/>
          <p:cNvSpPr/>
          <p:nvPr/>
        </p:nvSpPr>
        <p:spPr>
          <a:xfrm>
            <a:off x="475488" y="4471416"/>
            <a:ext cx="5120640" cy="374904"/>
          </a:xfrm>
          <a:prstGeom prst="rect">
            <a:avLst>
              <a:gd name="adj" fmla="val 1951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GATE_VENDOR_4"/>
          <p:cNvSpPr/>
          <p:nvPr/>
        </p:nvSpPr>
        <p:spPr>
          <a:xfrm>
            <a:off x="612648" y="450799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334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Vendor</a:t>
            </a:r>
            <a:endParaRPr lang="en-US" sz="1100" dirty="0"/>
          </a:p>
        </p:txBody>
      </p:sp>
      <p:sp>
        <p:nvSpPr>
          <p:cNvPr id="29" name="GATE_STATUS_4"/>
          <p:cNvSpPr/>
          <p:nvPr/>
        </p:nvSpPr>
        <p:spPr>
          <a:xfrm>
            <a:off x="2057400" y="4507992"/>
            <a:ext cx="621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D7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—</a:t>
            </a:r>
            <a:endParaRPr lang="en-US" sz="850" dirty="0"/>
          </a:p>
        </p:txBody>
      </p:sp>
      <p:sp>
        <p:nvSpPr>
          <p:cNvPr id="30" name="GATE_REASON_4"/>
          <p:cNvSpPr/>
          <p:nvPr/>
        </p:nvSpPr>
        <p:spPr>
          <a:xfrm>
            <a:off x="2734056" y="4507992"/>
            <a:ext cx="2724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D7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Requirement / source status</a:t>
            </a:r>
            <a:endParaRPr lang="en-US" sz="1000" dirty="0"/>
          </a:p>
        </p:txBody>
      </p:sp>
      <p:sp>
        <p:nvSpPr>
          <p:cNvPr id="31" name="GATE_ROW_5_BG"/>
          <p:cNvSpPr/>
          <p:nvPr/>
        </p:nvSpPr>
        <p:spPr>
          <a:xfrm>
            <a:off x="475488" y="4882896"/>
            <a:ext cx="5120640" cy="374904"/>
          </a:xfrm>
          <a:prstGeom prst="rect">
            <a:avLst>
              <a:gd name="adj" fmla="val 19512"/>
            </a:avLst>
          </a:prstGeom>
          <a:solidFill>
            <a:srgbClr val="F8FAFB"/>
          </a:solidFill>
          <a:ln w="12700">
            <a:solidFill>
              <a:srgbClr val="F8FAFB"/>
            </a:solidFill>
            <a:prstDash val="solid"/>
          </a:ln>
        </p:spPr>
      </p:sp>
      <p:sp>
        <p:nvSpPr>
          <p:cNvPr id="32" name="GATE_VENDOR_5"/>
          <p:cNvSpPr/>
          <p:nvPr/>
        </p:nvSpPr>
        <p:spPr>
          <a:xfrm>
            <a:off x="612648" y="491947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334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Vendor</a:t>
            </a:r>
            <a:endParaRPr lang="en-US" sz="1100" dirty="0"/>
          </a:p>
        </p:txBody>
      </p:sp>
      <p:sp>
        <p:nvSpPr>
          <p:cNvPr id="33" name="GATE_STATUS_5"/>
          <p:cNvSpPr/>
          <p:nvPr/>
        </p:nvSpPr>
        <p:spPr>
          <a:xfrm>
            <a:off x="2057400" y="4919472"/>
            <a:ext cx="621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D7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—</a:t>
            </a:r>
            <a:endParaRPr lang="en-US" sz="850" dirty="0"/>
          </a:p>
        </p:txBody>
      </p:sp>
      <p:sp>
        <p:nvSpPr>
          <p:cNvPr id="34" name="GATE_REASON_5"/>
          <p:cNvSpPr/>
          <p:nvPr/>
        </p:nvSpPr>
        <p:spPr>
          <a:xfrm>
            <a:off x="2734056" y="4919472"/>
            <a:ext cx="2724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D7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Requirement / source status</a:t>
            </a:r>
            <a:endParaRPr lang="en-US" sz="1000" dirty="0"/>
          </a:p>
        </p:txBody>
      </p:sp>
      <p:sp>
        <p:nvSpPr>
          <p:cNvPr id="35" name="COMPARISON_CHART"/>
          <p:cNvSpPr/>
          <p:nvPr/>
        </p:nvSpPr>
        <p:spPr>
          <a:xfrm>
            <a:off x="5852160" y="2532888"/>
            <a:ext cx="5852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73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SCORES AFTER GATE</a:t>
            </a:r>
            <a:endParaRPr lang="en-US" sz="1300" dirty="0"/>
          </a:p>
        </p:txBody>
      </p:sp>
      <p:sp>
        <p:nvSpPr>
          <p:cNvPr id="36" name="COMPARISON_BG"/>
          <p:cNvSpPr/>
          <p:nvPr/>
        </p:nvSpPr>
        <p:spPr>
          <a:xfrm>
            <a:off x="5852160" y="2898648"/>
            <a:ext cx="5852160" cy="2423160"/>
          </a:xfrm>
          <a:prstGeom prst="roundRect">
            <a:avLst>
              <a:gd name="adj" fmla="val 3019"/>
            </a:avLst>
          </a:prstGeom>
          <a:solidFill>
            <a:srgbClr val="F8FAFB"/>
          </a:solidFill>
          <a:ln w="12700">
            <a:solidFill>
              <a:srgbClr val="F8FAFB"/>
            </a:solidFill>
            <a:prstDash val="solid"/>
          </a:ln>
        </p:spPr>
      </p:sp>
      <p:sp>
        <p:nvSpPr>
          <p:cNvPr id="37" name="SCORE_VENDOR_1"/>
          <p:cNvSpPr/>
          <p:nvPr/>
        </p:nvSpPr>
        <p:spPr>
          <a:xfrm>
            <a:off x="5989320" y="3026664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334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Compliant bid</a:t>
            </a:r>
            <a:endParaRPr lang="en-US" sz="1100" dirty="0"/>
          </a:p>
        </p:txBody>
      </p:sp>
      <p:sp>
        <p:nvSpPr>
          <p:cNvPr id="38" name="SCORE_TRACK_1"/>
          <p:cNvSpPr/>
          <p:nvPr/>
        </p:nvSpPr>
        <p:spPr>
          <a:xfrm>
            <a:off x="5989320" y="3300984"/>
            <a:ext cx="4343400" cy="128016"/>
          </a:xfrm>
          <a:prstGeom prst="roundRect">
            <a:avLst>
              <a:gd name="adj" fmla="val 57143"/>
            </a:avLst>
          </a:prstGeom>
          <a:solidFill>
            <a:srgbClr val="D8E2E8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39" name="SCORE_BAR_1"/>
          <p:cNvSpPr/>
          <p:nvPr/>
        </p:nvSpPr>
        <p:spPr>
          <a:xfrm>
            <a:off x="5989320" y="3300984"/>
            <a:ext cx="2606040" cy="128016"/>
          </a:xfrm>
          <a:prstGeom prst="roundRect">
            <a:avLst>
              <a:gd name="adj" fmla="val 57143"/>
            </a:avLst>
          </a:prstGeom>
          <a:solidFill>
            <a:srgbClr val="B77922"/>
          </a:solidFill>
          <a:ln w="12700">
            <a:solidFill>
              <a:srgbClr val="B77922"/>
            </a:solidFill>
            <a:prstDash val="solid"/>
          </a:ln>
        </p:spPr>
      </p:sp>
      <p:sp>
        <p:nvSpPr>
          <p:cNvPr id="40" name="SCORE_VALUE_1"/>
          <p:cNvSpPr/>
          <p:nvPr/>
        </p:nvSpPr>
        <p:spPr>
          <a:xfrm>
            <a:off x="10378440" y="3255264"/>
            <a:ext cx="621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D334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—</a:t>
            </a:r>
            <a:endParaRPr lang="en-US" sz="1100" dirty="0"/>
          </a:p>
        </p:txBody>
      </p:sp>
      <p:sp>
        <p:nvSpPr>
          <p:cNvPr id="41" name="SCORE_LABEL_1"/>
          <p:cNvSpPr/>
          <p:nvPr/>
        </p:nvSpPr>
        <p:spPr>
          <a:xfrm>
            <a:off x="5989320" y="3456432"/>
            <a:ext cx="5532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D7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Evaluated price / context</a:t>
            </a:r>
            <a:endParaRPr lang="en-US" sz="900" dirty="0"/>
          </a:p>
        </p:txBody>
      </p:sp>
      <p:sp>
        <p:nvSpPr>
          <p:cNvPr id="42" name="SCORE_VENDOR_2"/>
          <p:cNvSpPr/>
          <p:nvPr/>
        </p:nvSpPr>
        <p:spPr>
          <a:xfrm>
            <a:off x="5989320" y="3739896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334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Compliant bid</a:t>
            </a:r>
            <a:endParaRPr lang="en-US" sz="1100" dirty="0"/>
          </a:p>
        </p:txBody>
      </p:sp>
      <p:sp>
        <p:nvSpPr>
          <p:cNvPr id="43" name="SCORE_TRACK_2"/>
          <p:cNvSpPr/>
          <p:nvPr/>
        </p:nvSpPr>
        <p:spPr>
          <a:xfrm>
            <a:off x="5989320" y="4014216"/>
            <a:ext cx="4343400" cy="128016"/>
          </a:xfrm>
          <a:prstGeom prst="roundRect">
            <a:avLst>
              <a:gd name="adj" fmla="val 57143"/>
            </a:avLst>
          </a:prstGeom>
          <a:solidFill>
            <a:srgbClr val="D8E2E8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44" name="SCORE_BAR_2"/>
          <p:cNvSpPr/>
          <p:nvPr/>
        </p:nvSpPr>
        <p:spPr>
          <a:xfrm>
            <a:off x="5989320" y="4014216"/>
            <a:ext cx="2084832" cy="128016"/>
          </a:xfrm>
          <a:prstGeom prst="roundRect">
            <a:avLst>
              <a:gd name="adj" fmla="val 57143"/>
            </a:avLst>
          </a:prstGeom>
          <a:solidFill>
            <a:srgbClr val="B77922"/>
          </a:solidFill>
          <a:ln w="12700">
            <a:solidFill>
              <a:srgbClr val="B77922"/>
            </a:solidFill>
            <a:prstDash val="solid"/>
          </a:ln>
        </p:spPr>
      </p:sp>
      <p:sp>
        <p:nvSpPr>
          <p:cNvPr id="45" name="SCORE_VALUE_2"/>
          <p:cNvSpPr/>
          <p:nvPr/>
        </p:nvSpPr>
        <p:spPr>
          <a:xfrm>
            <a:off x="10378440" y="3968496"/>
            <a:ext cx="621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D334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—</a:t>
            </a:r>
            <a:endParaRPr lang="en-US" sz="1100" dirty="0"/>
          </a:p>
        </p:txBody>
      </p:sp>
      <p:sp>
        <p:nvSpPr>
          <p:cNvPr id="46" name="SCORE_LABEL_2"/>
          <p:cNvSpPr/>
          <p:nvPr/>
        </p:nvSpPr>
        <p:spPr>
          <a:xfrm>
            <a:off x="5989320" y="4169664"/>
            <a:ext cx="5532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D7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Evaluated price / context</a:t>
            </a:r>
            <a:endParaRPr lang="en-US" sz="900" dirty="0"/>
          </a:p>
        </p:txBody>
      </p:sp>
      <p:sp>
        <p:nvSpPr>
          <p:cNvPr id="47" name="SCORE_VENDOR_3"/>
          <p:cNvSpPr/>
          <p:nvPr/>
        </p:nvSpPr>
        <p:spPr>
          <a:xfrm>
            <a:off x="5989320" y="4453128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334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Compliant bid</a:t>
            </a:r>
            <a:endParaRPr lang="en-US" sz="1100" dirty="0"/>
          </a:p>
        </p:txBody>
      </p:sp>
      <p:sp>
        <p:nvSpPr>
          <p:cNvPr id="48" name="SCORE_TRACK_3"/>
          <p:cNvSpPr/>
          <p:nvPr/>
        </p:nvSpPr>
        <p:spPr>
          <a:xfrm>
            <a:off x="5989320" y="4727448"/>
            <a:ext cx="4343400" cy="128016"/>
          </a:xfrm>
          <a:prstGeom prst="roundRect">
            <a:avLst>
              <a:gd name="adj" fmla="val 57143"/>
            </a:avLst>
          </a:prstGeom>
          <a:solidFill>
            <a:srgbClr val="D8E2E8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49" name="SCORE_BAR_3"/>
          <p:cNvSpPr/>
          <p:nvPr/>
        </p:nvSpPr>
        <p:spPr>
          <a:xfrm>
            <a:off x="5989320" y="4727448"/>
            <a:ext cx="1563624" cy="128016"/>
          </a:xfrm>
          <a:prstGeom prst="roundRect">
            <a:avLst>
              <a:gd name="adj" fmla="val 57143"/>
            </a:avLst>
          </a:prstGeom>
          <a:solidFill>
            <a:srgbClr val="B77922"/>
          </a:solidFill>
          <a:ln w="12700">
            <a:solidFill>
              <a:srgbClr val="B77922"/>
            </a:solidFill>
            <a:prstDash val="solid"/>
          </a:ln>
        </p:spPr>
      </p:sp>
      <p:sp>
        <p:nvSpPr>
          <p:cNvPr id="50" name="SCORE_VALUE_3"/>
          <p:cNvSpPr/>
          <p:nvPr/>
        </p:nvSpPr>
        <p:spPr>
          <a:xfrm>
            <a:off x="10378440" y="4681728"/>
            <a:ext cx="621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D334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—</a:t>
            </a:r>
            <a:endParaRPr lang="en-US" sz="1100" dirty="0"/>
          </a:p>
        </p:txBody>
      </p:sp>
      <p:sp>
        <p:nvSpPr>
          <p:cNvPr id="51" name="SCORE_LABEL_3"/>
          <p:cNvSpPr/>
          <p:nvPr/>
        </p:nvSpPr>
        <p:spPr>
          <a:xfrm>
            <a:off x="5989320" y="4882896"/>
            <a:ext cx="5532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D7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Evaluated price / context</a:t>
            </a:r>
            <a:endParaRPr lang="en-US" sz="900" dirty="0"/>
          </a:p>
        </p:txBody>
      </p:sp>
      <p:sp>
        <p:nvSpPr>
          <p:cNvPr id="52" name="DECISION_PANEL"/>
          <p:cNvSpPr/>
          <p:nvPr/>
        </p:nvSpPr>
        <p:spPr>
          <a:xfrm>
            <a:off x="475488" y="5504688"/>
            <a:ext cx="11228832" cy="530352"/>
          </a:xfrm>
          <a:prstGeom prst="roundRect">
            <a:avLst>
              <a:gd name="adj" fmla="val 13793"/>
            </a:avLst>
          </a:prstGeom>
          <a:solidFill>
            <a:srgbClr val="14273C"/>
          </a:solidFill>
          <a:ln w="12700">
            <a:solidFill>
              <a:srgbClr val="14273C"/>
            </a:solidFill>
            <a:prstDash val="solid"/>
          </a:ln>
        </p:spPr>
      </p:sp>
      <p:sp>
        <p:nvSpPr>
          <p:cNvPr id="53" name="DECISION"/>
          <p:cNvSpPr/>
          <p:nvPr/>
        </p:nvSpPr>
        <p:spPr>
          <a:xfrm>
            <a:off x="704088" y="5586984"/>
            <a:ext cx="107442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Approval or next action requested</a:t>
            </a:r>
            <a:endParaRPr lang="en-US" sz="1500" dirty="0"/>
          </a:p>
        </p:txBody>
      </p:sp>
      <p:sp>
        <p:nvSpPr>
          <p:cNvPr id="54" name="SOURCE_NOTES"/>
          <p:cNvSpPr/>
          <p:nvPr/>
        </p:nvSpPr>
        <p:spPr>
          <a:xfrm>
            <a:off x="475488" y="6236208"/>
            <a:ext cx="11228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D7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Sources: document ID and exact locator • Fictional training case; not A*STAR policy or Singapore procurement law.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Liberation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iberation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Fictional procurement workshop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Encabulation procurement — decision slide template</dc:title>
  <dc:subject>Leadership decision slide template</dc:subject>
  <dc:creator>Fictional procurement workshop</dc:creator>
  <cp:lastModifiedBy>Fictional procurement workshop</cp:lastModifiedBy>
  <cp:revision>1</cp:revision>
  <dcterms:created xsi:type="dcterms:W3CDTF">2026-09-24T14:13:27Z</dcterms:created>
  <dcterms:modified xsi:type="dcterms:W3CDTF">2026-09-24T14:13:27Z</dcterms:modified>
</cp:coreProperties>
</file>